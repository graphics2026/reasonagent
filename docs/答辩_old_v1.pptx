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/>
  </p:normalViewPr>
  <p:slideViewPr>
    <p:cSldViewPr snapToGrid="0" snapToObjects="1">
      <p:cViewPr varScale="1">
        <p:scale>
          <a:sx n="137" d="100"/>
          <a:sy n="137" d="100"/>
        </p:scale>
        <p:origin x="6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347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各位老师同学下午好。我们今天答辩的项目叫 ReasonGenPilot，一个完全无训练的图像生成与假设性编辑 Agent 系统。三条互补通路：gen 做描述对齐、edit 做局部反事实、hybrid 做整图重绘。团队 4 人，分支 `testWork3`，15 页讲完，约 12 分钟，欢迎随时提问。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我们要解决的是当前 T2I 模型的两类失败。第一类「描述性失配」——复杂 prompt 下数错对象、漏色、空间关系错位；第二类「假设性指令不可读」——「如果冰块融化会怎样」这类需要常识推理的反事实指令，T2I 完全不懂。我们的目标用一句话：零训练——只用 MLLM Agent + 公开 API 解决两类问题，不动一个权重，最终 4 个端到端 case 全部 VQA = 1.0。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这是系统总览。用户输入进入 Router；Router 通过 MLLM 分类 + 关键词降级判定走哪条路；三条 pipeline 共享同一个返回 schema——`final_image / reasoning_chain / vqa_result / metadata`。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这页摊开三条通路的输入输出对比。判别准则只有一条：改完之后还需要原图像素吗？——需要走 edit（在原图上局部编辑），不需要走 hybrid（直接重画）。无图就走 gen。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成员 1 负责基座 + gen 通路：`api_client`、`t2i_client`、`gen_pipeline`、`schemas`。核心循环 5 步：拆约束 → 出 baseline → K 个候选 prompt → MLLM VQA 打分 → 更新最优。Poppy / Daisy / Windmill 这个 case，VQA 从 baseline 0.8 经两轮迭代提到 1.0。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成员 2 是 edit 通路。Reason Agent 把指令分到 4 类——physical / temporal / causal / story，跟论文 Reason50K 对齐。Pipeline 5 步：Reason → finalize_edit_prompt → Qwen-Image 无 mask 指令编辑 → K 候选 VQA 选优 → 不达标 refine 再编。大象松鼠跷跷板这个 case，reasoning_type 自动判定为 causal，VQA checklist 4/4 全过。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成员 3 的 hybrid 是我们的工程亮点之一。它不在原图上改——Reason 看完原图后重写 scene_prompt，T2I 完全从零画。所以原图只用于推理，从不进 T2I。适用场景是 edit 做不了的整图变换：花束分两束、白天变深夜。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hybrid 真正的工程价值在这 7 层 scene_prompt 后处理：碎片修复 → 元素完整性 → 视角锚 → 风格锚 → 人物年龄 → 光照行为 → 房间几何。它把 Reason Agent 写出的 scene_prompt 从「一堆碎句」打磨成 T2I 能正确读懂的整段描述。36 个单元测试全部通过。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成员 4 是 Router + 集成。Router 的逻辑左边那棵决策树最清楚：无图直接 gen；有图+指令就问「还需要原图像素吗」——是 edit，不是 hybrid。实现 4 步：手动 override → 结构规则 → MLLM 分类（走 `prompts/router_system.txt` 输出 JSON）→ 关键词降级兜底。基准 17 个 case 全过——MLLM 路径 8/8，关键词降级 9/9。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统一入口和 Demo。左边 `pipeline.py` CLI——`--mode auto --real-api` 一条命令打通三条 pipeline；右边 Gradio Web UI——Route 下拉、dry-run 开关、before/after 对比、推理链 + VQA 面板、完整 JSON viewer。两个表面共用同一个 router 和同一个 dataclass schema，UI / CLI 行为一致。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四个端到端 case，全部用真实 API（DashScope Qwen-Image + 米莫 MLLM）。gen 从 0.8 提到 1.0；edit VQA 4/4；hybrid scene_prompt 经 7 层处理后 2571 字符送入 T2I；auto 模式房间变深夜被 Router 正确路由到 hybrid。59 个单元测试 0.05 秒全过。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我们诚实把限制摆出来：Router auto 多一次 MLLM 调用 +5–7 秒；hybrid 像素级身份会漂移；edit 受 Qwen-Image 能力上限制约；VQA 自评分有偏。对应的 Future Work：接入完整 GenPilot Stage 1/2、独立 VQA 模型（BLIP-2 / LLaVA-NeXT）、Router LRU 缓存、给 hybrid 加 IP-Adapter / ControlNet。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总结：3 条互补通路 + 1 个统一入口 + 17 / 17 路由准确率 + 59 单测全过。一句话——零训练、三通路、一条命令——纯靠 MLLM Agent 编排 + 公开 API，覆盖了描述失配和反事实编辑两类痛点。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最后一页正式的内容：团队分工。我们 4 个人按 base → edit → hybrid → integration 的顺序串行交付，每位成员的产出是下一位成员的输入基础。梁爽负责基座 + gen 通路，把 api_client、t2i_client、schemas 这套地基搭起来，再实现 GenPilot 风格的迭代优化。陈颖妍在地基之上做了 edit 通路 —— Reason Agent + Qwen-Image 指令编辑 + VQA refine 闭环。苏香广完成 hybrid 通路，并实现 scene_prompt 7 层后处理这套质量保障机制 + 36 个单元测试。艾博显负责 Router + 统一入口 + Gradio Demo + 23 单测 + 答辩文档。这就是今天报告的整体分工。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讲完了，谢谢老师同学聆听，欢迎提问。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5829300"/>
            <a:ext cx="12192000" cy="38100"/>
          </a:xfrm>
          <a:prstGeom prst="rect">
            <a:avLst/>
          </a:prstGeom>
          <a:solidFill>
            <a:srgbClr val="1C729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5867400"/>
            <a:ext cx="12192000" cy="9525"/>
          </a:xfrm>
          <a:prstGeom prst="rect">
            <a:avLst/>
          </a:prstGeom>
          <a:solidFill>
            <a:srgbClr val="065A82">
              <a:alpha val="50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914400" y="1810702"/>
            <a:ext cx="2829877" cy="213360"/>
            <a:chOff x="914400" y="1810702"/>
            <a:chExt cx="2829877" cy="213360"/>
          </a:xfrm>
        </p:grpSpPr>
        <p:sp>
          <p:nvSpPr>
            <p:cNvPr id="5" name="Rectangle 5"/>
            <p:cNvSpPr/>
            <p:nvPr/>
          </p:nvSpPr>
          <p:spPr>
            <a:xfrm>
              <a:off x="914400" y="1847850"/>
              <a:ext cx="342900" cy="381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77315" y="1810702"/>
              <a:ext cx="23669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2A65A"/>
                  </a:solidFill>
                  <a:latin typeface="Cambria"/>
                  <a:ea typeface="Microsoft YaHei"/>
                  <a:cs typeface="Cambria"/>
                </a:rPr>
                <a:t>COURSE DEFENSE · JUNE 2026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38200" y="2171700"/>
            <a:ext cx="7641336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FFFFFF"/>
                </a:solidFill>
                <a:latin typeface="Cambria"/>
                <a:ea typeface="Microsoft YaHei"/>
                <a:cs typeface="Cambria"/>
              </a:rPr>
              <a:t>ReasonGenPilot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1540" y="3234690"/>
            <a:ext cx="630135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i="1" dirty="0">
                <a:solidFill>
                  <a:srgbClr val="CBD5E1"/>
                </a:solidFill>
                <a:latin typeface="Cambria"/>
                <a:ea typeface="Microsoft YaHei"/>
                <a:cs typeface="Cambria"/>
              </a:rPr>
              <a:t>A Training-Free Agent for Image Generation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1540" y="3539490"/>
            <a:ext cx="352272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i="1" dirty="0">
                <a:solidFill>
                  <a:srgbClr val="CBD5E1"/>
                </a:solidFill>
                <a:latin typeface="Cambria"/>
                <a:ea typeface="Microsoft YaHei"/>
                <a:cs typeface="Cambria"/>
              </a:rPr>
              <a:t>and Hypothetical Editing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14400" y="4133850"/>
            <a:ext cx="2928271" cy="633412"/>
            <a:chOff x="914400" y="4133850"/>
            <a:chExt cx="2928271" cy="633412"/>
          </a:xfrm>
        </p:grpSpPr>
        <p:sp>
          <p:nvSpPr>
            <p:cNvPr id="11" name="Rectangle 11"/>
            <p:cNvSpPr/>
            <p:nvPr/>
          </p:nvSpPr>
          <p:spPr>
            <a:xfrm>
              <a:off x="914400" y="4133850"/>
              <a:ext cx="28575" cy="2667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70610" y="4213860"/>
              <a:ext cx="723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mbria"/>
                  <a:ea typeface="Microsoft YaHei"/>
                  <a:cs typeface="Cambria"/>
                </a:rPr>
                <a:t>ROUTES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4895" y="4431982"/>
              <a:ext cx="4913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gen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26895" y="4431982"/>
              <a:ext cx="1917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17395" y="4431982"/>
              <a:ext cx="5731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edit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79395" y="4431982"/>
              <a:ext cx="1917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69895" y="4431982"/>
              <a:ext cx="8727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hybrid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87730" y="5202555"/>
            <a:ext cx="7937945" cy="426720"/>
            <a:chOff x="887730" y="5202555"/>
            <a:chExt cx="7937945" cy="426720"/>
          </a:xfrm>
        </p:grpSpPr>
        <p:sp>
          <p:nvSpPr>
            <p:cNvPr id="19" name="TextBox 19"/>
            <p:cNvSpPr txBox="1"/>
            <p:nvPr/>
          </p:nvSpPr>
          <p:spPr>
            <a:xfrm>
              <a:off x="887730" y="5202555"/>
              <a:ext cx="3627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14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92568" y="5323999"/>
              <a:ext cx="4754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slides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06980" y="5202555"/>
              <a:ext cx="105446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59/59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64268" y="5323999"/>
              <a:ext cx="829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unit tests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88230" y="5202555"/>
              <a:ext cx="87244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2A65A"/>
                  </a:solidFill>
                  <a:latin typeface="Cambria"/>
                  <a:ea typeface="Microsoft YaHei"/>
                  <a:cs typeface="Cambria"/>
                </a:rPr>
                <a:t>17/17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45518" y="5323999"/>
              <a:ext cx="10469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router cases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0" y="5202555"/>
              <a:ext cx="56300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0B981"/>
                  </a:solidFill>
                  <a:latin typeface="Cambria"/>
                  <a:ea typeface="Microsoft YaHei"/>
                  <a:cs typeface="Cambria"/>
                </a:rPr>
                <a:t>1.0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49565" y="5315902"/>
              <a:ext cx="876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VQA score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02018" y="6257449"/>
            <a:ext cx="37110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Team of 4 · Branch testWork3 · ReasonGenPilot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34415" y="533400"/>
            <a:ext cx="5634609" cy="1066800"/>
            <a:chOff x="1034415" y="533400"/>
            <a:chExt cx="5634609" cy="1066800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7634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PROBLEM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4415" y="905828"/>
              <a:ext cx="38664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Background &amp; Goal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1560" y="1356360"/>
              <a:ext cx="56174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Two failure modes of off-the-shelf T2I models — one goal.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66800" y="1905000"/>
            <a:ext cx="5181600" cy="1981200"/>
            <a:chOff x="1066800" y="1905000"/>
            <a:chExt cx="5181600" cy="1981200"/>
          </a:xfrm>
        </p:grpSpPr>
        <p:sp>
          <p:nvSpPr>
            <p:cNvPr id="10" name="Rectangle 10"/>
            <p:cNvSpPr/>
            <p:nvPr/>
          </p:nvSpPr>
          <p:spPr>
            <a:xfrm>
              <a:off x="1066800" y="1905000"/>
              <a:ext cx="5181600" cy="1981200"/>
            </a:xfrm>
            <a:prstGeom prst="roundRect">
              <a:avLst>
                <a:gd name="adj" fmla="val 4808"/>
              </a:avLst>
            </a:prstGeom>
            <a:solidFill>
              <a:srgbClr val="FFFFFF"/>
            </a:solidFill>
            <a:ln w="7144">
              <a:solidFill>
                <a:srgbClr val="E2E8F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66800" y="1905000"/>
              <a:ext cx="38100" cy="1981200"/>
            </a:xfrm>
            <a:prstGeom prst="rect">
              <a:avLst/>
            </a:prstGeom>
            <a:solidFill>
              <a:srgbClr val="065A82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354779" y="2201346"/>
              <a:ext cx="1009231" cy="279916"/>
              <a:chOff x="1354779" y="2201346"/>
              <a:chExt cx="1009231" cy="279916"/>
            </a:xfrm>
          </p:grpSpPr>
          <p:grpSp>
            <p:nvGrpSpPr>
              <p:cNvPr id="15" name="Group 15"/>
              <p:cNvGrpSpPr/>
              <p:nvPr/>
            </p:nvGrpSpPr>
            <p:grpSpPr>
              <a:xfrm>
                <a:off x="1354779" y="2201346"/>
                <a:ext cx="224133" cy="192560"/>
                <a:chOff x="1354779" y="2201346"/>
                <a:chExt cx="224133" cy="19256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466850" y="2271712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065A82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354779" y="2201346"/>
                  <a:ext cx="224133" cy="19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33" h="192560">
                      <a:moveTo>
                        <a:pt x="93880" y="10259"/>
                      </a:moveTo>
                      <a:lnTo>
                        <a:pt x="3802" y="160656"/>
                      </a:lnTo>
                      <a:cubicBezTo>
                        <a:pt x="23" y="167200"/>
                        <a:pt x="0" y="175257"/>
                        <a:pt x="3741" y="181822"/>
                      </a:cubicBezTo>
                      <a:cubicBezTo>
                        <a:pt x="7482" y="188388"/>
                        <a:pt x="14426" y="192475"/>
                        <a:pt x="21982" y="192560"/>
                      </a:cubicBezTo>
                      <a:lnTo>
                        <a:pt x="202160" y="192560"/>
                      </a:lnTo>
                      <a:cubicBezTo>
                        <a:pt x="209712" y="192473"/>
                        <a:pt x="216652" y="188387"/>
                        <a:pt x="220393" y="181825"/>
                      </a:cubicBezTo>
                      <a:cubicBezTo>
                        <a:pt x="224133" y="175263"/>
                        <a:pt x="224113" y="167210"/>
                        <a:pt x="220340" y="160667"/>
                      </a:cubicBezTo>
                      <a:lnTo>
                        <a:pt x="130262" y="10248"/>
                      </a:lnTo>
                      <a:cubicBezTo>
                        <a:pt x="126408" y="3886"/>
                        <a:pt x="119509" y="0"/>
                        <a:pt x="112071" y="0"/>
                      </a:cubicBezTo>
                      <a:cubicBezTo>
                        <a:pt x="104632" y="0"/>
                        <a:pt x="97734" y="3886"/>
                        <a:pt x="93880" y="10248"/>
                      </a:cubicBezTo>
                    </a:path>
                  </a:pathLst>
                </a:custGeom>
                <a:noFill/>
                <a:ln w="19050">
                  <a:solidFill>
                    <a:srgbClr val="065A82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466850" y="2349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065A82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739265" y="2267902"/>
                <a:ext cx="6247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MODE A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312545" y="2603182"/>
              <a:ext cx="35029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Cambria"/>
                  <a:ea typeface="Microsoft YaHei"/>
                  <a:cs typeface="Cambria"/>
                </a:rPr>
                <a:t>Descriptive misalignment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9212" y="3040856"/>
              <a:ext cx="38269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T2I models miscount objects, drop colors,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19212" y="3250406"/>
              <a:ext cx="4328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and swap spatial relations on complex prompts.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1118" y="3609499"/>
              <a:ext cx="32361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C7293"/>
                  </a:solidFill>
                  <a:latin typeface="Consolas"/>
                  <a:ea typeface="Microsoft YaHei"/>
                  <a:cs typeface="Consolas"/>
                </a:rPr>
                <a:t>e.g. "six steamed buns on a round plate"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553200" y="1905000"/>
            <a:ext cx="5181600" cy="1981200"/>
            <a:chOff x="6553200" y="1905000"/>
            <a:chExt cx="5181600" cy="1981200"/>
          </a:xfrm>
        </p:grpSpPr>
        <p:sp>
          <p:nvSpPr>
            <p:cNvPr id="23" name="Rectangle 23"/>
            <p:cNvSpPr/>
            <p:nvPr/>
          </p:nvSpPr>
          <p:spPr>
            <a:xfrm>
              <a:off x="6553200" y="1905000"/>
              <a:ext cx="5181600" cy="1981200"/>
            </a:xfrm>
            <a:prstGeom prst="roundRect">
              <a:avLst>
                <a:gd name="adj" fmla="val 4808"/>
              </a:avLst>
            </a:prstGeom>
            <a:solidFill>
              <a:srgbClr val="FFFFFF"/>
            </a:solidFill>
            <a:ln w="7144">
              <a:solidFill>
                <a:srgbClr val="E2E8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553200" y="1905000"/>
              <a:ext cx="38100" cy="1981200"/>
            </a:xfrm>
            <a:prstGeom prst="rect">
              <a:avLst/>
            </a:prstGeom>
            <a:solidFill>
              <a:srgbClr val="1C7293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841179" y="2201346"/>
              <a:ext cx="1009231" cy="279916"/>
              <a:chOff x="6841179" y="2201346"/>
              <a:chExt cx="1009231" cy="279916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6841179" y="2201346"/>
                <a:ext cx="224133" cy="192560"/>
                <a:chOff x="6841179" y="2201346"/>
                <a:chExt cx="224133" cy="19256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953250" y="2271712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841179" y="2201346"/>
                  <a:ext cx="224133" cy="19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33" h="192560">
                      <a:moveTo>
                        <a:pt x="93880" y="10259"/>
                      </a:moveTo>
                      <a:lnTo>
                        <a:pt x="3802" y="160656"/>
                      </a:lnTo>
                      <a:cubicBezTo>
                        <a:pt x="23" y="167200"/>
                        <a:pt x="0" y="175257"/>
                        <a:pt x="3741" y="181822"/>
                      </a:cubicBezTo>
                      <a:cubicBezTo>
                        <a:pt x="7482" y="188388"/>
                        <a:pt x="14426" y="192475"/>
                        <a:pt x="21982" y="192560"/>
                      </a:cubicBezTo>
                      <a:lnTo>
                        <a:pt x="202160" y="192560"/>
                      </a:lnTo>
                      <a:cubicBezTo>
                        <a:pt x="209712" y="192473"/>
                        <a:pt x="216652" y="188387"/>
                        <a:pt x="220393" y="181825"/>
                      </a:cubicBezTo>
                      <a:cubicBezTo>
                        <a:pt x="224133" y="175263"/>
                        <a:pt x="224113" y="167210"/>
                        <a:pt x="220340" y="160667"/>
                      </a:cubicBezTo>
                      <a:lnTo>
                        <a:pt x="130262" y="10248"/>
                      </a:lnTo>
                      <a:cubicBezTo>
                        <a:pt x="126408" y="3886"/>
                        <a:pt x="119509" y="0"/>
                        <a:pt x="112071" y="0"/>
                      </a:cubicBezTo>
                      <a:cubicBezTo>
                        <a:pt x="104632" y="0"/>
                        <a:pt x="97734" y="3886"/>
                        <a:pt x="93880" y="10248"/>
                      </a:cubicBez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953250" y="2349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7225665" y="2267902"/>
                <a:ext cx="6247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MODE B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6798945" y="2603182"/>
              <a:ext cx="36173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Cambria"/>
                  <a:ea typeface="Microsoft YaHei"/>
                  <a:cs typeface="Cambria"/>
                </a:rPr>
                <a:t>Hypothetical instructions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05612" y="3040856"/>
              <a:ext cx="393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Counterfactual prompts need commonsense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05612" y="3250406"/>
              <a:ext cx="40033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reasoning before generation — T2I has none.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7518" y="3609499"/>
              <a:ext cx="29142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C7293"/>
                  </a:solidFill>
                  <a:latin typeface="Consolas"/>
                  <a:ea typeface="Microsoft YaHei"/>
                  <a:cs typeface="Consolas"/>
                </a:rPr>
                <a:t>e.g. "what if the ice cubes melted?"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66800" y="4267200"/>
            <a:ext cx="10668000" cy="1752600"/>
            <a:chOff x="1066800" y="4267200"/>
            <a:chExt cx="10668000" cy="1752600"/>
          </a:xfrm>
        </p:grpSpPr>
        <p:sp>
          <p:nvSpPr>
            <p:cNvPr id="36" name="Rectangle 36"/>
            <p:cNvSpPr/>
            <p:nvPr/>
          </p:nvSpPr>
          <p:spPr>
            <a:xfrm>
              <a:off x="1066800" y="4267200"/>
              <a:ext cx="10668000" cy="1752600"/>
            </a:xfrm>
            <a:prstGeom prst="roundRect">
              <a:avLst>
                <a:gd name="adj" fmla="val 5435"/>
              </a:avLst>
            </a:prstGeom>
            <a:solidFill>
              <a:srgbClr val="21295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66800" y="4324350"/>
              <a:ext cx="38100" cy="16383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485900" y="4686300"/>
              <a:ext cx="1202150" cy="271462"/>
              <a:chOff x="1485900" y="4686300"/>
              <a:chExt cx="1202150" cy="271462"/>
            </a:xfrm>
          </p:grpSpPr>
          <p:grpSp>
            <p:nvGrpSpPr>
              <p:cNvPr id="41" name="Group 41"/>
              <p:cNvGrpSpPr/>
              <p:nvPr/>
            </p:nvGrpSpPr>
            <p:grpSpPr>
              <a:xfrm>
                <a:off x="1485900" y="4686300"/>
                <a:ext cx="228600" cy="228600"/>
                <a:chOff x="1485900" y="4686300"/>
                <a:chExt cx="228600" cy="22860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1587500" y="478790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19050">
                  <a:solidFill>
                    <a:srgbClr val="F2A65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536700" y="4737100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0" y="63500"/>
                      </a:moveTo>
                      <a:cubicBezTo>
                        <a:pt x="0" y="98570"/>
                        <a:pt x="28430" y="127000"/>
                        <a:pt x="63500" y="127000"/>
                      </a:cubicBezTo>
                      <a:cubicBezTo>
                        <a:pt x="98570" y="127000"/>
                        <a:pt x="127000" y="98570"/>
                        <a:pt x="127000" y="63500"/>
                      </a:cubicBezTo>
                      <a:cubicBezTo>
                        <a:pt x="127000" y="28430"/>
                        <a:pt x="98570" y="0"/>
                        <a:pt x="63500" y="0"/>
                      </a:cubicBezTo>
                      <a:cubicBezTo>
                        <a:pt x="28430" y="0"/>
                        <a:pt x="0" y="28430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F2A65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485900" y="468630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114300"/>
                      </a:move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19050">
                  <a:solidFill>
                    <a:srgbClr val="F2A65A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1872615" y="4744402"/>
                <a:ext cx="8154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OUR GOAL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407795" y="5070158"/>
              <a:ext cx="3875184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Zero training.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32560" y="5623560"/>
              <a:ext cx="87378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Solve both failure modes with MLLM agents + public APIs — no fine-tuning, no custom data.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8831580" y="4630102"/>
              <a:ext cx="2649760" cy="930117"/>
              <a:chOff x="8831580" y="4630102"/>
              <a:chExt cx="2649760" cy="930117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8863965" y="4630102"/>
                <a:ext cx="5987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RESULT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831580" y="4812030"/>
                <a:ext cx="2306917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F2A65A"/>
                    </a:solidFill>
                    <a:latin typeface="Cambria"/>
                    <a:ea typeface="Microsoft YaHei"/>
                    <a:cs typeface="Cambria"/>
                  </a:rPr>
                  <a:t>VQA 1.0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864918" y="5362099"/>
                <a:ext cx="26164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across all four end-to-end cases</a:t>
                </a:r>
              </a:p>
            </p:txBody>
          </p:sp>
        </p:grpSp>
      </p:grpSp>
      <p:sp>
        <p:nvSpPr>
          <p:cNvPr id="51" name="TextBox 51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02079" y="6464141"/>
            <a:ext cx="4431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02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038225" y="533400"/>
            <a:ext cx="4016145" cy="785812"/>
            <a:chOff x="1038225" y="533400"/>
            <a:chExt cx="4016145" cy="785812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815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40161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System Architecture</a:t>
              </a:r>
            </a:p>
          </p:txBody>
        </p:sp>
      </p:grpSp>
      <p:pic>
        <p:nvPicPr>
          <p:cNvPr id="9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98" y="1409700"/>
            <a:ext cx="8674004" cy="4762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4418" y="6257449"/>
            <a:ext cx="79124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i="1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Router fans the user input out to gen / edit / hybrid; all three converge on a unified result schema.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02079" y="6464141"/>
            <a:ext cx="4431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03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  <p:bldP spid="9" grpId="0"/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38225" y="533400"/>
            <a:ext cx="5498330" cy="983456"/>
            <a:chOff x="1038225" y="533400"/>
            <a:chExt cx="5498330" cy="983456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7981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PIPELINES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549833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Three Complementary Routes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2512" y="1288256"/>
              <a:ext cx="5303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Routed automatically by input shape · keep original pixels?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66800" y="1866900"/>
            <a:ext cx="10668000" cy="4191000"/>
            <a:chOff x="1066800" y="1866900"/>
            <a:chExt cx="10668000" cy="4191000"/>
          </a:xfrm>
        </p:grpSpPr>
        <p:grpSp>
          <p:nvGrpSpPr>
            <p:cNvPr id="32" name="Group 32"/>
            <p:cNvGrpSpPr/>
            <p:nvPr/>
          </p:nvGrpSpPr>
          <p:grpSpPr>
            <a:xfrm>
              <a:off x="1066800" y="1866900"/>
              <a:ext cx="3429000" cy="4191000"/>
              <a:chOff x="1066800" y="1866900"/>
              <a:chExt cx="3429000" cy="4191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66800" y="1866900"/>
                <a:ext cx="3429000" cy="4191000"/>
              </a:xfrm>
              <a:prstGeom prst="roundRect">
                <a:avLst>
                  <a:gd name="adj" fmla="val 2778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1066800" y="1866900"/>
                <a:ext cx="34290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066800" y="2381250"/>
                <a:ext cx="3429000" cy="9525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524366" y="2088832"/>
                <a:ext cx="51386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gen</a:t>
                </a:r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1320165" y="2667952"/>
                <a:ext cx="1456849" cy="461010"/>
                <a:chOff x="1320165" y="2667952"/>
                <a:chExt cx="1456849" cy="461010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1320165" y="2667952"/>
                  <a:ext cx="46005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INPUT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320165" y="2915602"/>
                  <a:ext cx="1456849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Text prompt only</a:t>
                  </a:r>
                </a:p>
              </p:txBody>
            </p:sp>
          </p:grpSp>
          <p:sp>
            <p:nvSpPr>
              <p:cNvPr id="17" name="Line 17"/>
              <p:cNvSpPr/>
              <p:nvPr/>
            </p:nvSpPr>
            <p:spPr>
              <a:xfrm>
                <a:off x="1333500" y="32766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1320165" y="3353752"/>
                <a:ext cx="2392966" cy="670560"/>
                <a:chOff x="1320165" y="3353752"/>
                <a:chExt cx="2392966" cy="670560"/>
              </a:xfrm>
            </p:grpSpPr>
            <p:sp>
              <p:nvSpPr>
                <p:cNvPr id="18" name="TextBox 18"/>
                <p:cNvSpPr txBox="1"/>
                <p:nvPr/>
              </p:nvSpPr>
              <p:spPr>
                <a:xfrm>
                  <a:off x="1320165" y="3353752"/>
                  <a:ext cx="442722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GOAL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320165" y="3601402"/>
                  <a:ext cx="2392966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Optimize prompt for better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320165" y="3810952"/>
                  <a:ext cx="1924907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0F172A"/>
                      </a:solidFill>
                      <a:latin typeface="Segoe UI"/>
                      <a:ea typeface="Microsoft YaHei"/>
                      <a:cs typeface="Segoe UI"/>
                    </a:rPr>
                    <a:t>text–image alignment.</a:t>
                  </a:r>
                </a:p>
              </p:txBody>
            </p:sp>
          </p:grpSp>
          <p:sp>
            <p:nvSpPr>
              <p:cNvPr id="22" name="Line 22"/>
              <p:cNvSpPr/>
              <p:nvPr/>
            </p:nvSpPr>
            <p:spPr>
              <a:xfrm>
                <a:off x="1333500" y="41529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1320165" y="4230052"/>
                <a:ext cx="2332291" cy="651510"/>
                <a:chOff x="1320165" y="4230052"/>
                <a:chExt cx="2332291" cy="651510"/>
              </a:xfrm>
            </p:grpSpPr>
            <p:sp>
              <p:nvSpPr>
                <p:cNvPr id="23" name="TextBox 23"/>
                <p:cNvSpPr txBox="1"/>
                <p:nvPr/>
              </p:nvSpPr>
              <p:spPr>
                <a:xfrm>
                  <a:off x="1320165" y="4230052"/>
                  <a:ext cx="477393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LOOP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321118" y="4485799"/>
                  <a:ext cx="194033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C7293"/>
                      </a:solidFill>
                      <a:latin typeface="Consolas"/>
                      <a:ea typeface="Microsoft YaHei"/>
                      <a:cs typeface="Consolas"/>
                    </a:rPr>
                    <a:t>decompose → T2I baseline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320165" y="4668202"/>
                  <a:ext cx="2332291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1C7293"/>
                      </a:solidFill>
                      <a:latin typeface="Consolas"/>
                      <a:ea typeface="Microsoft YaHei"/>
                      <a:cs typeface="Consolas"/>
                    </a:rPr>
                    <a:t>→ K candidates → VQA select</a:t>
                  </a:r>
                </a:p>
              </p:txBody>
            </p:sp>
          </p:grpSp>
          <p:sp>
            <p:nvSpPr>
              <p:cNvPr id="27" name="Line 27"/>
              <p:cNvSpPr/>
              <p:nvPr/>
            </p:nvSpPr>
            <p:spPr>
              <a:xfrm>
                <a:off x="1333500" y="50673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1320165" y="5144452"/>
                <a:ext cx="2097595" cy="599123"/>
                <a:chOff x="1320165" y="5144452"/>
                <a:chExt cx="2097595" cy="599123"/>
              </a:xfrm>
            </p:grpSpPr>
            <p:sp>
              <p:nvSpPr>
                <p:cNvPr id="28" name="TextBox 28"/>
                <p:cNvSpPr txBox="1"/>
                <p:nvPr/>
              </p:nvSpPr>
              <p:spPr>
                <a:xfrm>
                  <a:off x="1320165" y="5144452"/>
                  <a:ext cx="72875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EXAMPLE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322070" y="5389245"/>
                  <a:ext cx="209569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i="1" dirty="0">
                      <a:solidFill>
                        <a:srgbClr val="065A82"/>
                      </a:solidFill>
                      <a:latin typeface="Arial"/>
                      <a:ea typeface="Microsoft YaHei"/>
                      <a:cs typeface="Arial"/>
                    </a:rPr>
                    <a:t>"A grass field of red poppies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322070" y="5560695"/>
                  <a:ext cx="193967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i="1" dirty="0">
                      <a:solidFill>
                        <a:srgbClr val="065A82"/>
                      </a:solidFill>
                      <a:latin typeface="Arial"/>
                      <a:ea typeface="Microsoft YaHei"/>
                      <a:cs typeface="Arial"/>
                    </a:rPr>
                    <a:t>beside a wooden windmill."</a:t>
                  </a:r>
                </a:p>
              </p:txBody>
            </p:sp>
          </p:grpSp>
        </p:grpSp>
        <p:grpSp>
          <p:nvGrpSpPr>
            <p:cNvPr id="55" name="Group 55"/>
            <p:cNvGrpSpPr/>
            <p:nvPr/>
          </p:nvGrpSpPr>
          <p:grpSpPr>
            <a:xfrm>
              <a:off x="4686300" y="1866900"/>
              <a:ext cx="3429000" cy="4191000"/>
              <a:chOff x="4686300" y="1866900"/>
              <a:chExt cx="3429000" cy="41910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4686300" y="1866900"/>
                <a:ext cx="3429000" cy="4191000"/>
              </a:xfrm>
              <a:prstGeom prst="roundRect">
                <a:avLst>
                  <a:gd name="adj" fmla="val 2778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4686300" y="1866900"/>
                <a:ext cx="34290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1C7293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4686300" y="2381250"/>
                <a:ext cx="3429000" cy="95250"/>
              </a:xfrm>
              <a:prstGeom prst="rect">
                <a:avLst/>
              </a:prstGeom>
              <a:solidFill>
                <a:srgbClr val="1C729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100960" y="2088832"/>
                <a:ext cx="5996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edit</a:t>
                </a:r>
              </a:p>
            </p:txBody>
          </p:sp>
          <p:grpSp>
            <p:nvGrpSpPr>
              <p:cNvPr id="39" name="Group 39"/>
              <p:cNvGrpSpPr/>
              <p:nvPr/>
            </p:nvGrpSpPr>
            <p:grpSpPr>
              <a:xfrm>
                <a:off x="4939665" y="2667952"/>
                <a:ext cx="1985582" cy="461010"/>
                <a:chOff x="4939665" y="2667952"/>
                <a:chExt cx="1985582" cy="461010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4939665" y="2667952"/>
                  <a:ext cx="46005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INPUT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4939665" y="2915602"/>
                  <a:ext cx="1985582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Image + counterfactual</a:t>
                  </a:r>
                </a:p>
              </p:txBody>
            </p:sp>
          </p:grpSp>
          <p:sp>
            <p:nvSpPr>
              <p:cNvPr id="40" name="Line 40"/>
              <p:cNvSpPr/>
              <p:nvPr/>
            </p:nvSpPr>
            <p:spPr>
              <a:xfrm>
                <a:off x="4953000" y="32766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4939665" y="3353752"/>
                <a:ext cx="2297620" cy="670560"/>
                <a:chOff x="4939665" y="3353752"/>
                <a:chExt cx="2297620" cy="670560"/>
              </a:xfrm>
            </p:grpSpPr>
            <p:sp>
              <p:nvSpPr>
                <p:cNvPr id="41" name="TextBox 41"/>
                <p:cNvSpPr txBox="1"/>
                <p:nvPr/>
              </p:nvSpPr>
              <p:spPr>
                <a:xfrm>
                  <a:off x="4939665" y="3353752"/>
                  <a:ext cx="442722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GOAL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4939665" y="3601402"/>
                  <a:ext cx="229762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Local instruction edit that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4939665" y="3810952"/>
                  <a:ext cx="2202275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preserves original pixels.</a:t>
                  </a:r>
                </a:p>
              </p:txBody>
            </p:sp>
          </p:grpSp>
          <p:sp>
            <p:nvSpPr>
              <p:cNvPr id="45" name="Line 45"/>
              <p:cNvSpPr/>
              <p:nvPr/>
            </p:nvSpPr>
            <p:spPr>
              <a:xfrm>
                <a:off x="4953000" y="41529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4939665" y="4230052"/>
                <a:ext cx="2193607" cy="651510"/>
                <a:chOff x="4939665" y="4230052"/>
                <a:chExt cx="2193607" cy="651510"/>
              </a:xfrm>
            </p:grpSpPr>
            <p:sp>
              <p:nvSpPr>
                <p:cNvPr id="46" name="TextBox 46"/>
                <p:cNvSpPr txBox="1"/>
                <p:nvPr/>
              </p:nvSpPr>
              <p:spPr>
                <a:xfrm>
                  <a:off x="4939665" y="4230052"/>
                  <a:ext cx="477393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LOOP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4940618" y="4485799"/>
                  <a:ext cx="204497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C7293"/>
                      </a:solidFill>
                      <a:latin typeface="Consolas"/>
                      <a:ea typeface="Microsoft YaHei"/>
                      <a:cs typeface="Consolas"/>
                    </a:rPr>
                    <a:t>Reason → Qwen-Image edit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4939665" y="4668202"/>
                  <a:ext cx="2193607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1C7293"/>
                      </a:solidFill>
                      <a:latin typeface="Consolas"/>
                      <a:ea typeface="Microsoft YaHei"/>
                      <a:cs typeface="Consolas"/>
                    </a:rPr>
                    <a:t>→ VQA select → refine loop</a:t>
                  </a:r>
                </a:p>
              </p:txBody>
            </p:sp>
          </p:grpSp>
          <p:sp>
            <p:nvSpPr>
              <p:cNvPr id="50" name="Line 50"/>
              <p:cNvSpPr/>
              <p:nvPr/>
            </p:nvSpPr>
            <p:spPr>
              <a:xfrm>
                <a:off x="4953000" y="50673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4939665" y="5144452"/>
                <a:ext cx="1629537" cy="599123"/>
                <a:chOff x="4939665" y="5144452"/>
                <a:chExt cx="1629537" cy="599123"/>
              </a:xfrm>
            </p:grpSpPr>
            <p:sp>
              <p:nvSpPr>
                <p:cNvPr id="51" name="TextBox 51"/>
                <p:cNvSpPr txBox="1"/>
                <p:nvPr/>
              </p:nvSpPr>
              <p:spPr>
                <a:xfrm>
                  <a:off x="4939665" y="5144452"/>
                  <a:ext cx="72875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EXAMPLE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4941570" y="5389245"/>
                  <a:ext cx="162763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i="1" dirty="0">
                      <a:solidFill>
                        <a:srgbClr val="1C7293"/>
                      </a:solidFill>
                      <a:latin typeface="Arial"/>
                      <a:ea typeface="Microsoft YaHei"/>
                      <a:cs typeface="Arial"/>
                    </a:rPr>
                    <a:t>"What if the ice cubes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4941570" y="5560695"/>
                  <a:ext cx="66922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i="1" dirty="0">
                      <a:solidFill>
                        <a:srgbClr val="1C7293"/>
                      </a:solidFill>
                      <a:latin typeface="Arial"/>
                      <a:ea typeface="Microsoft YaHei"/>
                      <a:cs typeface="Arial"/>
                    </a:rPr>
                    <a:t>melted?"</a:t>
                  </a:r>
                </a:p>
              </p:txBody>
            </p:sp>
          </p:grpSp>
        </p:grpSp>
        <p:grpSp>
          <p:nvGrpSpPr>
            <p:cNvPr id="78" name="Group 78"/>
            <p:cNvGrpSpPr/>
            <p:nvPr/>
          </p:nvGrpSpPr>
          <p:grpSpPr>
            <a:xfrm>
              <a:off x="8305800" y="1866900"/>
              <a:ext cx="3429000" cy="4191000"/>
              <a:chOff x="8305800" y="1866900"/>
              <a:chExt cx="3429000" cy="41910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8305800" y="1866900"/>
                <a:ext cx="3429000" cy="4191000"/>
              </a:xfrm>
              <a:prstGeom prst="roundRect">
                <a:avLst>
                  <a:gd name="adj" fmla="val 2778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8305800" y="1866900"/>
                <a:ext cx="34290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21295C"/>
              </a:solidFill>
              <a:ln>
                <a:noFill/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8305800" y="2381250"/>
                <a:ext cx="3429000" cy="95250"/>
              </a:xfrm>
              <a:prstGeom prst="rect">
                <a:avLst/>
              </a:prstGeom>
              <a:solidFill>
                <a:srgbClr val="21295C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9563140" y="2088832"/>
                <a:ext cx="91431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hybrid</a:t>
                </a:r>
              </a:p>
            </p:txBody>
          </p:sp>
          <p:grpSp>
            <p:nvGrpSpPr>
              <p:cNvPr id="62" name="Group 62"/>
              <p:cNvGrpSpPr/>
              <p:nvPr/>
            </p:nvGrpSpPr>
            <p:grpSpPr>
              <a:xfrm>
                <a:off x="8559165" y="2667952"/>
                <a:ext cx="1985582" cy="461010"/>
                <a:chOff x="8559165" y="2667952"/>
                <a:chExt cx="1985582" cy="461010"/>
              </a:xfrm>
            </p:grpSpPr>
            <p:sp>
              <p:nvSpPr>
                <p:cNvPr id="60" name="TextBox 60"/>
                <p:cNvSpPr txBox="1"/>
                <p:nvPr/>
              </p:nvSpPr>
              <p:spPr>
                <a:xfrm>
                  <a:off x="8559165" y="2667952"/>
                  <a:ext cx="46005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INPUT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8559165" y="2915602"/>
                  <a:ext cx="1985582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Image + counterfactual</a:t>
                  </a:r>
                </a:p>
              </p:txBody>
            </p:sp>
          </p:grpSp>
          <p:sp>
            <p:nvSpPr>
              <p:cNvPr id="63" name="Line 63"/>
              <p:cNvSpPr/>
              <p:nvPr/>
            </p:nvSpPr>
            <p:spPr>
              <a:xfrm>
                <a:off x="8572500" y="32766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8559165" y="3353752"/>
                <a:ext cx="2618327" cy="670560"/>
                <a:chOff x="8559165" y="3353752"/>
                <a:chExt cx="2618327" cy="670560"/>
              </a:xfrm>
            </p:grpSpPr>
            <p:sp>
              <p:nvSpPr>
                <p:cNvPr id="64" name="TextBox 64"/>
                <p:cNvSpPr txBox="1"/>
                <p:nvPr/>
              </p:nvSpPr>
              <p:spPr>
                <a:xfrm>
                  <a:off x="8559165" y="3353752"/>
                  <a:ext cx="442722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GOAL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8559165" y="3601402"/>
                  <a:ext cx="1777556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Full re-paint via T2I;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559165" y="3810952"/>
                  <a:ext cx="2618327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0F172A"/>
                      </a:solidFill>
                      <a:latin typeface="Arial"/>
                      <a:ea typeface="Microsoft YaHei"/>
                      <a:cs typeface="Arial"/>
                    </a:rPr>
                    <a:t>image used only for reasoning.</a:t>
                  </a:r>
                </a:p>
              </p:txBody>
            </p:sp>
          </p:grpSp>
          <p:sp>
            <p:nvSpPr>
              <p:cNvPr id="68" name="Line 68"/>
              <p:cNvSpPr/>
              <p:nvPr/>
            </p:nvSpPr>
            <p:spPr>
              <a:xfrm>
                <a:off x="8572500" y="41529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grpSp>
            <p:nvGrpSpPr>
              <p:cNvPr id="72" name="Group 72"/>
              <p:cNvGrpSpPr/>
              <p:nvPr/>
            </p:nvGrpSpPr>
            <p:grpSpPr>
              <a:xfrm>
                <a:off x="8559165" y="4230052"/>
                <a:ext cx="2552986" cy="651510"/>
                <a:chOff x="8559165" y="4230052"/>
                <a:chExt cx="2552986" cy="651510"/>
              </a:xfrm>
            </p:grpSpPr>
            <p:sp>
              <p:nvSpPr>
                <p:cNvPr id="69" name="TextBox 69"/>
                <p:cNvSpPr txBox="1"/>
                <p:nvPr/>
              </p:nvSpPr>
              <p:spPr>
                <a:xfrm>
                  <a:off x="8559165" y="4230052"/>
                  <a:ext cx="477393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LOOP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8560118" y="4485799"/>
                  <a:ext cx="25520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21295C"/>
                      </a:solidFill>
                      <a:latin typeface="Consolas"/>
                      <a:ea typeface="Microsoft YaHei"/>
                      <a:cs typeface="Consolas"/>
                    </a:rPr>
                    <a:t>Reason (hybrid) → scene_prompt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8559165" y="4668202"/>
                  <a:ext cx="2098262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21295C"/>
                      </a:solidFill>
                      <a:latin typeface="Consolas"/>
                      <a:ea typeface="Microsoft YaHei"/>
                      <a:cs typeface="Consolas"/>
                    </a:rPr>
                    <a:t>→ 7-layer fix → gen → VQA</a:t>
                  </a:r>
                </a:p>
              </p:txBody>
            </p:sp>
          </p:grpSp>
          <p:sp>
            <p:nvSpPr>
              <p:cNvPr id="73" name="Line 73"/>
              <p:cNvSpPr/>
              <p:nvPr/>
            </p:nvSpPr>
            <p:spPr>
              <a:xfrm>
                <a:off x="8572500" y="50673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grpSp>
            <p:nvGrpSpPr>
              <p:cNvPr id="77" name="Group 77"/>
              <p:cNvGrpSpPr/>
              <p:nvPr/>
            </p:nvGrpSpPr>
            <p:grpSpPr>
              <a:xfrm>
                <a:off x="8559165" y="5144452"/>
                <a:ext cx="1963864" cy="599123"/>
                <a:chOff x="8559165" y="5144452"/>
                <a:chExt cx="1963864" cy="599123"/>
              </a:xfrm>
            </p:grpSpPr>
            <p:sp>
              <p:nvSpPr>
                <p:cNvPr id="74" name="TextBox 74"/>
                <p:cNvSpPr txBox="1"/>
                <p:nvPr/>
              </p:nvSpPr>
              <p:spPr>
                <a:xfrm>
                  <a:off x="8559165" y="5144452"/>
                  <a:ext cx="72875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Arial"/>
                      <a:ea typeface="Microsoft YaHei"/>
                      <a:cs typeface="Arial"/>
                    </a:rPr>
                    <a:t>EXAMPLE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8561070" y="5389245"/>
                  <a:ext cx="196195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i="1" dirty="0">
                      <a:solidFill>
                        <a:srgbClr val="21295C"/>
                      </a:solidFill>
                      <a:latin typeface="Arial"/>
                      <a:ea typeface="Microsoft YaHei"/>
                      <a:cs typeface="Arial"/>
                    </a:rPr>
                    <a:t>"What if this bouquet split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8561070" y="5560695"/>
                  <a:ext cx="79552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i="1" dirty="0">
                      <a:solidFill>
                        <a:srgbClr val="21295C"/>
                      </a:solidFill>
                      <a:latin typeface="Arial"/>
                      <a:ea typeface="Microsoft YaHei"/>
                      <a:cs typeface="Arial"/>
                    </a:rPr>
                    <a:t>into two?"</a:t>
                  </a:r>
                </a:p>
              </p:txBody>
            </p:sp>
          </p:grpSp>
        </p:grpSp>
      </p:grpSp>
      <p:grpSp>
        <p:nvGrpSpPr>
          <p:cNvPr id="82" name="Group 82"/>
          <p:cNvGrpSpPr/>
          <p:nvPr/>
        </p:nvGrpSpPr>
        <p:grpSpPr>
          <a:xfrm>
            <a:off x="1066800" y="6076950"/>
            <a:ext cx="7990999" cy="309562"/>
            <a:chOff x="1066800" y="6076950"/>
            <a:chExt cx="7990999" cy="309562"/>
          </a:xfrm>
        </p:grpSpPr>
        <p:sp>
          <p:nvSpPr>
            <p:cNvPr id="80" name="Rectangle 80"/>
            <p:cNvSpPr/>
            <p:nvPr/>
          </p:nvSpPr>
          <p:spPr>
            <a:xfrm>
              <a:off x="1066800" y="6076950"/>
              <a:ext cx="28575" cy="2667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186815" y="6173152"/>
              <a:ext cx="78709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Routing rule —</a:t>
              </a:r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"do we still need the original pixels after the change?"</a:t>
              </a:r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Yes →</a:t>
              </a:r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b="1" dirty="0">
                  <a:solidFill>
                    <a:srgbClr val="1C7293"/>
                  </a:solidFill>
                  <a:latin typeface="Cambria"/>
                  <a:ea typeface="Microsoft YaHei"/>
                  <a:cs typeface="Cambria"/>
                </a:rPr>
                <a:t>edit</a:t>
              </a:r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· No →</a:t>
              </a:r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b="1" dirty="0">
                  <a:solidFill>
                    <a:srgbClr val="21295C"/>
                  </a:solidFill>
                  <a:latin typeface="Cambria"/>
                  <a:ea typeface="Microsoft YaHei"/>
                  <a:cs typeface="Cambria"/>
                </a:rPr>
                <a:t>hybrid</a:t>
              </a: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302079" y="6464141"/>
            <a:ext cx="4431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04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79" grpId="0"/>
      <p:bldP spid="82" grpId="0"/>
      <p:bldP spid="83" grpId="0"/>
      <p:bldP spid="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38225" y="533400"/>
            <a:ext cx="6701551" cy="983456"/>
            <a:chOff x="1038225" y="533400"/>
            <a:chExt cx="6701551" cy="983456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14915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FOUNDATION · gen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40161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Member 1 — gen Route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2512" y="1288256"/>
              <a:ext cx="66872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MLLM / T2I clients · shared schemas · GenPilot-style prompt optimization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53465" y="1677352"/>
            <a:ext cx="4737735" cy="3199448"/>
            <a:chOff x="1053465" y="1677352"/>
            <a:chExt cx="4737735" cy="3199448"/>
          </a:xfrm>
        </p:grpSpPr>
        <p:sp>
          <p:nvSpPr>
            <p:cNvPr id="10" name="TextBox 10"/>
            <p:cNvSpPr txBox="1"/>
            <p:nvPr/>
          </p:nvSpPr>
          <p:spPr>
            <a:xfrm>
              <a:off x="1053465" y="1677352"/>
              <a:ext cx="7634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MODULES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066800" y="1943100"/>
              <a:ext cx="4724400" cy="647700"/>
              <a:chOff x="1066800" y="1943100"/>
              <a:chExt cx="4724400" cy="6477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066800" y="1943100"/>
                <a:ext cx="4724400" cy="647700"/>
              </a:xfrm>
              <a:prstGeom prst="roundRect">
                <a:avLst>
                  <a:gd name="adj" fmla="val 8824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066800" y="1943100"/>
                <a:ext cx="28575" cy="64770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43965" y="2077402"/>
                <a:ext cx="11916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onsolas"/>
                    <a:ea typeface="Microsoft YaHei"/>
                    <a:cs typeface="Consolas"/>
                  </a:rPr>
                  <a:t>api_client.py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45870" y="2322195"/>
                <a:ext cx="447313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OpenAI-compatible MLLM — text + vision, image base64+resize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66800" y="2705100"/>
              <a:ext cx="4724400" cy="647700"/>
              <a:chOff x="1066800" y="2705100"/>
              <a:chExt cx="4724400" cy="6477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066800" y="2705100"/>
                <a:ext cx="4724400" cy="647700"/>
              </a:xfrm>
              <a:prstGeom prst="roundRect">
                <a:avLst>
                  <a:gd name="adj" fmla="val 8824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066800" y="2705100"/>
                <a:ext cx="28575" cy="64770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43965" y="2839402"/>
                <a:ext cx="11916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onsolas"/>
                    <a:ea typeface="Microsoft YaHei"/>
                    <a:cs typeface="Consolas"/>
                  </a:rPr>
                  <a:t>t2i_client.py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45870" y="3084195"/>
                <a:ext cx="38862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dry_run / DashScope / siliconflow / ComfyUI backends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066800" y="3467100"/>
              <a:ext cx="4724400" cy="647700"/>
              <a:chOff x="1066800" y="3467100"/>
              <a:chExt cx="4724400" cy="6477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66800" y="3467100"/>
                <a:ext cx="4724400" cy="647700"/>
              </a:xfrm>
              <a:prstGeom prst="roundRect">
                <a:avLst>
                  <a:gd name="adj" fmla="val 8824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1066800" y="3467100"/>
                <a:ext cx="28575" cy="64770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43965" y="3601402"/>
                <a:ext cx="139184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onsolas"/>
                    <a:ea typeface="Microsoft YaHei"/>
                    <a:cs typeface="Consolas"/>
                  </a:rPr>
                  <a:t>gen_pipeline.py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45870" y="3846195"/>
                <a:ext cx="3433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Decompose → baseline → candidates → VQA select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66800" y="4229100"/>
              <a:ext cx="4724400" cy="647700"/>
              <a:chOff x="1066800" y="4229100"/>
              <a:chExt cx="4724400" cy="6477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1066800" y="4229100"/>
                <a:ext cx="4724400" cy="647700"/>
              </a:xfrm>
              <a:prstGeom prst="roundRect">
                <a:avLst>
                  <a:gd name="adj" fmla="val 8824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1066800" y="4229100"/>
                <a:ext cx="28575" cy="64770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43965" y="4363402"/>
                <a:ext cx="10642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onsolas"/>
                    <a:ea typeface="Microsoft YaHei"/>
                    <a:cs typeface="Consolas"/>
                  </a:rPr>
                  <a:t>schemas.py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45870" y="4608195"/>
                <a:ext cx="32918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Shared dataclasses — all three routes inherit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6463665" y="1677352"/>
            <a:ext cx="4406836" cy="2932748"/>
            <a:chOff x="6463665" y="1677352"/>
            <a:chExt cx="4406836" cy="2932748"/>
          </a:xfrm>
        </p:grpSpPr>
        <p:sp>
          <p:nvSpPr>
            <p:cNvPr id="32" name="TextBox 32"/>
            <p:cNvSpPr txBox="1"/>
            <p:nvPr/>
          </p:nvSpPr>
          <p:spPr>
            <a:xfrm>
              <a:off x="6463665" y="1677352"/>
              <a:ext cx="16475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OPTIMIZATION LOOP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686550" y="2171700"/>
              <a:ext cx="9525" cy="2438400"/>
            </a:xfrm>
            <a:custGeom>
              <a:avLst/>
              <a:gdLst/>
              <a:ahLst/>
              <a:cxnLst/>
              <a:rect l="l" t="t" r="r" b="b"/>
              <a:pathLst>
                <a:path w="9525" h="2438400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w="14288">
              <a:solidFill>
                <a:srgbClr val="1C7293"/>
              </a:solidFill>
              <a:custDash>
                <a:ds d="133333" sp="266666"/>
              </a:custDash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515100" y="2057400"/>
              <a:ext cx="4355401" cy="342900"/>
              <a:chOff x="6515100" y="2057400"/>
              <a:chExt cx="4355401" cy="34290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6515100" y="2057400"/>
                <a:ext cx="342900" cy="342900"/>
              </a:xfrm>
              <a:prstGeom prst="ellipse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645912" y="2172652"/>
                <a:ext cx="812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978015" y="2153602"/>
                <a:ext cx="38924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Decompose prompt into checkable constraints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15100" y="2590800"/>
              <a:ext cx="2795206" cy="342900"/>
              <a:chOff x="6515100" y="2590800"/>
              <a:chExt cx="2795206" cy="34290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515100" y="2590800"/>
                <a:ext cx="342900" cy="342900"/>
              </a:xfrm>
              <a:prstGeom prst="ellipse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623159" y="2706052"/>
                <a:ext cx="1267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78015" y="2687002"/>
                <a:ext cx="23322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Generate T2I baseline image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15100" y="3124200"/>
              <a:ext cx="4182046" cy="342900"/>
              <a:chOff x="6515100" y="3124200"/>
              <a:chExt cx="4182046" cy="3429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515100" y="3124200"/>
                <a:ext cx="342900" cy="342900"/>
              </a:xfrm>
              <a:prstGeom prst="ellipse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23159" y="3239452"/>
                <a:ext cx="1267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978015" y="3220402"/>
                <a:ext cx="37191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Generate K candidate prompts; T2I each one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515100" y="3657600"/>
              <a:ext cx="3722656" cy="342900"/>
              <a:chOff x="6515100" y="3657600"/>
              <a:chExt cx="3722656" cy="3429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6515100" y="3657600"/>
                <a:ext cx="342900" cy="342900"/>
              </a:xfrm>
              <a:prstGeom prst="ellipse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623159" y="3772852"/>
                <a:ext cx="1267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978015" y="3753802"/>
                <a:ext cx="325974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MLLM VQA scores each — keep the best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515100" y="4191000"/>
              <a:ext cx="3802399" cy="342900"/>
              <a:chOff x="6515100" y="4191000"/>
              <a:chExt cx="3802399" cy="3429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6515100" y="4191000"/>
                <a:ext cx="342900" cy="342900"/>
              </a:xfrm>
              <a:prstGeom prst="ellipse">
                <a:avLst/>
              </a:prstGeom>
              <a:solidFill>
                <a:srgbClr val="F2A65A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623159" y="4306252"/>
                <a:ext cx="1267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978015" y="4287202"/>
                <a:ext cx="33394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Update current prompt — loop N times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1066800" y="5676900"/>
            <a:ext cx="10668000" cy="614362"/>
            <a:chOff x="1066800" y="5676900"/>
            <a:chExt cx="10668000" cy="614362"/>
          </a:xfrm>
        </p:grpSpPr>
        <p:sp>
          <p:nvSpPr>
            <p:cNvPr id="55" name="Rectangle 55"/>
            <p:cNvSpPr/>
            <p:nvPr/>
          </p:nvSpPr>
          <p:spPr>
            <a:xfrm>
              <a:off x="1066800" y="5676900"/>
              <a:ext cx="10668000" cy="533400"/>
            </a:xfrm>
            <a:prstGeom prst="roundRect">
              <a:avLst>
                <a:gd name="adj" fmla="val 10714"/>
              </a:avLst>
            </a:prstGeom>
            <a:solidFill>
              <a:srgbClr val="21295C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66800" y="5734050"/>
              <a:ext cx="38100" cy="4191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320165" y="5773102"/>
              <a:ext cx="26963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CASE · POPPY + DAISY + WINDMILL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318260" y="5985510"/>
              <a:ext cx="5082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VQA score  </a:t>
              </a:r>
              <a:r>
                <a:rPr lang="zh-CN" sz="120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0.8</a:t>
              </a:r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 → </a:t>
              </a:r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20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1.0</a:t>
              </a:r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 → </a:t>
              </a:r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20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1.0</a:t>
              </a:r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 (2 iterations, real API)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740219" y="5712142"/>
              <a:ext cx="76407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850" b="1" dirty="0">
                  <a:solidFill>
                    <a:srgbClr val="10B981"/>
                  </a:solidFill>
                  <a:latin typeface="Cambria"/>
                  <a:ea typeface="Microsoft YaHei"/>
                  <a:cs typeface="Cambria"/>
                </a:rPr>
                <a:t>1.0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02079" y="6464141"/>
            <a:ext cx="4431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05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38225" y="533400"/>
            <a:ext cx="6525101" cy="983456"/>
            <a:chOff x="1038225" y="533400"/>
            <a:chExt cx="6525101" cy="983456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16908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REASON · EDIT · VQA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423067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Member 2 — edit Route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2512" y="1288256"/>
              <a:ext cx="65108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Four reasoning classes aligned with Reason50K; VQA-driven verify loop.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53465" y="1677352"/>
            <a:ext cx="4737735" cy="3047048"/>
            <a:chOff x="1053465" y="1677352"/>
            <a:chExt cx="4737735" cy="3047048"/>
          </a:xfrm>
        </p:grpSpPr>
        <p:sp>
          <p:nvSpPr>
            <p:cNvPr id="10" name="TextBox 10"/>
            <p:cNvSpPr txBox="1"/>
            <p:nvPr/>
          </p:nvSpPr>
          <p:spPr>
            <a:xfrm>
              <a:off x="1053465" y="1677352"/>
              <a:ext cx="1404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REASONING TYPES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066800" y="1943100"/>
              <a:ext cx="4724400" cy="609600"/>
              <a:chOff x="1066800" y="1943100"/>
              <a:chExt cx="4724400" cy="6096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066800" y="19431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43012" y="2183606"/>
                <a:ext cx="7891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C7293"/>
                    </a:solidFill>
                    <a:latin typeface="Consolas"/>
                    <a:ea typeface="Microsoft YaHei"/>
                    <a:cs typeface="Consolas"/>
                  </a:rPr>
                  <a:t>physical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77465" y="2191702"/>
                <a:ext cx="19855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i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ice melts, seesaw tilts</a:t>
                </a:r>
              </a:p>
            </p:txBody>
          </p:sp>
          <p:grpSp>
            <p:nvGrpSpPr>
              <p:cNvPr id="20" name="Group 20"/>
              <p:cNvGrpSpPr/>
              <p:nvPr/>
            </p:nvGrpSpPr>
            <p:grpSpPr>
              <a:xfrm>
                <a:off x="5362575" y="2162175"/>
                <a:ext cx="171450" cy="171450"/>
                <a:chOff x="5362575" y="2162175"/>
                <a:chExt cx="171450" cy="17145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5448300" y="2257425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33338" y="0"/>
                      </a:moveTo>
                      <a:cubicBezTo>
                        <a:pt x="14926" y="0"/>
                        <a:pt x="0" y="14926"/>
                        <a:pt x="0" y="33338"/>
                      </a:cubicBezTo>
                      <a:lnTo>
                        <a:pt x="0" y="42862"/>
                      </a:lnTo>
                      <a:cubicBezTo>
                        <a:pt x="0" y="61274"/>
                        <a:pt x="14926" y="76200"/>
                        <a:pt x="33338" y="76200"/>
                      </a:cubicBezTo>
                      <a:cubicBezTo>
                        <a:pt x="51749" y="76200"/>
                        <a:pt x="66675" y="61274"/>
                        <a:pt x="66675" y="42862"/>
                      </a:cubicBezTo>
                      <a:lnTo>
                        <a:pt x="66675" y="25717"/>
                      </a:lnTo>
                    </a:path>
                  </a:pathLst>
                </a:custGeom>
                <a:noFill/>
                <a:ln w="19050">
                  <a:solidFill>
                    <a:srgbClr val="065A82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5381625" y="2257425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33338" y="0"/>
                      </a:move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42862"/>
                      </a:lnTo>
                      <a:cubicBezTo>
                        <a:pt x="66675" y="61274"/>
                        <a:pt x="51749" y="76200"/>
                        <a:pt x="33338" y="76200"/>
                      </a:cubicBezTo>
                      <a:cubicBezTo>
                        <a:pt x="14926" y="76200"/>
                        <a:pt x="0" y="61274"/>
                        <a:pt x="0" y="42862"/>
                      </a:cubicBezTo>
                      <a:lnTo>
                        <a:pt x="0" y="25717"/>
                      </a:lnTo>
                    </a:path>
                  </a:pathLst>
                </a:custGeom>
                <a:noFill/>
                <a:ln w="19050">
                  <a:solidFill>
                    <a:srgbClr val="065A82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5495925" y="2219325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6675">
                      <a:moveTo>
                        <a:pt x="4762" y="66675"/>
                      </a:moveTo>
                      <a:cubicBezTo>
                        <a:pt x="23174" y="66675"/>
                        <a:pt x="38100" y="51749"/>
                        <a:pt x="38100" y="33338"/>
                      </a:cubicBezTo>
                      <a:cubicBezTo>
                        <a:pt x="38100" y="14926"/>
                        <a:pt x="23174" y="0"/>
                        <a:pt x="4762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65A82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5448300" y="2162175"/>
                  <a:ext cx="66675" cy="60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0008">
                      <a:moveTo>
                        <a:pt x="66675" y="60008"/>
                      </a:moveTo>
                      <a:lnTo>
                        <a:pt x="66675" y="33338"/>
                      </a:ln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065A82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5362575" y="2219325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6675">
                      <a:moveTo>
                        <a:pt x="33338" y="66675"/>
                      </a:moveTo>
                      <a:cubicBezTo>
                        <a:pt x="14926" y="66675"/>
                        <a:pt x="0" y="51749"/>
                        <a:pt x="0" y="33338"/>
                      </a:cubicBez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065A82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5381625" y="2162175"/>
                  <a:ext cx="666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28588">
                      <a:moveTo>
                        <a:pt x="0" y="60008"/>
                      </a:moveTo>
                      <a:lnTo>
                        <a:pt x="0" y="33338"/>
                      </a:lnTo>
                      <a:cubicBezTo>
                        <a:pt x="0" y="14926"/>
                        <a:pt x="14926" y="0"/>
                        <a:pt x="33338" y="0"/>
                      </a:cubicBez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128588"/>
                      </a:lnTo>
                    </a:path>
                  </a:pathLst>
                </a:custGeom>
                <a:noFill/>
                <a:ln w="19050">
                  <a:solidFill>
                    <a:srgbClr val="065A82"/>
                  </a:solidFill>
                </a:ln>
              </p:spPr>
            </p:sp>
          </p:grpSp>
        </p:grpSp>
        <p:grpSp>
          <p:nvGrpSpPr>
            <p:cNvPr id="25" name="Group 25"/>
            <p:cNvGrpSpPr/>
            <p:nvPr/>
          </p:nvGrpSpPr>
          <p:grpSpPr>
            <a:xfrm>
              <a:off x="1066800" y="2667000"/>
              <a:ext cx="4724400" cy="609600"/>
              <a:chOff x="1066800" y="2667000"/>
              <a:chExt cx="4724400" cy="6096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066800" y="26670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43012" y="2907506"/>
                <a:ext cx="8769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C7293"/>
                    </a:solidFill>
                    <a:latin typeface="Consolas"/>
                    <a:ea typeface="Microsoft YaHei"/>
                    <a:cs typeface="Consolas"/>
                  </a:rPr>
                  <a:t>temporal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577465" y="2915602"/>
                <a:ext cx="15521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i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day becomes night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066800" y="3390900"/>
              <a:ext cx="4724400" cy="609600"/>
              <a:chOff x="1066800" y="3390900"/>
              <a:chExt cx="4724400" cy="6096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1066800" y="33909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43012" y="3631406"/>
                <a:ext cx="62339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C7293"/>
                    </a:solidFill>
                    <a:latin typeface="Consolas"/>
                    <a:ea typeface="Microsoft YaHei"/>
                    <a:cs typeface="Consolas"/>
                  </a:rPr>
                  <a:t>causal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577465" y="3639502"/>
                <a:ext cx="16562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i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bee lands on flower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66800" y="4114800"/>
              <a:ext cx="4724400" cy="609600"/>
              <a:chOff x="1066800" y="4114800"/>
              <a:chExt cx="4724400" cy="6096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066800" y="41148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243012" y="4355306"/>
                <a:ext cx="56489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C7293"/>
                    </a:solidFill>
                    <a:latin typeface="Consolas"/>
                    <a:ea typeface="Microsoft YaHei"/>
                    <a:cs typeface="Consolas"/>
                  </a:rPr>
                  <a:t>story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577465" y="4363402"/>
                <a:ext cx="19942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i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hidden texture appears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6463665" y="1677352"/>
            <a:ext cx="5665137" cy="3428048"/>
            <a:chOff x="6463665" y="1677352"/>
            <a:chExt cx="5665137" cy="3428048"/>
          </a:xfrm>
        </p:grpSpPr>
        <p:sp>
          <p:nvSpPr>
            <p:cNvPr id="35" name="TextBox 35"/>
            <p:cNvSpPr txBox="1"/>
            <p:nvPr/>
          </p:nvSpPr>
          <p:spPr>
            <a:xfrm>
              <a:off x="6463665" y="1677352"/>
              <a:ext cx="7027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PIPELINE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6477000" y="1943100"/>
              <a:ext cx="5651802" cy="609600"/>
              <a:chOff x="6477000" y="1943100"/>
              <a:chExt cx="5651802" cy="609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477000" y="19431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477000" y="1943100"/>
                <a:ext cx="28575" cy="609600"/>
              </a:xfrm>
              <a:prstGeom prst="rect">
                <a:avLst/>
              </a:prstGeom>
              <a:solidFill>
                <a:srgbClr val="1C7293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654165" y="2077402"/>
                <a:ext cx="5120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STEP 1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55118" y="2295049"/>
                <a:ext cx="54736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Reason Agent · visual_cues + physics_implications + preserve_objects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477000" y="2628900"/>
              <a:ext cx="5120593" cy="609600"/>
              <a:chOff x="6477000" y="2628900"/>
              <a:chExt cx="5120593" cy="609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477000" y="26289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6477000" y="2628900"/>
                <a:ext cx="28575" cy="609600"/>
              </a:xfrm>
              <a:prstGeom prst="rect">
                <a:avLst/>
              </a:prstGeom>
              <a:solidFill>
                <a:srgbClr val="1C729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54165" y="2763202"/>
                <a:ext cx="5554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STEP 2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655118" y="2980849"/>
                <a:ext cx="49424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finalize_edit_prompt · inject physical constraints + preserves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477000" y="3314700"/>
              <a:ext cx="4724400" cy="609600"/>
              <a:chOff x="6477000" y="3314700"/>
              <a:chExt cx="4724400" cy="6096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6477000" y="33147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6477000" y="3314700"/>
                <a:ext cx="28575" cy="609600"/>
              </a:xfrm>
              <a:prstGeom prst="rect">
                <a:avLst/>
              </a:prstGeom>
              <a:solidFill>
                <a:srgbClr val="1C7293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654165" y="3449002"/>
                <a:ext cx="5554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STEP 3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655118" y="3666649"/>
                <a:ext cx="41778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Qwen-Image instruction edit · no mask, image + text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6477000" y="4000500"/>
              <a:ext cx="4724400" cy="609600"/>
              <a:chOff x="6477000" y="4000500"/>
              <a:chExt cx="4724400" cy="6096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6477000" y="40005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6477000" y="4000500"/>
                <a:ext cx="28575" cy="609600"/>
              </a:xfrm>
              <a:prstGeom prst="rect">
                <a:avLst/>
              </a:prstGeom>
              <a:solidFill>
                <a:srgbClr val="1C7293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654165" y="4134802"/>
                <a:ext cx="5554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STEP 4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655118" y="4352449"/>
                <a:ext cx="3340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MLLM VQA scores K candidates · keep best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477000" y="4686300"/>
              <a:ext cx="5054346" cy="419100"/>
              <a:chOff x="6477000" y="4686300"/>
              <a:chExt cx="5054346" cy="4191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477000" y="4686300"/>
                <a:ext cx="47244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 w="9525">
                <a:solidFill>
                  <a:srgbClr val="F2A65A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6477000" y="4686300"/>
                <a:ext cx="28575" cy="419100"/>
              </a:xfrm>
              <a:prstGeom prst="rect">
                <a:avLst/>
              </a:prstGeom>
              <a:solidFill>
                <a:srgbClr val="F2A65A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6645275" y="4822631"/>
                <a:ext cx="139700" cy="146438"/>
                <a:chOff x="6645275" y="4822631"/>
                <a:chExt cx="139700" cy="146438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6645275" y="4822631"/>
                  <a:ext cx="139700" cy="6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64488">
                      <a:moveTo>
                        <a:pt x="139700" y="64488"/>
                      </a:moveTo>
                      <a:cubicBezTo>
                        <a:pt x="135311" y="32903"/>
                        <a:pt x="110327" y="8162"/>
                        <a:pt x="78701" y="4081"/>
                      </a:cubicBezTo>
                      <a:cubicBezTo>
                        <a:pt x="47074" y="0"/>
                        <a:pt x="16629" y="17589"/>
                        <a:pt x="4366" y="47025"/>
                      </a:cubicBezTo>
                      <a:moveTo>
                        <a:pt x="0" y="12100"/>
                      </a:moveTo>
                      <a:lnTo>
                        <a:pt x="0" y="47025"/>
                      </a:lnTo>
                      <a:lnTo>
                        <a:pt x="34925" y="47025"/>
                      </a:lnTo>
                    </a:path>
                  </a:pathLst>
                </a:custGeom>
                <a:noFill/>
                <a:ln w="19050">
                  <a:solidFill>
                    <a:srgbClr val="F2A65A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6645275" y="4904581"/>
                  <a:ext cx="139700" cy="6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64488">
                      <a:moveTo>
                        <a:pt x="0" y="0"/>
                      </a:moveTo>
                      <a:cubicBezTo>
                        <a:pt x="4389" y="31585"/>
                        <a:pt x="29373" y="56326"/>
                        <a:pt x="60999" y="60407"/>
                      </a:cubicBezTo>
                      <a:cubicBezTo>
                        <a:pt x="92626" y="64488"/>
                        <a:pt x="123071" y="46899"/>
                        <a:pt x="135334" y="17463"/>
                      </a:cubicBezTo>
                      <a:moveTo>
                        <a:pt x="139700" y="52388"/>
                      </a:moveTo>
                      <a:lnTo>
                        <a:pt x="139700" y="17463"/>
                      </a:lnTo>
                      <a:lnTo>
                        <a:pt x="104775" y="17463"/>
                      </a:lnTo>
                    </a:path>
                  </a:pathLst>
                </a:custGeom>
                <a:noFill/>
                <a:ln w="19050">
                  <a:solidFill>
                    <a:srgbClr val="F2A65A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6902768" y="4847749"/>
                <a:ext cx="46285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STEP 5 · Refine + re-edit if below threshold (min 2 rounds)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1066800" y="5676900"/>
            <a:ext cx="10668000" cy="614362"/>
            <a:chOff x="1066800" y="5676900"/>
            <a:chExt cx="10668000" cy="614362"/>
          </a:xfrm>
        </p:grpSpPr>
        <p:sp>
          <p:nvSpPr>
            <p:cNvPr id="64" name="Rectangle 64"/>
            <p:cNvSpPr/>
            <p:nvPr/>
          </p:nvSpPr>
          <p:spPr>
            <a:xfrm>
              <a:off x="1066800" y="5676900"/>
              <a:ext cx="10668000" cy="533400"/>
            </a:xfrm>
            <a:prstGeom prst="roundRect">
              <a:avLst>
                <a:gd name="adj" fmla="val 10714"/>
              </a:avLst>
            </a:prstGeom>
            <a:solidFill>
              <a:srgbClr val="1C7293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320165" y="5773102"/>
              <a:ext cx="23236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CASE · ELEPHANT + SQUIRREL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318260" y="5985510"/>
              <a:ext cx="60037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reasoning_type = causal</a:t>
              </a:r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 · VQA  </a:t>
              </a:r>
              <a:r>
                <a:rPr lang="zh-CN" sz="120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4 / 4</a:t>
              </a:r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 passed · final score  </a:t>
              </a:r>
              <a:r>
                <a:rPr lang="zh-CN" sz="120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1.0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40219" y="5712142"/>
              <a:ext cx="76407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850" b="1" dirty="0">
                  <a:solidFill>
                    <a:srgbClr val="10B981"/>
                  </a:solidFill>
                  <a:latin typeface="Cambria"/>
                  <a:ea typeface="Microsoft YaHei"/>
                  <a:cs typeface="Cambria"/>
                </a:rPr>
                <a:t>1.0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302079" y="6464141"/>
            <a:ext cx="4431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06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38225" y="533400"/>
            <a:ext cx="8605361" cy="983456"/>
            <a:chOff x="1038225" y="533400"/>
            <a:chExt cx="8605361" cy="983456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1179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FULL RE-PAINT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59858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Member 3 — hybrid Route (1 / 2)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2512" y="1288256"/>
              <a:ext cx="85910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Reason Agent rewrites the scene; T2I paints from scratch — the original is for reasoning only.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66800" y="1790700"/>
            <a:ext cx="10668000" cy="3352800"/>
            <a:chOff x="1066800" y="1790700"/>
            <a:chExt cx="10668000" cy="3352800"/>
          </a:xfrm>
        </p:grpSpPr>
        <p:sp>
          <p:nvSpPr>
            <p:cNvPr id="10" name="Rectangle 10"/>
            <p:cNvSpPr/>
            <p:nvPr/>
          </p:nvSpPr>
          <p:spPr>
            <a:xfrm>
              <a:off x="1066800" y="1790700"/>
              <a:ext cx="2667000" cy="4572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733800" y="1790700"/>
              <a:ext cx="4000500" cy="457200"/>
            </a:xfrm>
            <a:prstGeom prst="rect">
              <a:avLst/>
            </a:prstGeom>
            <a:solidFill>
              <a:srgbClr val="1C729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734300" y="1790700"/>
              <a:ext cx="4000500" cy="457200"/>
            </a:xfrm>
            <a:prstGeom prst="rect">
              <a:avLst/>
            </a:prstGeom>
            <a:solidFill>
              <a:srgbClr val="21295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69055" y="1949768"/>
              <a:ext cx="490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edit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69555" y="1949768"/>
              <a:ext cx="7480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hybrid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66800" y="2247900"/>
              <a:ext cx="10668000" cy="7239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05865" y="2553652"/>
              <a:ext cx="9549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5A82"/>
                  </a:solidFill>
                  <a:latin typeface="Arial"/>
                  <a:ea typeface="Microsoft YaHei"/>
                  <a:cs typeface="Arial"/>
                </a:rPr>
                <a:t>Mechanism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72865" y="2553652"/>
              <a:ext cx="2566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Image + edit_prompt → Edit API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73365" y="2553652"/>
              <a:ext cx="26009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scene_prompt → T2I (no image)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66800" y="2971800"/>
              <a:ext cx="10668000" cy="723900"/>
            </a:xfrm>
            <a:prstGeom prst="rect">
              <a:avLst/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05865" y="3277552"/>
              <a:ext cx="1810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5A82"/>
                  </a:solidFill>
                  <a:latin typeface="Arial"/>
                  <a:ea typeface="Microsoft YaHei"/>
                  <a:cs typeface="Arial"/>
                </a:rPr>
                <a:t>Keep original pixels?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72865" y="3277552"/>
              <a:ext cx="3051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Yes — preserved as much as possible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73365" y="3277552"/>
              <a:ext cx="23236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No — re-paint from scratch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66800" y="3695700"/>
              <a:ext cx="10668000" cy="7239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05865" y="4001452"/>
              <a:ext cx="12826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5A82"/>
                  </a:solidFill>
                  <a:latin typeface="Arial"/>
                  <a:ea typeface="Microsoft YaHei"/>
                  <a:cs typeface="Arial"/>
                </a:rPr>
                <a:t>Reason output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72865" y="4001452"/>
              <a:ext cx="25576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edit_prompt + target_objects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73365" y="4001452"/>
              <a:ext cx="22716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scene_prompt (full scene)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66800" y="4419600"/>
              <a:ext cx="10668000" cy="723900"/>
            </a:xfrm>
            <a:prstGeom prst="rect">
              <a:avLst/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05865" y="4725352"/>
              <a:ext cx="10915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5A82"/>
                  </a:solidFill>
                  <a:latin typeface="Arial"/>
                  <a:ea typeface="Microsoft YaHei"/>
                  <a:cs typeface="Arial"/>
                </a:rPr>
                <a:t>Typical case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72865" y="4725352"/>
              <a:ext cx="2037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Ice melts · seesaw tilts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73365" y="4725352"/>
              <a:ext cx="2254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Split bouquet · day → night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66800" y="5676900"/>
            <a:ext cx="10668000" cy="533400"/>
            <a:chOff x="1066800" y="5676900"/>
            <a:chExt cx="10668000" cy="533400"/>
          </a:xfrm>
        </p:grpSpPr>
        <p:sp>
          <p:nvSpPr>
            <p:cNvPr id="32" name="Rectangle 32"/>
            <p:cNvSpPr/>
            <p:nvPr/>
          </p:nvSpPr>
          <p:spPr>
            <a:xfrm>
              <a:off x="1066800" y="5676900"/>
              <a:ext cx="10668000" cy="533400"/>
            </a:xfrm>
            <a:prstGeom prst="roundRect">
              <a:avLst>
                <a:gd name="adj" fmla="val 10714"/>
              </a:avLst>
            </a:prstGeom>
            <a:solidFill>
              <a:srgbClr val="21295C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66800" y="5734050"/>
              <a:ext cx="38100" cy="4191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1371600" y="5863725"/>
              <a:ext cx="152400" cy="159750"/>
              <a:chOff x="1371600" y="5863725"/>
              <a:chExt cx="152400" cy="1597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371600" y="5863725"/>
                <a:ext cx="152400" cy="70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0350">
                    <a:moveTo>
                      <a:pt x="152400" y="70350"/>
                    </a:moveTo>
                    <a:cubicBezTo>
                      <a:pt x="147612" y="35894"/>
                      <a:pt x="120357" y="8904"/>
                      <a:pt x="85855" y="4452"/>
                    </a:cubicBezTo>
                    <a:cubicBezTo>
                      <a:pt x="51354" y="0"/>
                      <a:pt x="18140" y="19188"/>
                      <a:pt x="4762" y="51300"/>
                    </a:cubicBezTo>
                    <a:moveTo>
                      <a:pt x="0" y="13200"/>
                    </a:moveTo>
                    <a:lnTo>
                      <a:pt x="0" y="51300"/>
                    </a:lnTo>
                    <a:lnTo>
                      <a:pt x="38100" y="51300"/>
                    </a:lnTo>
                  </a:path>
                </a:pathLst>
              </a:custGeom>
              <a:noFill/>
              <a:ln w="19050">
                <a:solidFill>
                  <a:srgbClr val="F2A65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371600" y="5953125"/>
                <a:ext cx="152400" cy="70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0350">
                    <a:moveTo>
                      <a:pt x="0" y="0"/>
                    </a:moveTo>
                    <a:cubicBezTo>
                      <a:pt x="4788" y="34456"/>
                      <a:pt x="32043" y="61446"/>
                      <a:pt x="66545" y="65898"/>
                    </a:cubicBezTo>
                    <a:cubicBezTo>
                      <a:pt x="101046" y="70350"/>
                      <a:pt x="134260" y="51162"/>
                      <a:pt x="147638" y="19050"/>
                    </a:cubicBezTo>
                    <a:moveTo>
                      <a:pt x="152400" y="57150"/>
                    </a:moveTo>
                    <a:lnTo>
                      <a:pt x="152400" y="19050"/>
                    </a:lnTo>
                    <a:lnTo>
                      <a:pt x="114300" y="19050"/>
                    </a:lnTo>
                  </a:path>
                </a:pathLst>
              </a:custGeom>
              <a:noFill/>
              <a:ln w="19050">
                <a:solidFill>
                  <a:srgbClr val="F2A65A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661160" y="5871210"/>
              <a:ext cx="59641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Original image is used </a:t>
              </a:r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200" b="1" dirty="0">
                  <a:solidFill>
                    <a:srgbClr val="F2A65A"/>
                  </a:solidFill>
                  <a:latin typeface="Segoe UI"/>
                  <a:ea typeface="Microsoft YaHei"/>
                  <a:cs typeface="Segoe UI"/>
                </a:rPr>
                <a:t>ONLY for reasoning.</a:t>
              </a:r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200" i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T2I never sees it.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302079" y="6464141"/>
            <a:ext cx="4431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07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31" grpId="0"/>
      <p:bldP spid="38" grpId="0"/>
      <p:bldP spid="39" grpId="0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38225" y="533400"/>
            <a:ext cx="7815976" cy="983456"/>
            <a:chOff x="1038225" y="533400"/>
            <a:chExt cx="7815976" cy="983456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16908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QUALITY SAFEGUARDS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56543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Seven-Layer Post-Processing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2512" y="1288256"/>
              <a:ext cx="78016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Run sequentially before T2I — fragment detection, anchor injection, geometry repair.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66800" y="1790700"/>
            <a:ext cx="10820400" cy="1752600"/>
            <a:chOff x="1066800" y="1790700"/>
            <a:chExt cx="10820400" cy="1752600"/>
          </a:xfrm>
        </p:grpSpPr>
        <p:grpSp>
          <p:nvGrpSpPr>
            <p:cNvPr id="20" name="Group 20"/>
            <p:cNvGrpSpPr/>
            <p:nvPr/>
          </p:nvGrpSpPr>
          <p:grpSpPr>
            <a:xfrm>
              <a:off x="1066800" y="1790700"/>
              <a:ext cx="2590800" cy="1752600"/>
              <a:chOff x="1066800" y="1790700"/>
              <a:chExt cx="2590800" cy="17526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66800" y="1790700"/>
                <a:ext cx="2590800" cy="1752600"/>
              </a:xfrm>
              <a:prstGeom prst="roundRect">
                <a:avLst>
                  <a:gd name="adj" fmla="val 4348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181100" y="1905000"/>
                <a:ext cx="419100" cy="419100"/>
              </a:xfrm>
              <a:prstGeom prst="ellipse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32595" y="2028825"/>
                <a:ext cx="1161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20215" y="1982152"/>
                <a:ext cx="12007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validate &amp; fix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20215" y="2134552"/>
                <a:ext cx="8241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FRAGMENT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257300" y="2533650"/>
                <a:ext cx="2209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9525">
                    <a:moveTo>
                      <a:pt x="0" y="0"/>
                    </a:moveTo>
                    <a:lnTo>
                      <a:pt x="22098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45870" y="2703195"/>
                <a:ext cx="21402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Rebuild fragmentary prompts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45870" y="2874645"/>
                <a:ext cx="3794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from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88770" y="2874645"/>
                <a:ext cx="8475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C7293"/>
                    </a:solidFill>
                    <a:latin typeface="Consolas"/>
                    <a:ea typeface="Microsoft YaHei"/>
                    <a:cs typeface="Consolas"/>
                  </a:rPr>
                  <a:t>visual_cues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65070" y="2874645"/>
                <a:ext cx="1045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.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810000" y="1790700"/>
              <a:ext cx="2590800" cy="1752600"/>
              <a:chOff x="3810000" y="1790700"/>
              <a:chExt cx="2590800" cy="17526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810000" y="1790700"/>
                <a:ext cx="2590800" cy="1752600"/>
              </a:xfrm>
              <a:prstGeom prst="roundRect">
                <a:avLst>
                  <a:gd name="adj" fmla="val 4348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3924300" y="1905000"/>
                <a:ext cx="419100" cy="419100"/>
              </a:xfrm>
              <a:prstGeom prst="ellipse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043291" y="2028825"/>
                <a:ext cx="18111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63415" y="1982152"/>
                <a:ext cx="14737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ensure elements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63415" y="2134552"/>
                <a:ext cx="12401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COMPLETENESS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4000500" y="2533650"/>
                <a:ext cx="2209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9525">
                    <a:moveTo>
                      <a:pt x="0" y="0"/>
                    </a:moveTo>
                    <a:lnTo>
                      <a:pt x="22098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989070" y="2703195"/>
                <a:ext cx="17613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Re-inject any object the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989070" y="2874645"/>
                <a:ext cx="215512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instruction names but Reason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989070" y="3046095"/>
                <a:ext cx="5949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forgot.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553200" y="1790700"/>
              <a:ext cx="2590800" cy="1752600"/>
              <a:chOff x="6553200" y="1790700"/>
              <a:chExt cx="2590800" cy="1752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53200" y="1790700"/>
                <a:ext cx="2590800" cy="1752600"/>
              </a:xfrm>
              <a:prstGeom prst="roundRect">
                <a:avLst>
                  <a:gd name="adj" fmla="val 4348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6667500" y="1905000"/>
                <a:ext cx="419100" cy="419100"/>
              </a:xfrm>
              <a:prstGeom prst="ellipse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86491" y="2028825"/>
                <a:ext cx="18111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206615" y="1982152"/>
                <a:ext cx="17376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perspective anchor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206615" y="2134552"/>
                <a:ext cx="6334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CAMERA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6743700" y="2533650"/>
                <a:ext cx="2209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9525">
                    <a:moveTo>
                      <a:pt x="0" y="0"/>
                    </a:moveTo>
                    <a:lnTo>
                      <a:pt x="22098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32270" y="2703195"/>
                <a:ext cx="19173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Lock viewpoint and spatial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32270" y="2874645"/>
                <a:ext cx="182079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arrangement of objects.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296400" y="1790700"/>
              <a:ext cx="2590800" cy="1752600"/>
              <a:chOff x="9296400" y="1790700"/>
              <a:chExt cx="2590800" cy="17526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296400" y="1790700"/>
                <a:ext cx="2590800" cy="1752600"/>
              </a:xfrm>
              <a:prstGeom prst="roundRect">
                <a:avLst>
                  <a:gd name="adj" fmla="val 4348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9410700" y="1905000"/>
                <a:ext cx="419100" cy="419100"/>
              </a:xfrm>
              <a:prstGeom prst="ellipse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529691" y="2028825"/>
                <a:ext cx="18111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4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949815" y="1982152"/>
                <a:ext cx="11370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style anchor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949815" y="2134552"/>
                <a:ext cx="9367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STYLE CUES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9486900" y="2533650"/>
                <a:ext cx="2209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9525">
                    <a:moveTo>
                      <a:pt x="0" y="0"/>
                    </a:moveTo>
                    <a:lnTo>
                      <a:pt x="22098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475470" y="2703195"/>
                <a:ext cx="20511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Inject style cues; auto-skip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475470" y="2874645"/>
                <a:ext cx="184308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conflicting categories on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475470" y="3046095"/>
                <a:ext cx="18579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transformative changes.</a:t>
                </a:r>
              </a:p>
            </p:txBody>
          </p:sp>
        </p:grpSp>
      </p:grpSp>
      <p:grpSp>
        <p:nvGrpSpPr>
          <p:cNvPr id="84" name="Group 84"/>
          <p:cNvGrpSpPr/>
          <p:nvPr/>
        </p:nvGrpSpPr>
        <p:grpSpPr>
          <a:xfrm>
            <a:off x="1066800" y="3695700"/>
            <a:ext cx="10820400" cy="1752600"/>
            <a:chOff x="1066800" y="3695700"/>
            <a:chExt cx="10820400" cy="1752600"/>
          </a:xfrm>
        </p:grpSpPr>
        <p:grpSp>
          <p:nvGrpSpPr>
            <p:cNvPr id="59" name="Group 59"/>
            <p:cNvGrpSpPr/>
            <p:nvPr/>
          </p:nvGrpSpPr>
          <p:grpSpPr>
            <a:xfrm>
              <a:off x="1066800" y="3695700"/>
              <a:ext cx="2590800" cy="1752600"/>
              <a:chOff x="1066800" y="3695700"/>
              <a:chExt cx="2590800" cy="17526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1066800" y="3695700"/>
                <a:ext cx="2590800" cy="1752600"/>
              </a:xfrm>
              <a:prstGeom prst="roundRect">
                <a:avLst>
                  <a:gd name="adj" fmla="val 4348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1181100" y="3810000"/>
                <a:ext cx="419100" cy="419100"/>
              </a:xfrm>
              <a:prstGeom prst="ellipse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300091" y="3933825"/>
                <a:ext cx="18111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5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720215" y="3887152"/>
                <a:ext cx="9822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person age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720215" y="4039552"/>
                <a:ext cx="7027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IDENTITY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1257300" y="4438650"/>
                <a:ext cx="2209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9525">
                    <a:moveTo>
                      <a:pt x="0" y="0"/>
                    </a:moveTo>
                    <a:lnTo>
                      <a:pt x="22098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245870" y="4608195"/>
                <a:ext cx="215512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Pin age band; prevent random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245870" y="4779645"/>
                <a:ext cx="201396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child or elder substitution.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3810000" y="3695700"/>
              <a:ext cx="2590800" cy="1752600"/>
              <a:chOff x="3810000" y="3695700"/>
              <a:chExt cx="2590800" cy="17526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3810000" y="3695700"/>
                <a:ext cx="2590800" cy="1752600"/>
              </a:xfrm>
              <a:prstGeom prst="roundRect">
                <a:avLst>
                  <a:gd name="adj" fmla="val 4348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3924300" y="3810000"/>
                <a:ext cx="419100" cy="419100"/>
              </a:xfrm>
              <a:prstGeom prst="ellipse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4043291" y="3933825"/>
                <a:ext cx="18111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6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4463415" y="3887152"/>
                <a:ext cx="12462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light behavior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463415" y="4039552"/>
                <a:ext cx="7027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LIGHTING</a:t>
                </a:r>
              </a:p>
            </p:txBody>
          </p:sp>
          <p:sp>
            <p:nvSpPr>
              <p:cNvPr id="65" name="Line 65"/>
              <p:cNvSpPr/>
              <p:nvPr/>
            </p:nvSpPr>
            <p:spPr>
              <a:xfrm>
                <a:off x="4000500" y="4438650"/>
                <a:ext cx="2209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9525">
                    <a:moveTo>
                      <a:pt x="0" y="0"/>
                    </a:moveTo>
                    <a:lnTo>
                      <a:pt x="22098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3989070" y="4608195"/>
                <a:ext cx="20511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Direction + hardness + color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3989070" y="4779645"/>
                <a:ext cx="193967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temperature consistency.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6553200" y="3695700"/>
              <a:ext cx="2590800" cy="1752600"/>
              <a:chOff x="6553200" y="3695700"/>
              <a:chExt cx="2590800" cy="175260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6553200" y="3695700"/>
                <a:ext cx="2590800" cy="1752600"/>
              </a:xfrm>
              <a:prstGeom prst="roundRect">
                <a:avLst>
                  <a:gd name="adj" fmla="val 4348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6667500" y="3810000"/>
                <a:ext cx="419100" cy="419100"/>
              </a:xfrm>
              <a:prstGeom prst="ellipse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6786491" y="3933825"/>
                <a:ext cx="18111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7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206615" y="3887152"/>
                <a:ext cx="13554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room geometry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206615" y="4039552"/>
                <a:ext cx="8587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GEOMETRY</a:t>
                </a:r>
              </a:p>
            </p:txBody>
          </p:sp>
          <p:sp>
            <p:nvSpPr>
              <p:cNvPr id="74" name="Line 74"/>
              <p:cNvSpPr/>
              <p:nvPr/>
            </p:nvSpPr>
            <p:spPr>
              <a:xfrm>
                <a:off x="6743700" y="4438650"/>
                <a:ext cx="2209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09800" h="9525">
                    <a:moveTo>
                      <a:pt x="0" y="0"/>
                    </a:moveTo>
                    <a:lnTo>
                      <a:pt x="220980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6732270" y="4608195"/>
                <a:ext cx="21179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Window position, floor tiles,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732270" y="4779645"/>
                <a:ext cx="15013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structural anchors.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9296400" y="3695700"/>
              <a:ext cx="2590800" cy="1752600"/>
              <a:chOff x="9296400" y="3695700"/>
              <a:chExt cx="2590800" cy="175260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9296400" y="3695700"/>
                <a:ext cx="2590800" cy="1752600"/>
              </a:xfrm>
              <a:prstGeom prst="roundRect">
                <a:avLst>
                  <a:gd name="adj" fmla="val 4348"/>
                </a:avLst>
              </a:prstGeom>
              <a:solidFill>
                <a:srgbClr val="21295C"/>
              </a:soli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9296400" y="3752850"/>
                <a:ext cx="38100" cy="1638300"/>
              </a:xfrm>
              <a:prstGeom prst="rect">
                <a:avLst/>
              </a:prstGeom>
              <a:solidFill>
                <a:srgbClr val="F2A65A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10340102" y="4115752"/>
                <a:ext cx="5033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TESTS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10008356" y="4255770"/>
                <a:ext cx="1166889" cy="1097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40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36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863090" y="5076349"/>
                <a:ext cx="14574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i="1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unit tests passing</a:t>
                </a:r>
              </a:p>
            </p:txBody>
          </p:sp>
        </p:grpSp>
      </p:grpSp>
      <p:grpSp>
        <p:nvGrpSpPr>
          <p:cNvPr id="96" name="Group 96"/>
          <p:cNvGrpSpPr/>
          <p:nvPr/>
        </p:nvGrpSpPr>
        <p:grpSpPr>
          <a:xfrm>
            <a:off x="1066800" y="5943600"/>
            <a:ext cx="10306717" cy="271462"/>
            <a:chOff x="1066800" y="5943600"/>
            <a:chExt cx="10306717" cy="271462"/>
          </a:xfrm>
        </p:grpSpPr>
        <p:sp>
          <p:nvSpPr>
            <p:cNvPr id="85" name="Rectangle 85"/>
            <p:cNvSpPr/>
            <p:nvPr/>
          </p:nvSpPr>
          <p:spPr>
            <a:xfrm>
              <a:off x="1066800" y="5943600"/>
              <a:ext cx="28575" cy="2667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1254125" y="5978525"/>
              <a:ext cx="157451" cy="161528"/>
              <a:chOff x="1254125" y="5978525"/>
              <a:chExt cx="157451" cy="161528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1254125" y="5978525"/>
                <a:ext cx="139700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48431">
                    <a:moveTo>
                      <a:pt x="69850" y="139700"/>
                    </a:moveTo>
                    <a:lnTo>
                      <a:pt x="43656" y="148431"/>
                    </a:lnTo>
                    <a:lnTo>
                      <a:pt x="43656" y="74216"/>
                    </a:lnTo>
                    <a:lnTo>
                      <a:pt x="4540" y="31188"/>
                    </a:lnTo>
                    <a:cubicBezTo>
                      <a:pt x="1619" y="27974"/>
                      <a:pt x="0" y="23787"/>
                      <a:pt x="0" y="19444"/>
                    </a:cubicBezTo>
                    <a:lnTo>
                      <a:pt x="0" y="0"/>
                    </a:lnTo>
                    <a:lnTo>
                      <a:pt x="139700" y="0"/>
                    </a:lnTo>
                    <a:lnTo>
                      <a:pt x="139700" y="18964"/>
                    </a:lnTo>
                    <a:cubicBezTo>
                      <a:pt x="139699" y="23595"/>
                      <a:pt x="137859" y="28036"/>
                      <a:pt x="134583" y="31310"/>
                    </a:cubicBezTo>
                    <a:lnTo>
                      <a:pt x="96044" y="69850"/>
                    </a:lnTo>
                    <a:lnTo>
                      <a:pt x="96044" y="82947"/>
                    </a:lnTo>
                  </a:path>
                </a:pathLst>
              </a:custGeom>
              <a:noFill/>
              <a:ln w="19050">
                <a:solidFill>
                  <a:srgbClr val="1C7293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1367640" y="6092031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1C7293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1385102" y="6078934"/>
                <a:ext cx="9525" cy="1309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097">
                    <a:moveTo>
                      <a:pt x="0" y="0"/>
                    </a:moveTo>
                    <a:lnTo>
                      <a:pt x="0" y="13097"/>
                    </a:lnTo>
                  </a:path>
                </a:pathLst>
              </a:custGeom>
              <a:noFill/>
              <a:ln w="19050">
                <a:solidFill>
                  <a:srgbClr val="1C7293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1385102" y="6126956"/>
                <a:ext cx="9525" cy="1309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097">
                    <a:moveTo>
                      <a:pt x="0" y="0"/>
                    </a:moveTo>
                    <a:lnTo>
                      <a:pt x="0" y="13097"/>
                    </a:lnTo>
                  </a:path>
                </a:pathLst>
              </a:custGeom>
              <a:noFill/>
              <a:ln w="19050">
                <a:solidFill>
                  <a:srgbClr val="1C7293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1400225" y="6094214"/>
                <a:ext cx="1134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342" h="9525">
                    <a:moveTo>
                      <a:pt x="11342" y="0"/>
                    </a:moveTo>
                    <a:lnTo>
                      <a:pt x="0" y="6548"/>
                    </a:lnTo>
                  </a:path>
                </a:pathLst>
              </a:custGeom>
              <a:noFill/>
              <a:ln w="19050">
                <a:solidFill>
                  <a:srgbClr val="1C7293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1358638" y="6118225"/>
                <a:ext cx="113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351" h="9525">
                    <a:moveTo>
                      <a:pt x="11351" y="0"/>
                    </a:moveTo>
                    <a:lnTo>
                      <a:pt x="0" y="6548"/>
                    </a:lnTo>
                  </a:path>
                </a:pathLst>
              </a:custGeom>
              <a:noFill/>
              <a:ln w="19050">
                <a:solidFill>
                  <a:srgbClr val="1C7293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1358638" y="6094214"/>
                <a:ext cx="113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351" h="9525">
                    <a:moveTo>
                      <a:pt x="0" y="0"/>
                    </a:moveTo>
                    <a:lnTo>
                      <a:pt x="11351" y="6548"/>
                    </a:lnTo>
                  </a:path>
                </a:pathLst>
              </a:custGeom>
              <a:noFill/>
              <a:ln w="19050">
                <a:solidFill>
                  <a:srgbClr val="1C7293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1400225" y="6118225"/>
                <a:ext cx="113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351" h="9525">
                    <a:moveTo>
                      <a:pt x="0" y="0"/>
                    </a:moveTo>
                    <a:lnTo>
                      <a:pt x="11351" y="6548"/>
                    </a:lnTo>
                  </a:path>
                </a:pathLst>
              </a:custGeom>
              <a:noFill/>
              <a:ln w="19050">
                <a:solidFill>
                  <a:srgbClr val="1C7293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491615" y="6001702"/>
              <a:ext cx="98819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All 7 functions run sequentially before </a:t>
              </a:r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dirty="0">
                  <a:solidFill>
                    <a:srgbClr val="1C7293"/>
                  </a:solidFill>
                  <a:latin typeface="Consolas"/>
                  <a:ea typeface="Microsoft YaHei"/>
                  <a:cs typeface="Consolas"/>
                </a:rPr>
                <a:t>scene_prompt</a:t>
              </a:r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i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enters T2I — break the </a:t>
              </a:r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dirty="0">
                  <a:solidFill>
                    <a:srgbClr val="1C7293"/>
                  </a:solidFill>
                  <a:latin typeface="Consolas"/>
                  <a:ea typeface="Microsoft YaHei"/>
                  <a:cs typeface="Consolas"/>
                </a:rPr>
                <a:t>scene_prompt</a:t>
              </a:r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i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= "fragments" failure.</a:t>
              </a:r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302079" y="6464141"/>
            <a:ext cx="4431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08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38225" y="533400"/>
            <a:ext cx="8094583" cy="983456"/>
            <a:chOff x="1038225" y="533400"/>
            <a:chExt cx="8094583" cy="983456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1404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AUTO + FALLBACK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356758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Member 4 — Router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2512" y="1288256"/>
              <a:ext cx="80802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Auto-classify three routes via MLLM; degrade gracefully to keyword rules when offline.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53465" y="1677352"/>
            <a:ext cx="4775835" cy="3885248"/>
            <a:chOff x="1053465" y="1677352"/>
            <a:chExt cx="4775835" cy="3885248"/>
          </a:xfrm>
        </p:grpSpPr>
        <p:sp>
          <p:nvSpPr>
            <p:cNvPr id="10" name="TextBox 10"/>
            <p:cNvSpPr txBox="1"/>
            <p:nvPr/>
          </p:nvSpPr>
          <p:spPr>
            <a:xfrm>
              <a:off x="1053465" y="1677352"/>
              <a:ext cx="11708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DECISION TREE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66800" y="1943100"/>
              <a:ext cx="4724400" cy="3619500"/>
            </a:xfrm>
            <a:prstGeom prst="roundRect">
              <a:avLst>
                <a:gd name="adj" fmla="val 2632"/>
              </a:avLst>
            </a:prstGeom>
            <a:solidFill>
              <a:srgbClr val="FFFFFF"/>
            </a:solidFill>
            <a:ln w="7144">
              <a:solidFill>
                <a:srgbClr val="E2E8F0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686050" y="2114550"/>
              <a:ext cx="1485900" cy="4191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94065" y="2275999"/>
              <a:ext cx="8698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user input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429000" y="25336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209800" y="27241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209800" y="27241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20097" y="2844641"/>
              <a:ext cx="5794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no image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828800" y="3009900"/>
              <a:ext cx="762000" cy="342900"/>
            </a:xfrm>
            <a:prstGeom prst="roundRect">
              <a:avLst>
                <a:gd name="adj" fmla="val 11111"/>
              </a:avLst>
            </a:prstGeom>
            <a:solidFill>
              <a:srgbClr val="065A8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46296" y="3115628"/>
              <a:ext cx="3270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gen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648200" y="27241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97547" y="2844641"/>
              <a:ext cx="13013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image + instruction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64973" y="3133249"/>
              <a:ext cx="9664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i="1" dirty="0">
                  <a:solidFill>
                    <a:srgbClr val="1C7293"/>
                  </a:solidFill>
                  <a:latin typeface="Arial"/>
                  <a:ea typeface="Microsoft YaHei"/>
                  <a:cs typeface="Arial"/>
                </a:rPr>
                <a:t>keep pixels?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648200" y="33337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3886200" y="35052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886200" y="35052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5410200" y="35052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9525">
              <a:solidFill>
                <a:srgbClr val="94A3B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763351" y="3606641"/>
              <a:ext cx="2456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yes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505200" y="3771900"/>
              <a:ext cx="762000" cy="342900"/>
            </a:xfrm>
            <a:prstGeom prst="roundRect">
              <a:avLst>
                <a:gd name="adj" fmla="val 11111"/>
              </a:avLst>
            </a:prstGeom>
            <a:solidFill>
              <a:srgbClr val="1C729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95393" y="3877628"/>
              <a:ext cx="3816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edit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4808" y="3606641"/>
              <a:ext cx="1707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no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91100" y="3771900"/>
              <a:ext cx="838200" cy="342900"/>
            </a:xfrm>
            <a:prstGeom prst="roundRect">
              <a:avLst>
                <a:gd name="adj" fmla="val 11111"/>
              </a:avLst>
            </a:prstGeom>
            <a:solidFill>
              <a:srgbClr val="21295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119280" y="3877628"/>
              <a:ext cx="5818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hybrid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295400" y="4610100"/>
              <a:ext cx="4267200" cy="9525"/>
            </a:xfrm>
            <a:custGeom>
              <a:avLst/>
              <a:gdLst/>
              <a:ahLst/>
              <a:cxnLst/>
              <a:rect l="l" t="t" r="r" b="b"/>
              <a:pathLst>
                <a:path w="4267200" h="9525">
                  <a:moveTo>
                    <a:pt x="0" y="0"/>
                  </a:moveTo>
                  <a:lnTo>
                    <a:pt x="4267200" y="0"/>
                  </a:lnTo>
                </a:path>
              </a:pathLst>
            </a:custGeom>
            <a:noFill/>
            <a:ln w="4762">
              <a:solidFill>
                <a:srgbClr val="E2E8F0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1295400" y="4724400"/>
              <a:ext cx="3172016" cy="264319"/>
              <a:chOff x="1295400" y="4724400"/>
              <a:chExt cx="3172016" cy="264319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1295400" y="4724400"/>
                <a:ext cx="28575" cy="228600"/>
              </a:xfrm>
              <a:prstGeom prst="rect">
                <a:avLst/>
              </a:prstGeom>
              <a:solidFill>
                <a:srgbClr val="F2A65A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416368" y="4790599"/>
                <a:ext cx="30510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i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Core rule —</a:t>
                </a:r>
                <a:r>
                  <a:rPr lang="zh-CN" sz="975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 </a:t>
                </a:r>
                <a:r>
                  <a:rPr lang="zh-CN" sz="975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"still need original pixels?"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283970" y="5103495"/>
              <a:ext cx="35518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Yes → preserve via edit · No → re-paint via hybrid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463665" y="1677352"/>
            <a:ext cx="4737735" cy="3237548"/>
            <a:chOff x="6463665" y="1677352"/>
            <a:chExt cx="4737735" cy="3237548"/>
          </a:xfrm>
        </p:grpSpPr>
        <p:sp>
          <p:nvSpPr>
            <p:cNvPr id="39" name="TextBox 39"/>
            <p:cNvSpPr txBox="1"/>
            <p:nvPr/>
          </p:nvSpPr>
          <p:spPr>
            <a:xfrm>
              <a:off x="6463665" y="1677352"/>
              <a:ext cx="13788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IMPLEMENTATION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6477000" y="1943100"/>
              <a:ext cx="4724400" cy="609600"/>
              <a:chOff x="6477000" y="1943100"/>
              <a:chExt cx="4724400" cy="6096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477000" y="19431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477000" y="1943100"/>
                <a:ext cx="28575" cy="60960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654165" y="2096452"/>
                <a:ext cx="14828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1. Mode override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656070" y="2322195"/>
                <a:ext cx="31358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--mode {gen|edit|hybrid} returns verbatim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477000" y="2628900"/>
              <a:ext cx="4724400" cy="609600"/>
              <a:chOff x="6477000" y="2628900"/>
              <a:chExt cx="4724400" cy="6096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77000" y="26289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477000" y="2628900"/>
                <a:ext cx="28575" cy="60960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654165" y="2782252"/>
                <a:ext cx="17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2. Structural rules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656070" y="3007995"/>
                <a:ext cx="26677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no image → gen · no instruction → gen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477000" y="3467100"/>
              <a:ext cx="4724400" cy="609600"/>
              <a:chOff x="6477000" y="3467100"/>
              <a:chExt cx="4724400" cy="6096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477000" y="34671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6477000" y="3467100"/>
                <a:ext cx="28575" cy="60960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654165" y="3620452"/>
                <a:ext cx="16739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3. MLLM classifier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656070" y="3846195"/>
                <a:ext cx="31506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prompts/router_system.txt → strict JSON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477000" y="4305300"/>
              <a:ext cx="4724400" cy="609600"/>
              <a:chOff x="6477000" y="4305300"/>
              <a:chExt cx="4724400" cy="6096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477000" y="4305300"/>
                <a:ext cx="4724400" cy="609600"/>
              </a:xfrm>
              <a:prstGeom prst="roundRect">
                <a:avLst>
                  <a:gd name="adj" fmla="val 9375"/>
                </a:avLst>
              </a:prstGeom>
              <a:solidFill>
                <a:srgbClr val="FFFFFF"/>
              </a:solidFill>
              <a:ln w="9525">
                <a:solidFill>
                  <a:srgbClr val="F2A65A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6477000" y="4305300"/>
                <a:ext cx="28575" cy="609600"/>
              </a:xfrm>
              <a:prstGeom prst="rect">
                <a:avLst/>
              </a:prstGeom>
              <a:solidFill>
                <a:srgbClr val="F2A65A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654165" y="4458652"/>
                <a:ext cx="17831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4. Keyword fallback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656070" y="4684395"/>
                <a:ext cx="412394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Triggers when MLLM unconfigured or fails — never blocks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1066800" y="5676900"/>
            <a:ext cx="10668000" cy="652462"/>
            <a:chOff x="1066800" y="5676900"/>
            <a:chExt cx="10668000" cy="652462"/>
          </a:xfrm>
        </p:grpSpPr>
        <p:sp>
          <p:nvSpPr>
            <p:cNvPr id="61" name="Rectangle 61"/>
            <p:cNvSpPr/>
            <p:nvPr/>
          </p:nvSpPr>
          <p:spPr>
            <a:xfrm>
              <a:off x="1066800" y="5676900"/>
              <a:ext cx="10668000" cy="533400"/>
            </a:xfrm>
            <a:prstGeom prst="roundRect">
              <a:avLst>
                <a:gd name="adj" fmla="val 10714"/>
              </a:avLst>
            </a:prstGeom>
            <a:solidFill>
              <a:srgbClr val="21295C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66800" y="5734050"/>
              <a:ext cx="38100" cy="4191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1362075" y="5857875"/>
              <a:ext cx="171450" cy="171450"/>
              <a:chOff x="1362075" y="5857875"/>
              <a:chExt cx="171450" cy="17145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1362075" y="59912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A65A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495425" y="58578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</a:path>
                </a:pathLst>
              </a:custGeom>
              <a:noFill/>
              <a:ln w="19050">
                <a:solidFill>
                  <a:srgbClr val="F2A65A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1381125" y="5876925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57150" y="133350"/>
                    </a:moveTo>
                    <a:lnTo>
                      <a:pt x="109538" y="133350"/>
                    </a:lnTo>
                    <a:cubicBezTo>
                      <a:pt x="127949" y="133350"/>
                      <a:pt x="142875" y="118424"/>
                      <a:pt x="142875" y="100012"/>
                    </a:cubicBezTo>
                    <a:cubicBezTo>
                      <a:pt x="142875" y="81601"/>
                      <a:pt x="127949" y="66675"/>
                      <a:pt x="109538" y="66675"/>
                    </a:cubicBezTo>
                    <a:lnTo>
                      <a:pt x="33338" y="66675"/>
                    </a:ln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2A65A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663065" y="5773102"/>
              <a:ext cx="9194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BENCHMARK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663065" y="5982652"/>
              <a:ext cx="56087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Documented routing cases · MLLM path 8/8 · keyword fallback 9/9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23829" y="5750242"/>
              <a:ext cx="148046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850" b="1" dirty="0">
                  <a:solidFill>
                    <a:srgbClr val="10B981"/>
                  </a:solidFill>
                  <a:latin typeface="Cambria"/>
                  <a:ea typeface="Microsoft YaHei"/>
                  <a:cs typeface="Cambria"/>
                </a:rPr>
                <a:t>17 / 17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02079" y="6464141"/>
            <a:ext cx="4431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09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38225" y="533400"/>
            <a:ext cx="6515814" cy="983456"/>
            <a:chOff x="1038225" y="533400"/>
            <a:chExt cx="6515814" cy="983456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988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CLI · WEB UI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582987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Member 4 — Integration &amp; Demo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2512" y="1288256"/>
              <a:ext cx="65015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One CLI, one Gradio Web UI, one return schema across all three routes.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66800" y="1790700"/>
            <a:ext cx="5181600" cy="3886200"/>
            <a:chOff x="1066800" y="1790700"/>
            <a:chExt cx="5181600" cy="3886200"/>
          </a:xfrm>
        </p:grpSpPr>
        <p:sp>
          <p:nvSpPr>
            <p:cNvPr id="10" name="Rectangle 10"/>
            <p:cNvSpPr/>
            <p:nvPr/>
          </p:nvSpPr>
          <p:spPr>
            <a:xfrm>
              <a:off x="1066800" y="1790700"/>
              <a:ext cx="5181600" cy="3886200"/>
            </a:xfrm>
            <a:prstGeom prst="roundRect">
              <a:avLst>
                <a:gd name="adj" fmla="val 2451"/>
              </a:avLst>
            </a:prstGeom>
            <a:solidFill>
              <a:srgbClr val="FFFFFF"/>
            </a:solidFill>
            <a:ln w="7144">
              <a:solidFill>
                <a:srgbClr val="E2E8F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66800" y="1790700"/>
              <a:ext cx="5181600" cy="533400"/>
            </a:xfrm>
            <a:prstGeom prst="roundRect">
              <a:avLst>
                <a:gd name="adj" fmla="val 17857"/>
              </a:avLst>
            </a:prstGeom>
            <a:solidFill>
              <a:srgbClr val="065A8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66800" y="2228850"/>
              <a:ext cx="5181600" cy="95250"/>
            </a:xfrm>
            <a:prstGeom prst="rect">
              <a:avLst/>
            </a:prstGeom>
            <a:solidFill>
              <a:srgbClr val="065A82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285875" y="1981200"/>
              <a:ext cx="171450" cy="152400"/>
              <a:chOff x="1285875" y="1981200"/>
              <a:chExt cx="171450" cy="152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333500" y="2028825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0"/>
                    </a:moveTo>
                    <a:lnTo>
                      <a:pt x="28575" y="28575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381125" y="20859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285875" y="1981200"/>
                <a:ext cx="1714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33350"/>
                    </a:lnTo>
                    <a:cubicBezTo>
                      <a:pt x="171450" y="143871"/>
                      <a:pt x="162921" y="152400"/>
                      <a:pt x="15240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584960" y="2004060"/>
              <a:ext cx="1133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pipeline.py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67965" y="2020252"/>
              <a:ext cx="1049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· unified CLI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257300" y="2590800"/>
              <a:ext cx="4800600" cy="1485900"/>
            </a:xfrm>
            <a:prstGeom prst="roundRect">
              <a:avLst>
                <a:gd name="adj" fmla="val 3846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97318" y="2752249"/>
              <a:ext cx="15942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python pipeline.py \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97318" y="2961799"/>
              <a:ext cx="12642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--image x.png \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97318" y="3171349"/>
              <a:ext cx="1723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--instruction "..." \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97318" y="3380899"/>
              <a:ext cx="1127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--mode auto \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97318" y="3590449"/>
              <a:ext cx="829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--real-api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99222" y="3854291"/>
              <a:ext cx="25884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i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# router decides; final JSON to stdout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243965" y="4191952"/>
              <a:ext cx="2665667" cy="434817"/>
              <a:chOff x="1243965" y="4191952"/>
              <a:chExt cx="2665667" cy="434817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1243965" y="4191952"/>
                <a:ext cx="7460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DISPATCH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244918" y="4428649"/>
                <a:ext cx="26647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C7293"/>
                    </a:solidFill>
                    <a:latin typeface="Consolas"/>
                    <a:ea typeface="Microsoft YaHei"/>
                    <a:cs typeface="Consolas"/>
                  </a:rPr>
                  <a:t>→ run_gen / run_edit / run_hybrid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1257300" y="47625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4762">
              <a:solidFill>
                <a:srgbClr val="E2E8F0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1243965" y="4839652"/>
              <a:ext cx="2743962" cy="599123"/>
              <a:chOff x="1243965" y="4839652"/>
              <a:chExt cx="2743962" cy="599123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1243965" y="4839652"/>
                <a:ext cx="5987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RETURN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45870" y="5065395"/>
                <a:ext cx="274205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final_image · route · reasoning_chain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45870" y="5255895"/>
                <a:ext cx="16573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vqa_result · metadata</a:t>
                </a: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6553200" y="1790700"/>
            <a:ext cx="5181600" cy="3886200"/>
            <a:chOff x="6553200" y="1790700"/>
            <a:chExt cx="5181600" cy="3886200"/>
          </a:xfrm>
        </p:grpSpPr>
        <p:sp>
          <p:nvSpPr>
            <p:cNvPr id="35" name="Rectangle 35"/>
            <p:cNvSpPr/>
            <p:nvPr/>
          </p:nvSpPr>
          <p:spPr>
            <a:xfrm>
              <a:off x="6553200" y="1790700"/>
              <a:ext cx="5181600" cy="3886200"/>
            </a:xfrm>
            <a:prstGeom prst="roundRect">
              <a:avLst>
                <a:gd name="adj" fmla="val 2451"/>
              </a:avLst>
            </a:prstGeom>
            <a:solidFill>
              <a:srgbClr val="FFFFFF"/>
            </a:solidFill>
            <a:ln w="7144">
              <a:solidFill>
                <a:srgbClr val="E2E8F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553200" y="1790700"/>
              <a:ext cx="5181600" cy="533400"/>
            </a:xfrm>
            <a:prstGeom prst="roundRect">
              <a:avLst>
                <a:gd name="adj" fmla="val 17857"/>
              </a:avLst>
            </a:prstGeom>
            <a:solidFill>
              <a:srgbClr val="1C729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553200" y="2228850"/>
              <a:ext cx="5181600" cy="95250"/>
            </a:xfrm>
            <a:prstGeom prst="rect">
              <a:avLst/>
            </a:prstGeom>
            <a:solidFill>
              <a:srgbClr val="1C7293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781800" y="1981200"/>
              <a:ext cx="152400" cy="152400"/>
              <a:chOff x="6781800" y="1981200"/>
              <a:chExt cx="152400" cy="152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781800" y="20193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81800" y="19812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33350"/>
                    </a:lnTo>
                    <a:cubicBezTo>
                      <a:pt x="152400" y="143871"/>
                      <a:pt x="143871" y="152400"/>
                      <a:pt x="13335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819900" y="19812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071360" y="2004060"/>
              <a:ext cx="16218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demo_gradio.py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35365" y="2020252"/>
              <a:ext cx="694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· Web UI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843712" y="2728912"/>
              <a:ext cx="3952113" cy="228600"/>
              <a:chOff x="6843712" y="2728912"/>
              <a:chExt cx="3952113" cy="228600"/>
            </a:xfrm>
          </p:grpSpPr>
          <p:grpSp>
            <p:nvGrpSpPr>
              <p:cNvPr id="46" name="Group 46"/>
              <p:cNvGrpSpPr/>
              <p:nvPr/>
            </p:nvGrpSpPr>
            <p:grpSpPr>
              <a:xfrm>
                <a:off x="6843712" y="2728912"/>
                <a:ext cx="142875" cy="142875"/>
                <a:chOff x="6843712" y="2728912"/>
                <a:chExt cx="142875" cy="142875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6843712" y="2728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6891338" y="2784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7111365" y="2744152"/>
                <a:ext cx="36844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Route dropdown — auto / gen / edit / hybrid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843712" y="3109912"/>
              <a:ext cx="3648742" cy="228600"/>
              <a:chOff x="6843712" y="3109912"/>
              <a:chExt cx="3648742" cy="228600"/>
            </a:xfrm>
          </p:grpSpPr>
          <p:grpSp>
            <p:nvGrpSpPr>
              <p:cNvPr id="51" name="Group 51"/>
              <p:cNvGrpSpPr/>
              <p:nvPr/>
            </p:nvGrpSpPr>
            <p:grpSpPr>
              <a:xfrm>
                <a:off x="6843712" y="3109912"/>
                <a:ext cx="142875" cy="142875"/>
                <a:chOff x="6843712" y="3109912"/>
                <a:chExt cx="142875" cy="142875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6843712" y="3109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891338" y="3165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7111365" y="3125152"/>
                <a:ext cx="33810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Prompt + image upload + instruction box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843712" y="3490912"/>
              <a:ext cx="3094006" cy="228600"/>
              <a:chOff x="6843712" y="3490912"/>
              <a:chExt cx="3094006" cy="228600"/>
            </a:xfrm>
          </p:grpSpPr>
          <p:grpSp>
            <p:nvGrpSpPr>
              <p:cNvPr id="56" name="Group 56"/>
              <p:cNvGrpSpPr/>
              <p:nvPr/>
            </p:nvGrpSpPr>
            <p:grpSpPr>
              <a:xfrm>
                <a:off x="6843712" y="3490912"/>
                <a:ext cx="142875" cy="142875"/>
                <a:chOff x="6843712" y="3490912"/>
                <a:chExt cx="142875" cy="142875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6843712" y="3490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891338" y="3546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7111365" y="3506152"/>
                <a:ext cx="28263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"Use real API" toggle for dry-run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843712" y="3871912"/>
              <a:ext cx="3172016" cy="228600"/>
              <a:chOff x="6843712" y="3871912"/>
              <a:chExt cx="3172016" cy="228600"/>
            </a:xfrm>
          </p:grpSpPr>
          <p:grpSp>
            <p:nvGrpSpPr>
              <p:cNvPr id="61" name="Group 61"/>
              <p:cNvGrpSpPr/>
              <p:nvPr/>
            </p:nvGrpSpPr>
            <p:grpSpPr>
              <a:xfrm>
                <a:off x="6843712" y="3871912"/>
                <a:ext cx="142875" cy="142875"/>
                <a:chOff x="6843712" y="3871912"/>
                <a:chExt cx="142875" cy="142875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6843712" y="3871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6891338" y="3927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7111365" y="3887152"/>
                <a:ext cx="29043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Before / after image side-by-side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6843712" y="4252912"/>
              <a:ext cx="2599944" cy="228600"/>
              <a:chOff x="6843712" y="4252912"/>
              <a:chExt cx="2599944" cy="228600"/>
            </a:xfrm>
          </p:grpSpPr>
          <p:grpSp>
            <p:nvGrpSpPr>
              <p:cNvPr id="66" name="Group 66"/>
              <p:cNvGrpSpPr/>
              <p:nvPr/>
            </p:nvGrpSpPr>
            <p:grpSpPr>
              <a:xfrm>
                <a:off x="6843712" y="4252912"/>
                <a:ext cx="142875" cy="142875"/>
                <a:chOff x="6843712" y="4252912"/>
                <a:chExt cx="142875" cy="142875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6843712" y="4252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6891338" y="4308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7111365" y="4268152"/>
                <a:ext cx="23322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Reasoning chain + VQA panel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6843712" y="4633912"/>
              <a:ext cx="2253235" cy="228600"/>
              <a:chOff x="6843712" y="4633912"/>
              <a:chExt cx="2253235" cy="228600"/>
            </a:xfrm>
          </p:grpSpPr>
          <p:grpSp>
            <p:nvGrpSpPr>
              <p:cNvPr id="71" name="Group 71"/>
              <p:cNvGrpSpPr/>
              <p:nvPr/>
            </p:nvGrpSpPr>
            <p:grpSpPr>
              <a:xfrm>
                <a:off x="6843712" y="4633912"/>
                <a:ext cx="142875" cy="142875"/>
                <a:chOff x="6843712" y="4633912"/>
                <a:chExt cx="142875" cy="142875"/>
              </a:xfrm>
            </p:grpSpPr>
            <p:sp>
              <p:nvSpPr>
                <p:cNvPr id="69" name="Freeform 69"/>
                <p:cNvSpPr/>
                <p:nvPr/>
              </p:nvSpPr>
              <p:spPr>
                <a:xfrm>
                  <a:off x="6843712" y="4633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6891338" y="4689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C7293"/>
                  </a:solidFill>
                </a:ln>
              </p:spPr>
            </p:sp>
          </p:grpSp>
          <p:sp>
            <p:nvSpPr>
              <p:cNvPr id="72" name="TextBox 72"/>
              <p:cNvSpPr txBox="1"/>
              <p:nvPr/>
            </p:nvSpPr>
            <p:spPr>
              <a:xfrm>
                <a:off x="7111365" y="4649152"/>
                <a:ext cx="19855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Full JSON result viewer</a:t>
                </a:r>
              </a:p>
            </p:txBody>
          </p:sp>
        </p:grpSp>
        <p:sp>
          <p:nvSpPr>
            <p:cNvPr id="74" name="Line 74"/>
            <p:cNvSpPr/>
            <p:nvPr/>
          </p:nvSpPr>
          <p:spPr>
            <a:xfrm>
              <a:off x="6743700" y="50673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4762">
              <a:solidFill>
                <a:srgbClr val="E2E8F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06565" y="5220652"/>
              <a:ext cx="503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SERVE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06565" y="5411152"/>
              <a:ext cx="30517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C7293"/>
                  </a:solidFill>
                  <a:latin typeface="Consolas"/>
                  <a:ea typeface="Microsoft YaHei"/>
                  <a:cs typeface="Consolas"/>
                </a:rPr>
                <a:t>→ http://127.0.0.1:7860 (HTTP 200)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66800" y="5943600"/>
            <a:ext cx="10946702" cy="271462"/>
            <a:chOff x="1066800" y="5943600"/>
            <a:chExt cx="10946702" cy="271462"/>
          </a:xfrm>
        </p:grpSpPr>
        <p:sp>
          <p:nvSpPr>
            <p:cNvPr id="78" name="Rectangle 78"/>
            <p:cNvSpPr/>
            <p:nvPr/>
          </p:nvSpPr>
          <p:spPr>
            <a:xfrm>
              <a:off x="1066800" y="5943600"/>
              <a:ext cx="28575" cy="2667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86815" y="6001702"/>
              <a:ext cx="108266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Both surfaces share the same </a:t>
              </a:r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dirty="0">
                  <a:solidFill>
                    <a:srgbClr val="1C7293"/>
                  </a:solidFill>
                  <a:latin typeface="Consolas"/>
                  <a:ea typeface="Microsoft YaHei"/>
                  <a:cs typeface="Consolas"/>
                </a:rPr>
                <a:t>router_route()</a:t>
              </a:r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i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and the same dataclass-backed result schema — UI / CLI parity by construction.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336131" y="6464141"/>
            <a:ext cx="4091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10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38225" y="533400"/>
            <a:ext cx="6738699" cy="983456"/>
            <a:chOff x="1038225" y="533400"/>
            <a:chExt cx="6738699" cy="983456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15175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REAL API · VQA 1.0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37236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End-to-End Results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2512" y="1288256"/>
              <a:ext cx="672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Four cases, one per route plus auto-routing — every case scored VQA 1.0.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66800" y="1790700"/>
            <a:ext cx="10668000" cy="1790700"/>
            <a:chOff x="1066800" y="1790700"/>
            <a:chExt cx="10668000" cy="1790700"/>
          </a:xfrm>
        </p:grpSpPr>
        <p:grpSp>
          <p:nvGrpSpPr>
            <p:cNvPr id="20" name="Group 20"/>
            <p:cNvGrpSpPr/>
            <p:nvPr/>
          </p:nvGrpSpPr>
          <p:grpSpPr>
            <a:xfrm>
              <a:off x="1066800" y="1790700"/>
              <a:ext cx="5181600" cy="1790700"/>
              <a:chOff x="1066800" y="1790700"/>
              <a:chExt cx="5181600" cy="17907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66800" y="1790700"/>
                <a:ext cx="5181600" cy="1790700"/>
              </a:xfrm>
              <a:prstGeom prst="roundRect">
                <a:avLst>
                  <a:gd name="adj" fmla="val 5319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1066800" y="1790700"/>
                <a:ext cx="1104900" cy="1790700"/>
              </a:xfrm>
              <a:prstGeom prst="roundRect">
                <a:avLst>
                  <a:gd name="adj" fmla="val 8621"/>
                </a:avLst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076450" y="1790700"/>
                <a:ext cx="95250" cy="179070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362316" y="2622232"/>
                <a:ext cx="51386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gen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67915" y="2001202"/>
                <a:ext cx="5120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CASE 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365058" y="2224564"/>
                <a:ext cx="229791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172A"/>
                    </a:solidFill>
                    <a:latin typeface="Cambria"/>
                    <a:ea typeface="Microsoft YaHei"/>
                    <a:cs typeface="Cambria"/>
                  </a:rPr>
                  <a:t>Poppy field + windmill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2381250" y="2514600"/>
                <a:ext cx="3714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">
                    <a:moveTo>
                      <a:pt x="0" y="0"/>
                    </a:moveTo>
                    <a:lnTo>
                      <a:pt x="371475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367915" y="2629852"/>
                <a:ext cx="3473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VQA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350770" y="2846070"/>
                <a:ext cx="286931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0.8 → 1.0 → 1.0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370772" y="3282791"/>
                <a:ext cx="362364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i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baseline missed "yellow daisies" — fixed in 2 iterations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553200" y="1790700"/>
              <a:ext cx="5181600" cy="1790700"/>
              <a:chOff x="6553200" y="1790700"/>
              <a:chExt cx="5181600" cy="17907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553200" y="1790700"/>
                <a:ext cx="5181600" cy="1790700"/>
              </a:xfrm>
              <a:prstGeom prst="roundRect">
                <a:avLst>
                  <a:gd name="adj" fmla="val 5319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553200" y="1790700"/>
                <a:ext cx="1104900" cy="1790700"/>
              </a:xfrm>
              <a:prstGeom prst="roundRect">
                <a:avLst>
                  <a:gd name="adj" fmla="val 8621"/>
                </a:avLst>
              </a:prstGeom>
              <a:solidFill>
                <a:srgbClr val="1C7293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7562850" y="1790700"/>
                <a:ext cx="95250" cy="1790700"/>
              </a:xfrm>
              <a:prstGeom prst="rect">
                <a:avLst/>
              </a:prstGeom>
              <a:solidFill>
                <a:srgbClr val="1C729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05810" y="2622232"/>
                <a:ext cx="5996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edit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54315" y="2001202"/>
                <a:ext cx="5554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CASE 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851458" y="2224564"/>
                <a:ext cx="251894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172A"/>
                    </a:solidFill>
                    <a:latin typeface="Cambria"/>
                    <a:ea typeface="Microsoft YaHei"/>
                    <a:cs typeface="Cambria"/>
                  </a:rPr>
                  <a:t>Seesaw counterfactual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7867650" y="2514600"/>
                <a:ext cx="3714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">
                    <a:moveTo>
                      <a:pt x="0" y="0"/>
                    </a:moveTo>
                    <a:lnTo>
                      <a:pt x="371475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854315" y="2629852"/>
                <a:ext cx="3473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VQA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837170" y="2846070"/>
                <a:ext cx="2494864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C7293"/>
                    </a:solidFill>
                    <a:latin typeface="Cambria"/>
                    <a:ea typeface="Microsoft YaHei"/>
                    <a:cs typeface="Cambria"/>
                  </a:rPr>
                  <a:t>4 / 4 passed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857172" y="3282791"/>
                <a:ext cx="271786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i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reasoning_type = causal · final score 1.0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1066800" y="3810000"/>
            <a:ext cx="10668000" cy="1790700"/>
            <a:chOff x="1066800" y="3810000"/>
            <a:chExt cx="10668000" cy="1790700"/>
          </a:xfrm>
        </p:grpSpPr>
        <p:grpSp>
          <p:nvGrpSpPr>
            <p:cNvPr id="43" name="Group 43"/>
            <p:cNvGrpSpPr/>
            <p:nvPr/>
          </p:nvGrpSpPr>
          <p:grpSpPr>
            <a:xfrm>
              <a:off x="1066800" y="3810000"/>
              <a:ext cx="5181600" cy="1790700"/>
              <a:chOff x="1066800" y="3810000"/>
              <a:chExt cx="5181600" cy="17907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1066800" y="3810000"/>
                <a:ext cx="5181600" cy="1790700"/>
              </a:xfrm>
              <a:prstGeom prst="roundRect">
                <a:avLst>
                  <a:gd name="adj" fmla="val 5319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1066800" y="3810000"/>
                <a:ext cx="1104900" cy="1790700"/>
              </a:xfrm>
              <a:prstGeom prst="roundRect">
                <a:avLst>
                  <a:gd name="adj" fmla="val 8621"/>
                </a:avLst>
              </a:prstGeom>
              <a:solidFill>
                <a:srgbClr val="21295C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2076450" y="3810000"/>
                <a:ext cx="95250" cy="1790700"/>
              </a:xfrm>
              <a:prstGeom prst="rect">
                <a:avLst/>
              </a:prstGeom>
              <a:solidFill>
                <a:srgbClr val="21295C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203650" y="4657725"/>
                <a:ext cx="83119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hybrid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367915" y="4020502"/>
                <a:ext cx="5554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CASE 3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365058" y="4243864"/>
                <a:ext cx="144696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172A"/>
                    </a:solidFill>
                    <a:latin typeface="Cambria"/>
                    <a:ea typeface="Microsoft YaHei"/>
                    <a:cs typeface="Cambria"/>
                  </a:rPr>
                  <a:t>Split bouquet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2381250" y="4533900"/>
                <a:ext cx="3714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">
                    <a:moveTo>
                      <a:pt x="0" y="0"/>
                    </a:moveTo>
                    <a:lnTo>
                      <a:pt x="371475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367915" y="4649152"/>
                <a:ext cx="3473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VQA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350770" y="4865370"/>
                <a:ext cx="643433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1295C"/>
                    </a:solidFill>
                    <a:latin typeface="Cambria"/>
                    <a:ea typeface="Microsoft YaHei"/>
                    <a:cs typeface="Cambria"/>
                  </a:rPr>
                  <a:t>1.0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370772" y="5302091"/>
                <a:ext cx="284726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i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scene_prompt 2571 chars after 7-layer fix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553200" y="3810000"/>
              <a:ext cx="5181600" cy="1790700"/>
              <a:chOff x="6553200" y="3810000"/>
              <a:chExt cx="5181600" cy="17907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6553200" y="3810000"/>
                <a:ext cx="5181600" cy="1790700"/>
              </a:xfrm>
              <a:prstGeom prst="roundRect">
                <a:avLst>
                  <a:gd name="adj" fmla="val 5319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6553200" y="3810000"/>
                <a:ext cx="1104900" cy="1790700"/>
              </a:xfrm>
              <a:prstGeom prst="roundRect">
                <a:avLst>
                  <a:gd name="adj" fmla="val 8621"/>
                </a:avLst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7562850" y="3810000"/>
                <a:ext cx="95250" cy="179070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770056" y="4641532"/>
                <a:ext cx="67118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auto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854315" y="4020502"/>
                <a:ext cx="5554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CASE 4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851458" y="4243864"/>
                <a:ext cx="180060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172A"/>
                    </a:solidFill>
                    <a:latin typeface="Cambria"/>
                    <a:ea typeface="Microsoft YaHei"/>
                    <a:cs typeface="Cambria"/>
                  </a:rPr>
                  <a:t>Day → night room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7867650" y="4533900"/>
                <a:ext cx="3714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">
                    <a:moveTo>
                      <a:pt x="0" y="0"/>
                    </a:moveTo>
                    <a:lnTo>
                      <a:pt x="371475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854315" y="4649152"/>
                <a:ext cx="6334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ROUTER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840980" y="4897755"/>
                <a:ext cx="147311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→ hybrid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854315" y="5277802"/>
                <a:ext cx="30863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i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reasoning_type = temporal · VQA 1.0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1066800" y="5943600"/>
            <a:ext cx="10668000" cy="435769"/>
            <a:chOff x="1066800" y="5943600"/>
            <a:chExt cx="10668000" cy="435769"/>
          </a:xfrm>
        </p:grpSpPr>
        <p:sp>
          <p:nvSpPr>
            <p:cNvPr id="56" name="Rectangle 56"/>
            <p:cNvSpPr/>
            <p:nvPr/>
          </p:nvSpPr>
          <p:spPr>
            <a:xfrm>
              <a:off x="1066800" y="5943600"/>
              <a:ext cx="10668000" cy="419100"/>
            </a:xfrm>
            <a:prstGeom prst="roundRect">
              <a:avLst>
                <a:gd name="adj" fmla="val 13636"/>
              </a:avLst>
            </a:prstGeom>
            <a:solidFill>
              <a:srgbClr val="21295C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66800" y="5943600"/>
              <a:ext cx="57150" cy="4191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1359694" y="6065044"/>
              <a:ext cx="157162" cy="157162"/>
              <a:chOff x="1359694" y="6065044"/>
              <a:chExt cx="157162" cy="15716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1359694" y="60650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412081" y="6126162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624965" y="6020752"/>
              <a:ext cx="503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TESTS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625918" y="6181249"/>
              <a:ext cx="42824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59 / 59 passing</a:t>
              </a:r>
              <a:r>
                <a:rPr lang="zh-CN" sz="9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 36 hybrid + 23 router · runtime 0.05 s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370183" y="6464141"/>
            <a:ext cx="375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11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038225" y="533400"/>
            <a:ext cx="4991267" cy="785812"/>
            <a:chOff x="1038225" y="533400"/>
            <a:chExt cx="4991267" cy="785812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21242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TRADE-OFFS · NEXT STEPS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499126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Limitations &amp; Future Work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66800" y="1624012"/>
            <a:ext cx="4724400" cy="3900488"/>
            <a:chOff x="1066800" y="1624012"/>
            <a:chExt cx="4724400" cy="3900488"/>
          </a:xfrm>
        </p:grpSpPr>
        <p:grpSp>
          <p:nvGrpSpPr>
            <p:cNvPr id="12" name="Group 12"/>
            <p:cNvGrpSpPr/>
            <p:nvPr/>
          </p:nvGrpSpPr>
          <p:grpSpPr>
            <a:xfrm>
              <a:off x="1090612" y="1624012"/>
              <a:ext cx="142875" cy="142875"/>
              <a:chOff x="1090612" y="1624012"/>
              <a:chExt cx="142875" cy="1428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0612" y="16240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F2A65A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62050" y="16637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2A65A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62050" y="172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" y="0"/>
                    </a:lnTo>
                  </a:path>
                </a:pathLst>
              </a:custGeom>
              <a:noFill/>
              <a:ln w="19050">
                <a:solidFill>
                  <a:srgbClr val="F2A65A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58265" y="1639252"/>
              <a:ext cx="10642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2A65A"/>
                  </a:solidFill>
                  <a:latin typeface="Cambria"/>
                  <a:ea typeface="Microsoft YaHei"/>
                  <a:cs typeface="Cambria"/>
                </a:rPr>
                <a:t>LIMITATIONS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066800" y="1981200"/>
              <a:ext cx="4724400" cy="800100"/>
              <a:chOff x="1066800" y="1981200"/>
              <a:chExt cx="4724400" cy="8001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066800" y="1981200"/>
                <a:ext cx="4724400" cy="8001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1066800" y="1981200"/>
                <a:ext cx="38100" cy="800100"/>
              </a:xfrm>
              <a:prstGeom prst="rect">
                <a:avLst/>
              </a:prstGeom>
              <a:solidFill>
                <a:srgbClr val="F2A65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44918" y="2180749"/>
                <a:ext cx="20868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65A82"/>
                    </a:solidFill>
                    <a:latin typeface="Arial"/>
                    <a:ea typeface="Microsoft YaHei"/>
                    <a:cs typeface="Arial"/>
                  </a:rPr>
                  <a:t>Router auto adds latency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45870" y="2436495"/>
                <a:ext cx="3433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+5–7 s per request — MLLM classifier roundtrip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46822" y="2596991"/>
                <a:ext cx="322864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cache decision to amortize across repeat inputs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066800" y="2895600"/>
              <a:ext cx="4724400" cy="800100"/>
              <a:chOff x="1066800" y="2895600"/>
              <a:chExt cx="4724400" cy="8001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066800" y="2895600"/>
                <a:ext cx="4724400" cy="8001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066800" y="2895600"/>
                <a:ext cx="38100" cy="800100"/>
              </a:xfrm>
              <a:prstGeom prst="rect">
                <a:avLst/>
              </a:prstGeom>
              <a:solidFill>
                <a:srgbClr val="F2A65A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44918" y="3095149"/>
                <a:ext cx="24840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65A82"/>
                    </a:solidFill>
                    <a:latin typeface="Arial"/>
                    <a:ea typeface="Microsoft YaHei"/>
                    <a:cs typeface="Arial"/>
                  </a:rPr>
                  <a:t>hybrid drifts on pixel identity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45870" y="3350895"/>
                <a:ext cx="34181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Faces and fine textures change in full re-paint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46822" y="3511391"/>
                <a:ext cx="360321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scene_prompt rebuilds — pixel preservation impossible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066800" y="3810000"/>
              <a:ext cx="4724400" cy="800100"/>
              <a:chOff x="1066800" y="3810000"/>
              <a:chExt cx="4724400" cy="8001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1066800" y="3810000"/>
                <a:ext cx="4724400" cy="8001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1066800" y="3810000"/>
                <a:ext cx="38100" cy="800100"/>
              </a:xfrm>
              <a:prstGeom prst="rect">
                <a:avLst/>
              </a:prstGeom>
              <a:solidFill>
                <a:srgbClr val="F2A65A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244918" y="4009549"/>
                <a:ext cx="23319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65A82"/>
                    </a:solidFill>
                    <a:latin typeface="Arial"/>
                    <a:ea typeface="Microsoft YaHei"/>
                    <a:cs typeface="Arial"/>
                  </a:rPr>
                  <a:t>edit bounded by Qwen-Image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45870" y="4265295"/>
                <a:ext cx="32992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Backbone ceiling for instruction-edit fidelity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46822" y="4425791"/>
                <a:ext cx="255441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swap-in better Edit API would lift this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66800" y="4724400"/>
              <a:ext cx="4724400" cy="800100"/>
              <a:chOff x="1066800" y="4724400"/>
              <a:chExt cx="4724400" cy="8001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1066800" y="4724400"/>
                <a:ext cx="4724400" cy="8001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1066800" y="4724400"/>
                <a:ext cx="38100" cy="800100"/>
              </a:xfrm>
              <a:prstGeom prst="rect">
                <a:avLst/>
              </a:prstGeom>
              <a:solidFill>
                <a:srgbClr val="F2A65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43965" y="4915852"/>
                <a:ext cx="27479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Arial"/>
                    <a:ea typeface="Microsoft YaHei"/>
                    <a:cs typeface="Arial"/>
                  </a:rPr>
                  <a:t>VQA self-scored by same MLLM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245870" y="5179695"/>
                <a:ext cx="32844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Bias risk — judge and generator share a model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46822" y="5340191"/>
                <a:ext cx="307200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independent VQA backbone planned (see right)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6477000" y="1639252"/>
            <a:ext cx="4724400" cy="3885248"/>
            <a:chOff x="6477000" y="1639252"/>
            <a:chExt cx="4724400" cy="3885248"/>
          </a:xfrm>
        </p:grpSpPr>
        <p:grpSp>
          <p:nvGrpSpPr>
            <p:cNvPr id="41" name="Group 41"/>
            <p:cNvGrpSpPr/>
            <p:nvPr/>
          </p:nvGrpSpPr>
          <p:grpSpPr>
            <a:xfrm>
              <a:off x="6500812" y="1655762"/>
              <a:ext cx="142876" cy="79375"/>
              <a:chOff x="6500812" y="1655762"/>
              <a:chExt cx="142876" cy="7937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00812" y="1655762"/>
                <a:ext cx="1428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9375">
                    <a:moveTo>
                      <a:pt x="0" y="79375"/>
                    </a:moveTo>
                    <a:lnTo>
                      <a:pt x="47625" y="31750"/>
                    </a:lnTo>
                    <a:lnTo>
                      <a:pt x="79375" y="6350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88125" y="1655762"/>
                <a:ext cx="55563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2">
                    <a:moveTo>
                      <a:pt x="0" y="0"/>
                    </a:moveTo>
                    <a:lnTo>
                      <a:pt x="55563" y="0"/>
                    </a:lnTo>
                    <a:lnTo>
                      <a:pt x="55563" y="55562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68465" y="1639252"/>
              <a:ext cx="11552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0B981"/>
                  </a:solidFill>
                  <a:latin typeface="Cambria"/>
                  <a:ea typeface="Microsoft YaHei"/>
                  <a:cs typeface="Cambria"/>
                </a:rPr>
                <a:t>FUTURE WORK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477000" y="1981200"/>
              <a:ext cx="4724400" cy="800100"/>
              <a:chOff x="6477000" y="1981200"/>
              <a:chExt cx="4724400" cy="8001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6477000" y="1981200"/>
                <a:ext cx="4724400" cy="8001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477000" y="1981200"/>
                <a:ext cx="38100" cy="800100"/>
              </a:xfrm>
              <a:prstGeom prst="rect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55118" y="2180749"/>
                <a:ext cx="27713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65A82"/>
                    </a:solidFill>
                    <a:latin typeface="Arial"/>
                    <a:ea typeface="Microsoft YaHei"/>
                    <a:cs typeface="Arial"/>
                  </a:rPr>
                  <a:t>Integrate full GenPilot Stage 1 / 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656070" y="2436495"/>
                <a:ext cx="36038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Drop in the upstream stages for deeper iteration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657022" y="2596991"/>
                <a:ext cx="325588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expected lift on dense, multi-attribute prompts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477000" y="2895600"/>
              <a:ext cx="4724400" cy="800100"/>
              <a:chOff x="6477000" y="2895600"/>
              <a:chExt cx="4724400" cy="8001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6477000" y="2895600"/>
                <a:ext cx="4724400" cy="8001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6477000" y="2895600"/>
                <a:ext cx="38100" cy="800100"/>
              </a:xfrm>
              <a:prstGeom prst="rect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654165" y="3087052"/>
                <a:ext cx="201981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Arial"/>
                    <a:ea typeface="Microsoft YaHei"/>
                    <a:cs typeface="Arial"/>
                  </a:rPr>
                  <a:t>Independent VQA model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656070" y="3350895"/>
                <a:ext cx="320268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BLIP-2 / LLaVA-NeXT as second-opinion judge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657022" y="3511391"/>
                <a:ext cx="273148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remove generator–judge correlation bias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477000" y="3810000"/>
              <a:ext cx="4724400" cy="800100"/>
              <a:chOff x="6477000" y="3810000"/>
              <a:chExt cx="4724400" cy="8001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477000" y="3810000"/>
                <a:ext cx="4724400" cy="8001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6477000" y="3810000"/>
                <a:ext cx="38100" cy="800100"/>
              </a:xfrm>
              <a:prstGeom prst="rect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654165" y="4001452"/>
                <a:ext cx="27570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Arial"/>
                    <a:ea typeface="Microsoft YaHei"/>
                    <a:cs typeface="Arial"/>
                  </a:rPr>
                  <a:t>LRU cache for router decisions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656070" y="4265295"/>
                <a:ext cx="33215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Amortize the +5–7 s classifier cost over runs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657022" y="4425791"/>
                <a:ext cx="274510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addresses the latency limitation directly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6477000" y="4724400"/>
              <a:ext cx="4724400" cy="800100"/>
              <a:chOff x="6477000" y="4724400"/>
              <a:chExt cx="4724400" cy="8001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6477000" y="4724400"/>
                <a:ext cx="4724400" cy="8001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6477000" y="4724400"/>
                <a:ext cx="38100" cy="800100"/>
              </a:xfrm>
              <a:prstGeom prst="rect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6654165" y="4915852"/>
                <a:ext cx="31119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65A82"/>
                    </a:solidFill>
                    <a:latin typeface="Arial"/>
                    <a:ea typeface="Microsoft YaHei"/>
                    <a:cs typeface="Arial"/>
                  </a:rPr>
                  <a:t>IP-Adapter / ControlNet for hybrid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656070" y="5179695"/>
                <a:ext cx="326212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Inject conditional signal to preserve identity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657022" y="5340191"/>
                <a:ext cx="339209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restore some pixel-level fidelity to re-paint route</a:t>
                </a:r>
              </a:p>
            </p:txBody>
          </p:sp>
        </p:grpSp>
      </p:grpSp>
      <p:sp>
        <p:nvSpPr>
          <p:cNvPr id="68" name="TextBox 68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336131" y="6464141"/>
            <a:ext cx="4091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12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  <p:bldP spid="38" grpId="0"/>
      <p:bldP spid="67" grpId="0"/>
      <p:bldP spid="68" grpId="0"/>
      <p:bldP spid="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38225" y="533400"/>
            <a:ext cx="8818959" cy="983456"/>
            <a:chOff x="1038225" y="533400"/>
            <a:chExt cx="8818959" cy="983456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13094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BY THE NUMBERS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200739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Conclusion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2512" y="1288256"/>
              <a:ext cx="88046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 training-free agent for image generation and hypothetical editing — shipped in four quadrants.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66800" y="1866900"/>
            <a:ext cx="10668000" cy="1905000"/>
            <a:chOff x="1066800" y="1866900"/>
            <a:chExt cx="10668000" cy="1905000"/>
          </a:xfrm>
        </p:grpSpPr>
        <p:grpSp>
          <p:nvGrpSpPr>
            <p:cNvPr id="16" name="Group 16"/>
            <p:cNvGrpSpPr/>
            <p:nvPr/>
          </p:nvGrpSpPr>
          <p:grpSpPr>
            <a:xfrm>
              <a:off x="1066800" y="1866900"/>
              <a:ext cx="2495550" cy="1905000"/>
              <a:chOff x="1066800" y="1866900"/>
              <a:chExt cx="2495550" cy="1905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66800" y="1866900"/>
                <a:ext cx="24955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1066800" y="1866900"/>
                <a:ext cx="57150" cy="190500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997869" y="2172652"/>
                <a:ext cx="6334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ROUTES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952339" y="2400300"/>
                <a:ext cx="724472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000" b="1" dirty="0">
                    <a:solidFill>
                      <a:srgbClr val="065A82"/>
                    </a:solidFill>
                    <a:latin typeface="Cambria"/>
                    <a:ea typeface="Microsoft YaHei"/>
                    <a:cs typeface="Cambria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356455" y="3277552"/>
                <a:ext cx="19162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complementary routes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94569" y="3492341"/>
                <a:ext cx="124001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i="1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gen · edit · hybrid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790950" y="1866900"/>
              <a:ext cx="2495550" cy="1905000"/>
              <a:chOff x="3790950" y="1866900"/>
              <a:chExt cx="2495550" cy="1905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790950" y="1866900"/>
                <a:ext cx="24955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790950" y="1866900"/>
                <a:ext cx="57150" cy="1905000"/>
              </a:xfrm>
              <a:prstGeom prst="rect">
                <a:avLst/>
              </a:prstGeom>
              <a:solidFill>
                <a:srgbClr val="1C7293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787027" y="2172652"/>
                <a:ext cx="5033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ENTRY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806506" y="2400300"/>
                <a:ext cx="464439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000" b="1" dirty="0">
                    <a:solidFill>
                      <a:srgbClr val="1C7293"/>
                    </a:solidFill>
                    <a:latin typeface="Cambria"/>
                    <a:ea typeface="Microsoft YaHei"/>
                    <a:cs typeface="Cambria"/>
                  </a:rPr>
                  <a:t>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227957" y="3277552"/>
                <a:ext cx="16215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unified CLI + Web UI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067985" y="3492341"/>
                <a:ext cx="194148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i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pipeline.py · demo_gradio.py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360328" y="1866900"/>
              <a:ext cx="2805093" cy="1905000"/>
              <a:chOff x="6360328" y="1866900"/>
              <a:chExt cx="2805093" cy="1905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515100" y="1866900"/>
                <a:ext cx="24955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6515100" y="1924050"/>
                <a:ext cx="38100" cy="1790700"/>
              </a:xfrm>
              <a:prstGeom prst="rect">
                <a:avLst/>
              </a:prstGeom>
              <a:solidFill>
                <a:srgbClr val="F2A65A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46169" y="2172652"/>
                <a:ext cx="6334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ROUTER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360328" y="2465070"/>
                <a:ext cx="2805093" cy="1097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400" b="1" dirty="0">
                    <a:solidFill>
                      <a:srgbClr val="F2A65A"/>
                    </a:solidFill>
                    <a:latin typeface="Cambria"/>
                    <a:ea typeface="Microsoft YaHei"/>
                    <a:cs typeface="Cambria"/>
                  </a:rPr>
                  <a:t>17 / 17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679073" y="3277552"/>
                <a:ext cx="21676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benchmark cases correct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735413" y="3468052"/>
                <a:ext cx="205492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i="1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MLLM 8/8 · keyword 9/9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239250" y="1866900"/>
              <a:ext cx="2495550" cy="1905000"/>
              <a:chOff x="9239250" y="1866900"/>
              <a:chExt cx="2495550" cy="1905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239250" y="1866900"/>
                <a:ext cx="24955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9239250" y="1866900"/>
                <a:ext cx="57150" cy="1905000"/>
              </a:xfrm>
              <a:prstGeom prst="rect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235327" y="2172652"/>
                <a:ext cx="5033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TESTS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838754" y="2400300"/>
                <a:ext cx="1296543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000" b="1" dirty="0">
                    <a:solidFill>
                      <a:srgbClr val="10B981"/>
                    </a:solidFill>
                    <a:latin typeface="Cambria"/>
                    <a:ea typeface="Microsoft YaHei"/>
                    <a:cs typeface="Cambria"/>
                  </a:rPr>
                  <a:t>59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702260" y="3277552"/>
                <a:ext cx="1569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unit tests passing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775079" y="3492341"/>
                <a:ext cx="142389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i="1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36 hybrid + 23 router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1066800" y="4381500"/>
            <a:ext cx="12452746" cy="1714500"/>
            <a:chOff x="1066800" y="4381500"/>
            <a:chExt cx="12452746" cy="1714500"/>
          </a:xfrm>
        </p:grpSpPr>
        <p:sp>
          <p:nvSpPr>
            <p:cNvPr id="39" name="Rectangle 39"/>
            <p:cNvSpPr/>
            <p:nvPr/>
          </p:nvSpPr>
          <p:spPr>
            <a:xfrm>
              <a:off x="1066800" y="4381500"/>
              <a:ext cx="10668000" cy="1714500"/>
            </a:xfrm>
            <a:prstGeom prst="roundRect">
              <a:avLst>
                <a:gd name="adj" fmla="val 5556"/>
              </a:avLst>
            </a:prstGeom>
            <a:solidFill>
              <a:srgbClr val="21295C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66800" y="4438650"/>
              <a:ext cx="38100" cy="16002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496406" y="4805362"/>
              <a:ext cx="245659" cy="255604"/>
              <a:chOff x="1496406" y="4805362"/>
              <a:chExt cx="245659" cy="25560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1533525" y="4805362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F2A65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619250" y="4933950"/>
                <a:ext cx="122815" cy="127016"/>
              </a:xfrm>
              <a:custGeom>
                <a:avLst/>
                <a:gdLst/>
                <a:ahLst/>
                <a:cxnLst/>
                <a:rect l="l" t="t" r="r" b="b"/>
                <a:pathLst>
                  <a:path w="122815" h="127016">
                    <a:moveTo>
                      <a:pt x="0" y="42862"/>
                    </a:moveTo>
                    <a:lnTo>
                      <a:pt x="48577" y="127016"/>
                    </a:lnTo>
                    <a:lnTo>
                      <a:pt x="71409" y="80824"/>
                    </a:lnTo>
                    <a:lnTo>
                      <a:pt x="122815" y="84139"/>
                    </a:lnTo>
                    <a:lnTo>
                      <a:pt x="74238" y="0"/>
                    </a:lnTo>
                  </a:path>
                </a:pathLst>
              </a:custGeom>
              <a:noFill/>
              <a:ln w="19050">
                <a:solidFill>
                  <a:srgbClr val="F2A65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496406" y="4933950"/>
                <a:ext cx="122815" cy="127002"/>
              </a:xfrm>
              <a:custGeom>
                <a:avLst/>
                <a:gdLst/>
                <a:ahLst/>
                <a:cxnLst/>
                <a:rect l="l" t="t" r="r" b="b"/>
                <a:pathLst>
                  <a:path w="122815" h="127002">
                    <a:moveTo>
                      <a:pt x="48577" y="0"/>
                    </a:moveTo>
                    <a:lnTo>
                      <a:pt x="0" y="84153"/>
                    </a:lnTo>
                    <a:lnTo>
                      <a:pt x="51406" y="80824"/>
                    </a:lnTo>
                    <a:lnTo>
                      <a:pt x="74238" y="127002"/>
                    </a:lnTo>
                    <a:lnTo>
                      <a:pt x="122815" y="42862"/>
                    </a:lnTo>
                  </a:path>
                </a:pathLst>
              </a:custGeom>
              <a:noFill/>
              <a:ln w="19050">
                <a:solidFill>
                  <a:srgbClr val="F2A65A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929765" y="4858702"/>
              <a:ext cx="824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TAKEAWAY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12620" y="5151120"/>
              <a:ext cx="77787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Zero training. Three routes. One CLI.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928812" y="5669756"/>
              <a:ext cx="115907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MLLM agents + public APIs cover both descriptive misalignment and counterfactual editing — without a single fine-tuned weight.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336131" y="6464141"/>
            <a:ext cx="4091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13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38" grpId="0"/>
      <p:bldP spid="48" grpId="0"/>
      <p:bldP spid="49" grpId="0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190500"/>
            <a:ext cx="609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57200"/>
            <a:ext cx="609600" cy="28575"/>
          </a:xfrm>
          <a:prstGeom prst="rect">
            <a:avLst/>
          </a:prstGeom>
          <a:solidFill>
            <a:srgbClr val="F2A65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38225" y="533400"/>
            <a:ext cx="6580822" cy="983456"/>
            <a:chOff x="1038225" y="533400"/>
            <a:chExt cx="6580822" cy="983456"/>
          </a:xfrm>
        </p:grpSpPr>
        <p:sp>
          <p:nvSpPr>
            <p:cNvPr id="5" name="Rectangle 5"/>
            <p:cNvSpPr/>
            <p:nvPr/>
          </p:nvSpPr>
          <p:spPr>
            <a:xfrm>
              <a:off x="1066800" y="533400"/>
              <a:ext cx="38100" cy="3048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965" y="629602"/>
              <a:ext cx="11014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TEAM ROSTER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8225" y="862012"/>
              <a:ext cx="46012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65A82"/>
                  </a:solidFill>
                  <a:latin typeface="Cambria"/>
                  <a:ea typeface="Microsoft YaHei"/>
                  <a:cs typeface="Cambria"/>
                </a:rPr>
                <a:t>Team &amp; Division of Labor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2512" y="1288256"/>
              <a:ext cx="65665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Four members, sequential hand-off — base → edit → hybrid → integration.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66800" y="1866900"/>
            <a:ext cx="10668000" cy="1752600"/>
            <a:chOff x="1066800" y="1866900"/>
            <a:chExt cx="10668000" cy="1752600"/>
          </a:xfrm>
        </p:grpSpPr>
        <p:grpSp>
          <p:nvGrpSpPr>
            <p:cNvPr id="22" name="Group 22"/>
            <p:cNvGrpSpPr/>
            <p:nvPr/>
          </p:nvGrpSpPr>
          <p:grpSpPr>
            <a:xfrm>
              <a:off x="1066800" y="1866900"/>
              <a:ext cx="5181600" cy="1752600"/>
              <a:chOff x="1066800" y="1866900"/>
              <a:chExt cx="5181600" cy="17526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66800" y="1866900"/>
                <a:ext cx="5181600" cy="1752600"/>
              </a:xfrm>
              <a:prstGeom prst="roundRect">
                <a:avLst>
                  <a:gd name="adj" fmla="val 543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1066800" y="1866900"/>
                <a:ext cx="1104900" cy="1752600"/>
              </a:xfrm>
              <a:prstGeom prst="roundRect">
                <a:avLst>
                  <a:gd name="adj" fmla="val 8621"/>
                </a:avLst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076450" y="1866900"/>
                <a:ext cx="95250" cy="1752600"/>
              </a:xfrm>
              <a:prstGeom prst="rect">
                <a:avLst/>
              </a:prstGeom>
              <a:solidFill>
                <a:srgbClr val="065A8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424904" y="2443162"/>
                <a:ext cx="388691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01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74065" y="2866549"/>
                <a:ext cx="2903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gen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369820" y="2112645"/>
                <a:ext cx="20882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MEMBER 1 · FOUNDATION + gen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360295" y="2336482"/>
                <a:ext cx="61398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Cambria"/>
                    <a:ea typeface="Microsoft YaHei"/>
                    <a:cs typeface="Cambria"/>
                  </a:rPr>
                  <a:t>梁爽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2381250" y="2686050"/>
                <a:ext cx="3714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">
                    <a:moveTo>
                      <a:pt x="0" y="0"/>
                    </a:moveTo>
                    <a:lnTo>
                      <a:pt x="371475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369820" y="2836545"/>
                <a:ext cx="9664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DELIVERABLES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368868" y="3037999"/>
                <a:ext cx="25761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api_client / t2i_client / schemas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368868" y="3228499"/>
                <a:ext cx="31637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gen_pipeline + GenPilot optimization loop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369820" y="3427095"/>
                <a:ext cx="34032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VQA 0.8 → 1.0 → 1.0 on the poppy / windmill case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553200" y="1866900"/>
              <a:ext cx="5181600" cy="1752600"/>
              <a:chOff x="6553200" y="1866900"/>
              <a:chExt cx="5181600" cy="17526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553200" y="1866900"/>
                <a:ext cx="5181600" cy="1752600"/>
              </a:xfrm>
              <a:prstGeom prst="roundRect">
                <a:avLst>
                  <a:gd name="adj" fmla="val 543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553200" y="1866900"/>
                <a:ext cx="1104900" cy="1752600"/>
              </a:xfrm>
              <a:prstGeom prst="roundRect">
                <a:avLst>
                  <a:gd name="adj" fmla="val 8621"/>
                </a:avLst>
              </a:prstGeom>
              <a:solidFill>
                <a:srgbClr val="1C7293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7562850" y="1866900"/>
                <a:ext cx="95250" cy="1752600"/>
              </a:xfrm>
              <a:prstGeom prst="rect">
                <a:avLst/>
              </a:prstGeom>
              <a:solidFill>
                <a:srgbClr val="1C7293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862548" y="2443162"/>
                <a:ext cx="486204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02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936319" y="2866549"/>
                <a:ext cx="3386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edit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856220" y="2112645"/>
                <a:ext cx="17836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MEMBER 2 · edit PIPELINE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846695" y="2336482"/>
                <a:ext cx="90001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Cambria"/>
                    <a:ea typeface="Microsoft YaHei"/>
                    <a:cs typeface="Cambria"/>
                  </a:rPr>
                  <a:t>陈颖妍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7867650" y="2686050"/>
                <a:ext cx="3714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">
                    <a:moveTo>
                      <a:pt x="0" y="0"/>
                    </a:moveTo>
                    <a:lnTo>
                      <a:pt x="371475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856220" y="2836545"/>
                <a:ext cx="9664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DELIVERABLES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855268" y="3037999"/>
                <a:ext cx="32603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Reason Agent · edit_client · edit_pipeline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855268" y="3228499"/>
                <a:ext cx="36546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Qwen-Image instruction edit + VQA refine loop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856220" y="3427095"/>
                <a:ext cx="364102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Seesaw case · reasoning_type = causal · VQA 4 / 4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1066800" y="3924300"/>
            <a:ext cx="10950226" cy="1752600"/>
            <a:chOff x="1066800" y="3924300"/>
            <a:chExt cx="10950226" cy="1752600"/>
          </a:xfrm>
        </p:grpSpPr>
        <p:grpSp>
          <p:nvGrpSpPr>
            <p:cNvPr id="49" name="Group 49"/>
            <p:cNvGrpSpPr/>
            <p:nvPr/>
          </p:nvGrpSpPr>
          <p:grpSpPr>
            <a:xfrm>
              <a:off x="1066800" y="3924300"/>
              <a:ext cx="5181600" cy="1752600"/>
              <a:chOff x="1066800" y="3924300"/>
              <a:chExt cx="5181600" cy="17526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1066800" y="3924300"/>
                <a:ext cx="5181600" cy="1752600"/>
              </a:xfrm>
              <a:prstGeom prst="roundRect">
                <a:avLst>
                  <a:gd name="adj" fmla="val 543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1066800" y="3924300"/>
                <a:ext cx="1104900" cy="1752600"/>
              </a:xfrm>
              <a:prstGeom prst="roundRect">
                <a:avLst>
                  <a:gd name="adj" fmla="val 8621"/>
                </a:avLst>
              </a:prstGeom>
              <a:solidFill>
                <a:srgbClr val="21295C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2076450" y="3924300"/>
                <a:ext cx="95250" cy="1752600"/>
              </a:xfrm>
              <a:prstGeom prst="rect">
                <a:avLst/>
              </a:prstGeom>
              <a:solidFill>
                <a:srgbClr val="21295C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376148" y="4500562"/>
                <a:ext cx="486204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03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361384" y="4923949"/>
                <a:ext cx="5157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hybrid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369820" y="4170045"/>
                <a:ext cx="1947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MEMBER 3 · hybrid PIPELINE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360295" y="4393882"/>
                <a:ext cx="90001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Cambria"/>
                    <a:ea typeface="Microsoft YaHei"/>
                    <a:cs typeface="Cambria"/>
                  </a:rPr>
                  <a:t>苏香广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2381250" y="4743450"/>
                <a:ext cx="3714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">
                    <a:moveTo>
                      <a:pt x="0" y="0"/>
                    </a:moveTo>
                    <a:lnTo>
                      <a:pt x="371475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2369820" y="4893945"/>
                <a:ext cx="9664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DELIVERABLES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368868" y="5095399"/>
                <a:ext cx="33729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hybrid_pipeline + scene_prompt 7-layer fix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368868" y="5285899"/>
                <a:ext cx="35822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36 unit tests · comparison experiment script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2369820" y="5484495"/>
                <a:ext cx="35370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Split-bouquet case · VQA 1.0 · day → night case ✓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553200" y="3924300"/>
              <a:ext cx="5463826" cy="1752600"/>
              <a:chOff x="6553200" y="3924300"/>
              <a:chExt cx="5463826" cy="17526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553200" y="3924300"/>
                <a:ext cx="5181600" cy="1752600"/>
              </a:xfrm>
              <a:prstGeom prst="roundRect">
                <a:avLst>
                  <a:gd name="adj" fmla="val 5435"/>
                </a:avLst>
              </a:prstGeom>
              <a:solidFill>
                <a:srgbClr val="FFFFFF"/>
              </a:solidFill>
              <a:ln w="7144">
                <a:solidFill>
                  <a:srgbClr val="E2E8F0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6553200" y="3924300"/>
                <a:ext cx="1104900" cy="1752600"/>
              </a:xfrm>
              <a:prstGeom prst="roundRect">
                <a:avLst>
                  <a:gd name="adj" fmla="val 8621"/>
                </a:avLst>
              </a:prstGeom>
              <a:solidFill>
                <a:srgbClr val="F2A65A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7562850" y="3924300"/>
                <a:ext cx="95250" cy="1752600"/>
              </a:xfrm>
              <a:prstGeom prst="rect">
                <a:avLst/>
              </a:prstGeom>
              <a:solidFill>
                <a:srgbClr val="F2A65A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862548" y="4500562"/>
                <a:ext cx="486204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250" b="1" dirty="0">
                    <a:solidFill>
                      <a:srgbClr val="FFFFFF"/>
                    </a:solidFill>
                    <a:latin typeface="Cambria"/>
                    <a:ea typeface="Microsoft YaHei"/>
                    <a:cs typeface="Cambria"/>
                  </a:rPr>
                  <a:t>04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827663" y="4923949"/>
                <a:ext cx="5559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router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856220" y="4170045"/>
                <a:ext cx="24151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MEMBER 4 · ROUTER + INTEGRATION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846695" y="4393882"/>
                <a:ext cx="90001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Cambria"/>
                    <a:ea typeface="Microsoft YaHei"/>
                    <a:cs typeface="Cambria"/>
                  </a:rPr>
                  <a:t>艾博显</a:t>
                </a:r>
              </a:p>
            </p:txBody>
          </p:sp>
          <p:sp>
            <p:nvSpPr>
              <p:cNvPr id="57" name="Line 57"/>
              <p:cNvSpPr/>
              <p:nvPr/>
            </p:nvSpPr>
            <p:spPr>
              <a:xfrm>
                <a:off x="7867650" y="4743450"/>
                <a:ext cx="3714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9525">
                    <a:moveTo>
                      <a:pt x="0" y="0"/>
                    </a:moveTo>
                    <a:lnTo>
                      <a:pt x="3714750" y="0"/>
                    </a:lnTo>
                  </a:path>
                </a:pathLst>
              </a:custGeom>
              <a:noFill/>
              <a:ln w="4762">
                <a:solidFill>
                  <a:srgbClr val="E2E8F0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856220" y="4893945"/>
                <a:ext cx="9664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DELIVERABLES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855268" y="5095399"/>
                <a:ext cx="41617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router (MLLM + fallback) · pipeline.py · Gradio demo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855268" y="5285899"/>
                <a:ext cx="30751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23 unit tests · defense doc + this deck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856220" y="5484495"/>
                <a:ext cx="34181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17 / 17 routing cases · 4-route auto-dispatch ✓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1066800" y="5943600"/>
            <a:ext cx="10668000" cy="419100"/>
            <a:chOff x="1066800" y="5943600"/>
            <a:chExt cx="10668000" cy="419100"/>
          </a:xfrm>
        </p:grpSpPr>
        <p:sp>
          <p:nvSpPr>
            <p:cNvPr id="64" name="Rectangle 64"/>
            <p:cNvSpPr/>
            <p:nvPr/>
          </p:nvSpPr>
          <p:spPr>
            <a:xfrm>
              <a:off x="1066800" y="5943600"/>
              <a:ext cx="10668000" cy="419100"/>
            </a:xfrm>
            <a:prstGeom prst="roundRect">
              <a:avLst>
                <a:gd name="adj" fmla="val 13636"/>
              </a:avLst>
            </a:prstGeom>
            <a:solidFill>
              <a:srgbClr val="21295C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66800" y="5943600"/>
              <a:ext cx="57150" cy="4191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320165" y="6096952"/>
              <a:ext cx="75849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HAND-OFF </a:t>
              </a:r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梁爽</a:t>
              </a:r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→</a:t>
              </a:r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陈颖妍</a:t>
              </a:r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→</a:t>
              </a:r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b="1" dirty="0">
                  <a:solidFill>
                    <a:srgbClr val="FFFFFF"/>
                  </a:solidFill>
                  <a:latin typeface="Cambria"/>
                  <a:ea typeface="Microsoft YaHei"/>
                  <a:cs typeface="Cambria"/>
                </a:rPr>
                <a:t>苏香广</a:t>
              </a:r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→</a:t>
              </a:r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b="1" dirty="0">
                  <a:solidFill>
                    <a:srgbClr val="F2A65A"/>
                  </a:solidFill>
                  <a:latin typeface="Cambria"/>
                  <a:ea typeface="Microsoft YaHei"/>
                  <a:cs typeface="Cambria"/>
                </a:rPr>
                <a:t>艾博显</a:t>
              </a:r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050" i="1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— base, then edit, then hybrid, then integration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056322" y="6464141"/>
            <a:ext cx="2513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ReasonGenPilot · Course Defense 2026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336131" y="6464141"/>
            <a:ext cx="4091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14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C729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5867400"/>
            <a:ext cx="12192000" cy="38100"/>
          </a:xfrm>
          <a:prstGeom prst="rect">
            <a:avLst/>
          </a:prstGeom>
          <a:solidFill>
            <a:srgbClr val="F2A65A">
              <a:alpha val="8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5905500"/>
            <a:ext cx="12192000" cy="9525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143000" y="1848802"/>
            <a:ext cx="2335816" cy="213360"/>
            <a:chOff x="1143000" y="1848802"/>
            <a:chExt cx="2335816" cy="213360"/>
          </a:xfrm>
        </p:grpSpPr>
        <p:sp>
          <p:nvSpPr>
            <p:cNvPr id="6" name="Rectangle 6"/>
            <p:cNvSpPr/>
            <p:nvPr/>
          </p:nvSpPr>
          <p:spPr>
            <a:xfrm>
              <a:off x="1143000" y="1885950"/>
              <a:ext cx="342900" cy="38100"/>
            </a:xfrm>
            <a:prstGeom prst="rect">
              <a:avLst/>
            </a:prstGeom>
            <a:solidFill>
              <a:srgbClr val="F2A65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05915" y="1848802"/>
              <a:ext cx="1872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2A65A"/>
                  </a:solidFill>
                  <a:latin typeface="Cambria"/>
                  <a:ea typeface="Microsoft YaHei"/>
                  <a:cs typeface="Cambria"/>
                </a:rPr>
                <a:t>REASONGENPILOT · END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28150" y="2594610"/>
            <a:ext cx="6735699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200" b="1" dirty="0">
                <a:solidFill>
                  <a:srgbClr val="FFFFFF"/>
                </a:solidFill>
                <a:latin typeface="Cambria"/>
                <a:ea typeface="Microsoft YaHei"/>
                <a:cs typeface="Cambria"/>
              </a:rPr>
              <a:t>Thank you.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143500" y="3939540"/>
            <a:ext cx="1905000" cy="365760"/>
            <a:chOff x="5143500" y="3939540"/>
            <a:chExt cx="1905000" cy="365760"/>
          </a:xfrm>
        </p:grpSpPr>
        <p:sp>
          <p:nvSpPr>
            <p:cNvPr id="10" name="Line 10"/>
            <p:cNvSpPr/>
            <p:nvPr/>
          </p:nvSpPr>
          <p:spPr>
            <a:xfrm>
              <a:off x="5143500" y="4076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F2A65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92140" y="3939540"/>
              <a:ext cx="77381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i="1" dirty="0">
                  <a:solidFill>
                    <a:srgbClr val="CBD5E1"/>
                  </a:solidFill>
                  <a:latin typeface="Cambria"/>
                  <a:ea typeface="Microsoft YaHei"/>
                  <a:cs typeface="Cambria"/>
                </a:rPr>
                <a:t>Q &amp; A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667500" y="4076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F2A65A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129665" y="4839652"/>
            <a:ext cx="8038433" cy="441960"/>
            <a:chOff x="1129665" y="4839652"/>
            <a:chExt cx="8038433" cy="441960"/>
          </a:xfrm>
        </p:grpSpPr>
        <p:sp>
          <p:nvSpPr>
            <p:cNvPr id="14" name="TextBox 14"/>
            <p:cNvSpPr txBox="1"/>
            <p:nvPr/>
          </p:nvSpPr>
          <p:spPr>
            <a:xfrm>
              <a:off x="1129665" y="4839652"/>
              <a:ext cx="11274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DELIVERABLES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130618" y="5068252"/>
              <a:ext cx="8037480" cy="213360"/>
              <a:chOff x="1130618" y="5068252"/>
              <a:chExt cx="8037480" cy="21336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130618" y="5076349"/>
                <a:ext cx="8376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3 pipelines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273618" y="5076349"/>
                <a:ext cx="1133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·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64118" y="5076349"/>
                <a:ext cx="11515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1 unified entry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797618" y="5076349"/>
                <a:ext cx="1133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·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988118" y="5076349"/>
                <a:ext cx="105498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59 unit tests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131118" y="5076349"/>
                <a:ext cx="1133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·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321618" y="5076349"/>
                <a:ext cx="15540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17 / 17 router cases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45618" y="5076349"/>
                <a:ext cx="1133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·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35165" y="5068252"/>
                <a:ext cx="21329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BD5E1"/>
                    </a:solidFill>
                    <a:latin typeface="Arial"/>
                    <a:ea typeface="Microsoft YaHei"/>
                    <a:cs typeface="Arial"/>
                  </a:rPr>
                  <a:t>VQA 1.0 across the board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1132522" y="6387941"/>
            <a:ext cx="27246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Branch testWork3 · Course Defense 2026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650331" y="6387941"/>
            <a:ext cx="4091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15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3005</Words>
  <Application>Microsoft Macintosh PowerPoint</Application>
  <PresentationFormat>宽屏</PresentationFormat>
  <Paragraphs>421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Boxian Ai</cp:lastModifiedBy>
  <cp:revision>2</cp:revision>
  <dcterms:created xsi:type="dcterms:W3CDTF">2013-01-27T09:14:16Z</dcterms:created>
  <dcterms:modified xsi:type="dcterms:W3CDTF">2026-06-07T10:49:53Z</dcterms:modified>
  <cp:category/>
</cp:coreProperties>
</file>