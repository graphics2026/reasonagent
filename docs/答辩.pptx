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28"/>
  </p:normalViewPr>
  <p:slideViewPr>
    <p:cSldViewPr snapToGrid="0" snapToObjects="1">
      <p:cViewPr varScale="1">
        <p:scale>
          <a:sx n="136" d="100"/>
          <a:sy n="136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19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各位老师同学下午好。我们今天答辩的项目叫 ReasonGenPilot，一个完全无训练的图像生成与假设性编辑 Agent 系统。三条互补通路 gen edit hybrid 共享一个 router 和一个统一返回 schema。团队四人，分支 testWork3，十五页讲完，约十二分钟，欢迎随时提问。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我们要解决的是当前 T2I 模型的两类典型失败。第一类是描述性失配，复杂 prompt 下数错对象、漏色、空间关系错位。第二类是假设性指令，需要常识推理才能落地，T2I 完全不懂。我们的目标用一句话总结：零训练，只用 MLLM Agent 加公开 API 解决这两类问题，不动一个权重，最终四个端到端 case 全部 VQA 等于一点零。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这是系统总览。用户输入进入 Router；Router 通过 MLLM 自动分类，把请求扇出到三条通路之一。三条 pipeline 共享同一个返回 schema —— 最终图像、推理链、VQA 结果、元数据。三通路互补，整个系统对外只暴露一个入口。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这一页摊开三条通路的输入输出对比。判别准则只有一条：改完之后还需要原图像素吗？需要走 edit，在原图上做局部编辑；不需要走 hybrid，整图从零重画。无图直接走 gen。注意我们的统一字段是单个 dash dash prompt，gen 当描述读，edit 和 hybrid 当反事实指令读。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成员一负责基座加 gen 通路：api_client、t2i_client、gen_pipeline、schemas。核心是 GenPilot 风格的五步优化循环：拆约束、出 baseline、生成 K 个候选 prompt、MLLM VQA 打分、用最优 prompt 替换并循环。Poppy Daisy Windmill 这个 case，VQA 从 baseline 零点八，经两轮迭代提到一点零。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成员二负责 edit 通路。Reason Agent 把指令分到四类：physical、temporal、causal、story，与 Reason50K 论文对齐。pipeline 五步：Reason、finalize_edit_prompt 注入物理约束、Qwen-Image 无 mask 指令编辑、K 候选 VQA 选优、不达标 refine 重编。大象松鼠跷跷板这个 case，reasoning_type 自动判定为 causal，VQA checklist 四比四全过。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成员三的 hybrid 是我们的工程亮点之一。它不在原图上改，Reason 看完原图后重写 scene_prompt，T2I 完全从零画。所以原图只用于推理，T2I 永远看不到。适用场景是 edit 做不了的整图变换，例如一束花分两束、白天变深夜、季节切换。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hybrid 真正的工程价值在这七层 scene_prompt 后处理。Reason Agent 给出的描述常常是一堆碎片，我们用七个函数依序打磨：碎片修复、元素完整性、视角锚点、风格锚点、人物年龄、光照行为、房间几何。它把 prompt 从碎句变成 T2I 能正确读懂的完整描述。这套机制有三十六个单元测试，全部通过。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成员四负责 Router 加集成。这里要特别澄清一个变化：Router 现在是 MLLM-only 设计，没有关键词降级。决策分四层：先校验 prompt 必填，再校验 mode 合法，再校验 manual override 的输入，无图直接 gen，剩下的统一交给 MLLM 分类器。错误只有两类，ValueError 是用户输入问题，RuntimeError 是 MLLM 或环境问题，所有消息以 router 冒号开头。六组单测共二十三个全部通过。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统一入口和 Demo。左边 pipeline 点 py 是 CLI，关键改动是单一 dash dash prompt 字段对所有 mode 通用，加 dash dash real-api 跑真实接口，不加就是 dry-run。右边 demo_gradio 点 py 是 Web UI，提供 Route 下拉、Prompt + 图像上传、real-api 开关，输出 before after 对比、推理链、VQA 面板和完整 JSON。两个表面共用同一个 router 和同一个 dataclass schema，行为完全一致。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接下来三页是真实 case 展示。第一个是 gen 通路：用户给一段描述性 prompt——草地上的红色罂粟、黄色雏菊和木风车。baseline 第一张图漏掉了黄色雏菊，VQA 打分零点八。Pipeline 自动拆出未满足的约束，生成 K 个候选 prompt，挑出最优的，第二轮直接到一点零，第三轮稳定在一点零。这就是 GenPilot 风格的优化循环。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第二个是 edit 通路：原图是大象松鼠在草地上，反事实指令问如果它们玩跷跷板会怎样。Reason Agent 推理出这是 causal 类，写出 edit_prompt 加保留对象列表，Qwen-Image 在原图上做无 mask 的指令编辑。VQA checklist 四比四全过，草地和天空的像素被很好地保留，只有跷跷板和大象松鼠的姿态局部改动。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第三个是 hybrid 通路，也是最能体现工程价值的一个。原图是一个白天的房间，指令问如果是深夜会是什么样。Router 自动判定 hybrid，Reason Agent 推断 reasoning_type 是 temporal。注意 T2I 完全不看原图，只看 Reason 重写的 scene_prompt。这段 prompt 经过七层后处理后达到两千五百七十一字符，覆盖光照、几何、家具位置、深夜氛围。最终 VQA 一点零。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数字总结一下。三条互补通路，一个统一入口加一个 Web Demo，五十九个单元测试零点零五秒全过，Router 是 MLLM-only 设计严格抛错。一句话收尾：零训练、三通路、一条命令；纯靠 MLLM Agent 编排加公开 API，同时覆盖描述失配和反事实编辑两类痛点，不微调一个权重，不自建一份数据。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最后看团队分工。我们四个人按基座、edit、hybrid、集成的顺序串行交付，每位的产出是下一位的输入。梁爽搭基座加 gen 通路；陈颖妍在地基之上做 edit 通路加 VQA refine 闭环；苏香广完成 hybrid 通路并实现七层后处理与三十六个单测；艾博显负责 Router、统一入口、Gradio Demo、二十三个 Router 单测、答辩文档与本套幻灯。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讲完了，谢谢老师同学聆听，欢迎提问。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22860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209800"/>
              <a:ext cx="12192000" cy="762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609600"/>
            <a:ext cx="10680382" cy="271462"/>
            <a:chOff x="762000" y="609600"/>
            <a:chExt cx="10680382" cy="271462"/>
          </a:xfrm>
        </p:grpSpPr>
        <p:sp>
          <p:nvSpPr>
            <p:cNvPr id="6" name="Rectangle 6"/>
            <p:cNvSpPr/>
            <p:nvPr/>
          </p:nvSpPr>
          <p:spPr>
            <a:xfrm>
              <a:off x="762000" y="609600"/>
              <a:ext cx="57150" cy="2095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9165" y="667702"/>
              <a:ext cx="24839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COURSE DEFENSE · JUNE 2026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42317" y="675799"/>
              <a:ext cx="6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975" dirty="0">
                <a:solidFill>
                  <a:srgbClr val="D97A2C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1257300"/>
            <a:ext cx="7641336" cy="1219200"/>
            <a:chOff x="685800" y="1257300"/>
            <a:chExt cx="7641336" cy="1219200"/>
          </a:xfrm>
        </p:grpSpPr>
        <p:sp>
          <p:nvSpPr>
            <p:cNvPr id="10" name="TextBox 10"/>
            <p:cNvSpPr txBox="1"/>
            <p:nvPr/>
          </p:nvSpPr>
          <p:spPr>
            <a:xfrm>
              <a:off x="685800" y="1257300"/>
              <a:ext cx="764133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ReasonGenPilot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1520" y="2788920"/>
            <a:ext cx="7648956" cy="1064047"/>
            <a:chOff x="731520" y="2788920"/>
            <a:chExt cx="7648956" cy="1064047"/>
          </a:xfrm>
        </p:grpSpPr>
        <p:sp>
          <p:nvSpPr>
            <p:cNvPr id="12" name="TextBox 12"/>
            <p:cNvSpPr txBox="1"/>
            <p:nvPr/>
          </p:nvSpPr>
          <p:spPr>
            <a:xfrm>
              <a:off x="731520" y="2788920"/>
              <a:ext cx="501396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A Training-Free Agent for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520" y="3188970"/>
              <a:ext cx="76489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Image Generation &amp; Hypothetical Editing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3645218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7A7F8C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1045" y="4095750"/>
            <a:ext cx="10688955" cy="950119"/>
            <a:chOff x="741045" y="4095750"/>
            <a:chExt cx="10688955" cy="950119"/>
          </a:xfrm>
        </p:grpSpPr>
        <p:sp>
          <p:nvSpPr>
            <p:cNvPr id="16" name="Line 16"/>
            <p:cNvSpPr/>
            <p:nvPr/>
          </p:nvSpPr>
          <p:spPr>
            <a:xfrm>
              <a:off x="762000" y="4095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8665" y="4306252"/>
              <a:ext cx="663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Arial"/>
                  <a:ea typeface="Microsoft YaHei"/>
                  <a:cs typeface="Arial"/>
                </a:rPr>
                <a:t>ROUTES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1045" y="4527232"/>
              <a:ext cx="26019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gen · edit · hybrid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4847749"/>
              <a:ext cx="28256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7F8C"/>
                  </a:solidFill>
                  <a:latin typeface="Arial"/>
                  <a:ea typeface="Microsoft YaHei"/>
                  <a:cs typeface="Arial"/>
                </a:rPr>
                <a:t>三条 pipeline 共享同一 result schema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751522" y="6578441"/>
              <a:ext cx="3303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Team of 4 · ReasonGenPilot · Course Defense 2026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98806" y="6578441"/>
              <a:ext cx="3274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01/16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7431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PROBLEM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66950" y="180975"/>
              <a:ext cx="21678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Background &amp; Goal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02/16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710" y="832485"/>
            <a:ext cx="7019249" cy="684371"/>
            <a:chOff x="727710" y="832485"/>
            <a:chExt cx="7019249" cy="684371"/>
          </a:xfrm>
        </p:grpSpPr>
        <p:sp>
          <p:nvSpPr>
            <p:cNvPr id="8" name="TextBox 8"/>
            <p:cNvSpPr txBox="1"/>
            <p:nvPr/>
          </p:nvSpPr>
          <p:spPr>
            <a:xfrm>
              <a:off x="727710" y="832485"/>
              <a:ext cx="70192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T2I 的两类失败 — 我们的一个目标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88256"/>
              <a:ext cx="52663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Two failure modes of off-the-shelf T2I models — one goal.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752600"/>
            <a:ext cx="5334000" cy="2667000"/>
            <a:chOff x="762000" y="1752600"/>
            <a:chExt cx="5334000" cy="26670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52600"/>
              <a:ext cx="53340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52600"/>
              <a:ext cx="57150" cy="26670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69181" y="2021681"/>
              <a:ext cx="242888" cy="242888"/>
              <a:chOff x="1069181" y="2021681"/>
              <a:chExt cx="242888" cy="24288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31106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9181" y="20216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202406"/>
                    </a:lnTo>
                    <a:cubicBezTo>
                      <a:pt x="242888" y="224763"/>
                      <a:pt x="224763" y="242888"/>
                      <a:pt x="202406" y="242888"/>
                    </a:cubicBezTo>
                    <a:lnTo>
                      <a:pt x="40481" y="242888"/>
                    </a:lnTo>
                    <a:cubicBezTo>
                      <a:pt x="18124" y="242888"/>
                      <a:pt x="0" y="224763"/>
                      <a:pt x="0" y="202406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69181" y="2117581"/>
                <a:ext cx="175419" cy="795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79519">
                    <a:moveTo>
                      <a:pt x="0" y="79519"/>
                    </a:moveTo>
                    <a:lnTo>
                      <a:pt x="67469" y="12050"/>
                    </a:lnTo>
                    <a:cubicBezTo>
                      <a:pt x="79991" y="0"/>
                      <a:pt x="95428" y="0"/>
                      <a:pt x="107950" y="12050"/>
                    </a:cubicBezTo>
                    <a:lnTo>
                      <a:pt x="175419" y="79519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17612" y="2144569"/>
                <a:ext cx="94456" cy="5253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52531">
                    <a:moveTo>
                      <a:pt x="0" y="25544"/>
                    </a:moveTo>
                    <a:lnTo>
                      <a:pt x="13494" y="12050"/>
                    </a:lnTo>
                    <a:cubicBezTo>
                      <a:pt x="26016" y="0"/>
                      <a:pt x="41453" y="0"/>
                      <a:pt x="53975" y="12050"/>
                    </a:cubicBezTo>
                    <a:lnTo>
                      <a:pt x="94456" y="52531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473518" y="2104549"/>
              <a:ext cx="6078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MODE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3935" y="2456498"/>
              <a:ext cx="41398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Descriptive misalignment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2508" y="2891314"/>
              <a:ext cx="38424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复杂 prompt 下：数错对象、漏色、空间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2508" y="3158014"/>
              <a:ext cx="30109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关系错位 — 描述与图像对不齐。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28700" y="3619500"/>
              <a:ext cx="4800600" cy="571500"/>
            </a:xfrm>
            <a:prstGeom prst="roundRect">
              <a:avLst>
                <a:gd name="adj" fmla="val 1000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69670" y="3750945"/>
              <a:ext cx="654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EXAMPLE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5860" y="3947160"/>
              <a:ext cx="3487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“six steamed buns on a round plate”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1752600"/>
            <a:ext cx="5143500" cy="2667000"/>
            <a:chOff x="6286500" y="1752600"/>
            <a:chExt cx="5143500" cy="26670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752600"/>
              <a:ext cx="5143500" cy="26670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752600"/>
              <a:ext cx="57150" cy="26670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593681" y="2021681"/>
              <a:ext cx="242888" cy="242888"/>
              <a:chOff x="6593681" y="2021681"/>
              <a:chExt cx="242888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715125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20669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82594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15125" y="20216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93681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20669" y="20216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98018" y="2104549"/>
              <a:ext cx="6078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MODE 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8435" y="2456498"/>
              <a:ext cx="427505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Hypothetical instructions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37008" y="2891314"/>
              <a:ext cx="34004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反事实指令需要常识推理才能落地，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37008" y="3158014"/>
              <a:ext cx="31267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T2I 模型本身完全不具备此能力。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53200" y="3619500"/>
              <a:ext cx="4686300" cy="571500"/>
            </a:xfrm>
            <a:prstGeom prst="roundRect">
              <a:avLst>
                <a:gd name="adj" fmla="val 1000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94170" y="3750945"/>
              <a:ext cx="654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EXAMPLE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0360" y="3947160"/>
              <a:ext cx="30914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“what if the ice cubes melted?”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62000" y="4724400"/>
            <a:ext cx="10668000" cy="1409700"/>
            <a:chOff x="762000" y="4724400"/>
            <a:chExt cx="10668000" cy="1409700"/>
          </a:xfrm>
        </p:grpSpPr>
        <p:sp>
          <p:nvSpPr>
            <p:cNvPr id="43" name="Rectangle 43"/>
            <p:cNvSpPr/>
            <p:nvPr/>
          </p:nvSpPr>
          <p:spPr>
            <a:xfrm>
              <a:off x="762000" y="4724400"/>
              <a:ext cx="10668000" cy="1409700"/>
            </a:xfrm>
            <a:prstGeom prst="roundRect">
              <a:avLst>
                <a:gd name="adj" fmla="val 6757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6096000" y="491490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9525">
              <a:solidFill>
                <a:srgbClr val="D97A2C"/>
              </a:solidFill>
              <a:custDash>
                <a:ds d="300000" sp="400000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3470" y="5046345"/>
              <a:ext cx="5377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RESULT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1560" y="5147310"/>
              <a:ext cx="269140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VQA 1.0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0612" y="5765006"/>
              <a:ext cx="21924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4 个端到端 case 全部满分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5570" y="5046345"/>
              <a:ext cx="7327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OUR GOAL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52235" y="5275898"/>
              <a:ext cx="239892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Zero training.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2712" y="56507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MLLM Agent + 公开 API，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2712" y="5860256"/>
              <a:ext cx="3186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不微调、不自建数据，覆盖两类失败。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02/16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  <p:bldP spid="42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10191750"/>
            <a:chOff x="0" y="0"/>
            <a:chExt cx="12192000" cy="10191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4095750"/>
              <a:ext cx="12192000" cy="6096000"/>
            </a:xfrm>
            <a:prstGeom prst="rect">
              <a:avLst/>
            </a:prstGeom>
            <a:gradFill>
              <a:gsLst>
                <a:gs pos="0">
                  <a:srgbClr val="FFFFFF">
                    <a:alpha val="70000"/>
                  </a:srgbClr>
                </a:gs>
                <a:gs pos="100000">
                  <a:srgbClr val="F7F4E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618" y="237649"/>
              <a:ext cx="7938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66950" y="180975"/>
              <a:ext cx="2551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System Architecture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03/16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31144" y="883920"/>
            <a:ext cx="9129712" cy="651986"/>
            <a:chOff x="1531144" y="883920"/>
            <a:chExt cx="9129712" cy="651986"/>
          </a:xfrm>
        </p:grpSpPr>
        <p:sp>
          <p:nvSpPr>
            <p:cNvPr id="10" name="TextBox 10"/>
            <p:cNvSpPr txBox="1"/>
            <p:nvPr/>
          </p:nvSpPr>
          <p:spPr>
            <a:xfrm>
              <a:off x="2653894" y="883920"/>
              <a:ext cx="688421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Router → 三通路 → 统一返回 schema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31144" y="1307306"/>
              <a:ext cx="9129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Router fans the user input out to gen / edit / hybrid; all three converge on a unified result schema.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981200"/>
            <a:ext cx="2606135" cy="614362"/>
            <a:chOff x="762000" y="1981200"/>
            <a:chExt cx="2606135" cy="614362"/>
          </a:xfrm>
        </p:grpSpPr>
        <p:sp>
          <p:nvSpPr>
            <p:cNvPr id="13" name="Rectangle 13"/>
            <p:cNvSpPr/>
            <p:nvPr/>
          </p:nvSpPr>
          <p:spPr>
            <a:xfrm>
              <a:off x="762000" y="1981200"/>
              <a:ext cx="2095500" cy="609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0F2C4E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90600" y="2184400"/>
              <a:ext cx="228600" cy="203200"/>
              <a:chOff x="990600" y="2184400"/>
              <a:chExt cx="228600" cy="203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54100" y="22479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17600" y="23241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90600" y="2184400"/>
                <a:ext cx="2286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3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203200" y="0"/>
                    </a:lnTo>
                    <a:cubicBezTo>
                      <a:pt x="217228" y="0"/>
                      <a:pt x="228600" y="11372"/>
                      <a:pt x="228600" y="25400"/>
                    </a:cubicBezTo>
                    <a:lnTo>
                      <a:pt x="228600" y="177800"/>
                    </a:lnTo>
                    <a:cubicBezTo>
                      <a:pt x="228600" y="191828"/>
                      <a:pt x="217228" y="203200"/>
                      <a:pt x="203200" y="203200"/>
                    </a:cubicBezTo>
                    <a:lnTo>
                      <a:pt x="25400" y="203200"/>
                    </a:lnTo>
                    <a:cubicBezTo>
                      <a:pt x="11372" y="203200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41120" y="2188845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USER INPUT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39215" y="238220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prompt + optional image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57500" y="2286000"/>
            <a:ext cx="2143125" cy="1390650"/>
            <a:chOff x="2857500" y="2286000"/>
            <a:chExt cx="2143125" cy="1390650"/>
          </a:xfrm>
        </p:grpSpPr>
        <p:sp>
          <p:nvSpPr>
            <p:cNvPr id="21" name="Line 21"/>
            <p:cNvSpPr/>
            <p:nvPr/>
          </p:nvSpPr>
          <p:spPr>
            <a:xfrm>
              <a:off x="2857500" y="2286000"/>
              <a:ext cx="2143125" cy="1333500"/>
            </a:xfrm>
            <a:custGeom>
              <a:avLst/>
              <a:gdLst/>
              <a:ahLst/>
              <a:cxnLst/>
              <a:rect l="l" t="t" r="r" b="b"/>
              <a:pathLst>
                <a:path w="2143125" h="1333500">
                  <a:moveTo>
                    <a:pt x="0" y="0"/>
                  </a:moveTo>
                  <a:lnTo>
                    <a:pt x="2143125" y="1333500"/>
                  </a:lnTo>
                </a:path>
              </a:pathLst>
            </a:custGeom>
            <a:noFill/>
            <a:ln w="14288">
              <a:solidFill>
                <a:srgbClr val="7A7F8C"/>
              </a:solidFill>
              <a:prstDash val="dash"/>
            </a:ln>
          </p:spPr>
        </p:sp>
        <p:sp>
          <p:nvSpPr>
            <p:cNvPr id="22" name="Polygon 22"/>
            <p:cNvSpPr/>
            <p:nvPr/>
          </p:nvSpPr>
          <p:spPr>
            <a:xfrm>
              <a:off x="4895850" y="35623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47625" y="114300"/>
                  </a:lnTo>
                  <a:close/>
                </a:path>
              </a:pathLst>
            </a:custGeom>
            <a:solidFill>
              <a:srgbClr val="7A7F8C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4972050" y="2686050"/>
            <a:ext cx="2247900" cy="2247900"/>
            <a:chOff x="4972050" y="2686050"/>
            <a:chExt cx="2247900" cy="2247900"/>
          </a:xfrm>
        </p:grpSpPr>
        <p:sp>
          <p:nvSpPr>
            <p:cNvPr id="24" name="Ellipse 24"/>
            <p:cNvSpPr/>
            <p:nvPr/>
          </p:nvSpPr>
          <p:spPr>
            <a:xfrm>
              <a:off x="4972050" y="2686050"/>
              <a:ext cx="2247900" cy="22479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086350" y="2800350"/>
              <a:ext cx="2019300" cy="2019300"/>
            </a:xfrm>
            <a:prstGeom prst="ellipse">
              <a:avLst/>
            </a:prstGeom>
            <a:noFill/>
            <a:ln w="9525">
              <a:solidFill>
                <a:srgbClr val="D97A2C">
                  <a:alpha val="45000"/>
                </a:srgbClr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19700" y="2933700"/>
              <a:ext cx="1752600" cy="1752600"/>
            </a:xfrm>
            <a:prstGeom prst="ellipse">
              <a:avLst/>
            </a:prstGeom>
            <a:noFill/>
            <a:ln w="9525">
              <a:solidFill>
                <a:srgbClr val="F7F4EE">
                  <a:alpha val="35000"/>
                </a:srgbClr>
              </a:solidFill>
              <a:custDash>
                <a:ds d="300000" sp="400000"/>
              </a:custDash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843588" y="3176588"/>
              <a:ext cx="314324" cy="314324"/>
              <a:chOff x="5843588" y="3176588"/>
              <a:chExt cx="314324" cy="31432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843588" y="342106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88062" y="317658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4"/>
                      <a:pt x="15636" y="69850"/>
                      <a:pt x="34925" y="69850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965825" y="3211512"/>
                <a:ext cx="6985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44475">
                    <a:moveTo>
                      <a:pt x="69850" y="0"/>
                    </a:moveTo>
                    <a:cubicBezTo>
                      <a:pt x="50561" y="0"/>
                      <a:pt x="34925" y="15636"/>
                      <a:pt x="34925" y="34925"/>
                    </a:cubicBezTo>
                    <a:lnTo>
                      <a:pt x="34925" y="209550"/>
                    </a:lnTo>
                    <a:cubicBezTo>
                      <a:pt x="34925" y="228839"/>
                      <a:pt x="19289" y="244475"/>
                      <a:pt x="0" y="244475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703199" y="3650932"/>
              <a:ext cx="7856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MLLM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03086" y="3917632"/>
              <a:ext cx="9858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Router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21854" y="4292441"/>
              <a:ext cx="19482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prompts/router_system.txt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095500" y="3810000"/>
            <a:ext cx="8001000" cy="1571625"/>
            <a:chOff x="2095500" y="3810000"/>
            <a:chExt cx="8001000" cy="1571625"/>
          </a:xfrm>
        </p:grpSpPr>
        <p:sp>
          <p:nvSpPr>
            <p:cNvPr id="35" name="Line 35"/>
            <p:cNvSpPr/>
            <p:nvPr/>
          </p:nvSpPr>
          <p:spPr>
            <a:xfrm>
              <a:off x="2095500" y="3810000"/>
              <a:ext cx="4000500" cy="1476375"/>
            </a:xfrm>
            <a:custGeom>
              <a:avLst/>
              <a:gdLst/>
              <a:ahLst/>
              <a:cxnLst/>
              <a:rect l="l" t="t" r="r" b="b"/>
              <a:pathLst>
                <a:path w="4000500" h="1476375">
                  <a:moveTo>
                    <a:pt x="4000500" y="0"/>
                  </a:moveTo>
                  <a:lnTo>
                    <a:pt x="0" y="1476375"/>
                  </a:lnTo>
                </a:path>
              </a:pathLst>
            </a:custGeom>
            <a:noFill/>
            <a:ln w="19050">
              <a:solidFill>
                <a:srgbClr val="D97A2C"/>
              </a:solidFill>
              <a:custDash>
                <a:ds d="300000" sp="300000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6096000" y="3810000"/>
              <a:ext cx="9525" cy="1571625"/>
            </a:xfrm>
            <a:custGeom>
              <a:avLst/>
              <a:gdLst/>
              <a:ahLst/>
              <a:cxnLst/>
              <a:rect l="l" t="t" r="r" b="b"/>
              <a:pathLst>
                <a:path w="9525" h="1571625">
                  <a:moveTo>
                    <a:pt x="0" y="0"/>
                  </a:moveTo>
                  <a:lnTo>
                    <a:pt x="0" y="1571625"/>
                  </a:lnTo>
                </a:path>
              </a:pathLst>
            </a:custGeom>
            <a:noFill/>
            <a:ln w="19050">
              <a:solidFill>
                <a:srgbClr val="D97A2C"/>
              </a:solidFill>
              <a:custDash>
                <a:ds d="300000" sp="300000"/>
              </a:custDash>
            </a:ln>
          </p:spPr>
        </p:sp>
        <p:sp>
          <p:nvSpPr>
            <p:cNvPr id="37" name="Line 37"/>
            <p:cNvSpPr/>
            <p:nvPr/>
          </p:nvSpPr>
          <p:spPr>
            <a:xfrm>
              <a:off x="6096000" y="3810000"/>
              <a:ext cx="4000500" cy="1476375"/>
            </a:xfrm>
            <a:custGeom>
              <a:avLst/>
              <a:gdLst/>
              <a:ahLst/>
              <a:cxnLst/>
              <a:rect l="l" t="t" r="r" b="b"/>
              <a:pathLst>
                <a:path w="4000500" h="1476375">
                  <a:moveTo>
                    <a:pt x="0" y="0"/>
                  </a:moveTo>
                  <a:lnTo>
                    <a:pt x="4000500" y="1476375"/>
                  </a:lnTo>
                </a:path>
              </a:pathLst>
            </a:custGeom>
            <a:noFill/>
            <a:ln w="19050">
              <a:solidFill>
                <a:srgbClr val="D97A2C"/>
              </a:solidFill>
              <a:custDash>
                <a:ds d="300000" sp="300000"/>
              </a:custDash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52500" y="5181600"/>
            <a:ext cx="2286000" cy="876300"/>
            <a:chOff x="952500" y="5181600"/>
            <a:chExt cx="2286000" cy="876300"/>
          </a:xfrm>
        </p:grpSpPr>
        <p:sp>
          <p:nvSpPr>
            <p:cNvPr id="39" name="Rectangle 39"/>
            <p:cNvSpPr/>
            <p:nvPr/>
          </p:nvSpPr>
          <p:spPr>
            <a:xfrm>
              <a:off x="952500" y="5181600"/>
              <a:ext cx="2286000" cy="876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0F2C4E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43000" y="5372100"/>
              <a:ext cx="495300" cy="4953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262062" y="550545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19050">
              <a:solidFill>
                <a:srgbClr val="F7F4E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733550" y="5381625"/>
              <a:ext cx="4671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gen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41170" y="5674995"/>
              <a:ext cx="9218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text → image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41170" y="5827395"/>
              <a:ext cx="11818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prompt 优化循环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953000" y="5181600"/>
            <a:ext cx="2286000" cy="876300"/>
            <a:chOff x="4953000" y="5181600"/>
            <a:chExt cx="2286000" cy="876300"/>
          </a:xfrm>
        </p:grpSpPr>
        <p:sp>
          <p:nvSpPr>
            <p:cNvPr id="46" name="Rectangle 46"/>
            <p:cNvSpPr/>
            <p:nvPr/>
          </p:nvSpPr>
          <p:spPr>
            <a:xfrm>
              <a:off x="4953000" y="5181600"/>
              <a:ext cx="2286000" cy="876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0F2C4E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5143500" y="5372100"/>
              <a:ext cx="495300" cy="4953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262562" y="5491162"/>
              <a:ext cx="257176" cy="257175"/>
              <a:chOff x="5262562" y="5491162"/>
              <a:chExt cx="257176" cy="2571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262562" y="54911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42862" y="257175"/>
                    </a:moveTo>
                    <a:lnTo>
                      <a:pt x="257175" y="42862"/>
                    </a:lnTo>
                    <a:lnTo>
                      <a:pt x="214312" y="0"/>
                    </a:lnTo>
                    <a:lnTo>
                      <a:pt x="0" y="214312"/>
                    </a:lnTo>
                    <a:lnTo>
                      <a:pt x="42862" y="257175"/>
                    </a:ln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434012" y="5534025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0"/>
                    </a:moveTo>
                    <a:lnTo>
                      <a:pt x="42862" y="42862"/>
                    </a:ln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319712" y="54911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0"/>
                    </a:moveTo>
                    <a:cubicBezTo>
                      <a:pt x="28575" y="15782"/>
                      <a:pt x="41368" y="28575"/>
                      <a:pt x="57150" y="28575"/>
                    </a:cubicBezTo>
                    <a:cubicBezTo>
                      <a:pt x="41368" y="28575"/>
                      <a:pt x="28575" y="41368"/>
                      <a:pt x="28575" y="57150"/>
                    </a:cubicBezTo>
                    <a:cubicBezTo>
                      <a:pt x="28575" y="41368"/>
                      <a:pt x="15782" y="28575"/>
                      <a:pt x="0" y="28575"/>
                    </a:cubicBezTo>
                    <a:cubicBezTo>
                      <a:pt x="15782" y="28575"/>
                      <a:pt x="28575" y="15782"/>
                      <a:pt x="28575" y="0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462588" y="56340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0"/>
                    </a:moveTo>
                    <a:cubicBezTo>
                      <a:pt x="28575" y="15782"/>
                      <a:pt x="41368" y="28575"/>
                      <a:pt x="57150" y="28575"/>
                    </a:cubicBezTo>
                    <a:cubicBezTo>
                      <a:pt x="41368" y="28575"/>
                      <a:pt x="28575" y="41368"/>
                      <a:pt x="28575" y="57150"/>
                    </a:cubicBezTo>
                    <a:cubicBezTo>
                      <a:pt x="28575" y="41368"/>
                      <a:pt x="15782" y="28575"/>
                      <a:pt x="0" y="28575"/>
                    </a:cubicBezTo>
                    <a:cubicBezTo>
                      <a:pt x="15782" y="28575"/>
                      <a:pt x="28575" y="15782"/>
                      <a:pt x="28575" y="0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734050" y="5381625"/>
              <a:ext cx="545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edit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41670" y="5674995"/>
              <a:ext cx="9144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局部指令编辑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41670" y="5827395"/>
              <a:ext cx="9144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保留原图像素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953500" y="5181600"/>
            <a:ext cx="2286000" cy="876300"/>
            <a:chOff x="8953500" y="5181600"/>
            <a:chExt cx="2286000" cy="876300"/>
          </a:xfrm>
        </p:grpSpPr>
        <p:sp>
          <p:nvSpPr>
            <p:cNvPr id="57" name="Rectangle 57"/>
            <p:cNvSpPr/>
            <p:nvPr/>
          </p:nvSpPr>
          <p:spPr>
            <a:xfrm>
              <a:off x="8953500" y="5181600"/>
              <a:ext cx="2286000" cy="876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0F2C4E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144000" y="5372100"/>
              <a:ext cx="495300" cy="4953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63062" y="5491162"/>
              <a:ext cx="257175" cy="257900"/>
              <a:chOff x="9263062" y="5491162"/>
              <a:chExt cx="257175" cy="2579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263062" y="5491162"/>
                <a:ext cx="257175" cy="2579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900">
                    <a:moveTo>
                      <a:pt x="128588" y="257175"/>
                    </a:moveTo>
                    <a:cubicBezTo>
                      <a:pt x="57571" y="257175"/>
                      <a:pt x="0" y="199604"/>
                      <a:pt x="0" y="128588"/>
                    </a:cubicBezTo>
                    <a:cubicBezTo>
                      <a:pt x="0" y="57571"/>
                      <a:pt x="57571" y="0"/>
                      <a:pt x="128588" y="0"/>
                    </a:cubicBezTo>
                    <a:cubicBezTo>
                      <a:pt x="199596" y="0"/>
                      <a:pt x="257175" y="51178"/>
                      <a:pt x="257175" y="114300"/>
                    </a:cubicBezTo>
                    <a:cubicBezTo>
                      <a:pt x="257175" y="129445"/>
                      <a:pt x="250403" y="143989"/>
                      <a:pt x="238344" y="154705"/>
                    </a:cubicBezTo>
                    <a:cubicBezTo>
                      <a:pt x="226285" y="165421"/>
                      <a:pt x="209926" y="171450"/>
                      <a:pt x="192881" y="171450"/>
                    </a:cubicBezTo>
                    <a:lnTo>
                      <a:pt x="157162" y="171450"/>
                    </a:lnTo>
                    <a:cubicBezTo>
                      <a:pt x="144047" y="171239"/>
                      <a:pt x="132472" y="179984"/>
                      <a:pt x="129092" y="192659"/>
                    </a:cubicBezTo>
                    <a:cubicBezTo>
                      <a:pt x="125712" y="205333"/>
                      <a:pt x="131396" y="218681"/>
                      <a:pt x="142875" y="225028"/>
                    </a:cubicBezTo>
                    <a:cubicBezTo>
                      <a:pt x="148724" y="230425"/>
                      <a:pt x="150485" y="238949"/>
                      <a:pt x="147252" y="246222"/>
                    </a:cubicBezTo>
                    <a:cubicBezTo>
                      <a:pt x="144020" y="253495"/>
                      <a:pt x="136513" y="257900"/>
                      <a:pt x="128588" y="257175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327356" y="558403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84506" y="5541169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441656" y="558403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734550" y="5381625"/>
              <a:ext cx="8311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hybrid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42170" y="5674995"/>
              <a:ext cx="6172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整图重绘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42170" y="5827395"/>
              <a:ext cx="1062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原图仅用于推理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953500" y="1981200"/>
            <a:ext cx="2286000" cy="1181100"/>
            <a:chOff x="8953500" y="1981200"/>
            <a:chExt cx="2286000" cy="1181100"/>
          </a:xfrm>
        </p:grpSpPr>
        <p:sp>
          <p:nvSpPr>
            <p:cNvPr id="68" name="Rectangle 68"/>
            <p:cNvSpPr/>
            <p:nvPr/>
          </p:nvSpPr>
          <p:spPr>
            <a:xfrm>
              <a:off x="8953500" y="1981200"/>
              <a:ext cx="2286000" cy="118110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0F2C4E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953500" y="1981200"/>
              <a:ext cx="2286000" cy="304800"/>
            </a:xfrm>
            <a:prstGeom prst="roundRect">
              <a:avLst>
                <a:gd name="adj" fmla="val 3125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94470" y="2093595"/>
              <a:ext cx="11383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UNIFIED SCHEMA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93518" y="2390299"/>
              <a:ext cx="910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final_image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93518" y="2580799"/>
              <a:ext cx="467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route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93518" y="2771299"/>
              <a:ext cx="1272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reasoning_chain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93518" y="2961799"/>
              <a:ext cx="17954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vqa_result · metadata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095500" y="2571750"/>
            <a:ext cx="9144000" cy="2609850"/>
            <a:chOff x="2095500" y="2571750"/>
            <a:chExt cx="9144000" cy="2609850"/>
          </a:xfrm>
        </p:grpSpPr>
        <p:sp>
          <p:nvSpPr>
            <p:cNvPr id="76" name="Freeform 76"/>
            <p:cNvSpPr/>
            <p:nvPr/>
          </p:nvSpPr>
          <p:spPr>
            <a:xfrm>
              <a:off x="2095500" y="2571750"/>
              <a:ext cx="6858000" cy="2609850"/>
            </a:xfrm>
            <a:custGeom>
              <a:avLst/>
              <a:gdLst/>
              <a:ahLst/>
              <a:cxnLst/>
              <a:rect l="l" t="t" r="r" b="b"/>
              <a:pathLst>
                <a:path w="6858000" h="2609850">
                  <a:moveTo>
                    <a:pt x="0" y="2609850"/>
                  </a:moveTo>
                  <a:cubicBezTo>
                    <a:pt x="127000" y="1695450"/>
                    <a:pt x="2413000" y="825500"/>
                    <a:pt x="6858000" y="0"/>
                  </a:cubicBezTo>
                </a:path>
              </a:pathLst>
            </a:custGeom>
            <a:noFill/>
            <a:ln w="9525">
              <a:solidFill>
                <a:srgbClr val="7A7F8C">
                  <a:alpha val="55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77" name="Freeform 77"/>
            <p:cNvSpPr/>
            <p:nvPr/>
          </p:nvSpPr>
          <p:spPr>
            <a:xfrm>
              <a:off x="6096000" y="2571750"/>
              <a:ext cx="2857500" cy="2609850"/>
            </a:xfrm>
            <a:custGeom>
              <a:avLst/>
              <a:gdLst/>
              <a:ahLst/>
              <a:cxnLst/>
              <a:rect l="l" t="t" r="r" b="b"/>
              <a:pathLst>
                <a:path w="2857500" h="2609850">
                  <a:moveTo>
                    <a:pt x="0" y="2609850"/>
                  </a:moveTo>
                  <a:cubicBezTo>
                    <a:pt x="0" y="1695450"/>
                    <a:pt x="952500" y="825500"/>
                    <a:pt x="2857500" y="0"/>
                  </a:cubicBezTo>
                </a:path>
              </a:pathLst>
            </a:custGeom>
            <a:noFill/>
            <a:ln w="9525">
              <a:solidFill>
                <a:srgbClr val="7A7F8C">
                  <a:alpha val="55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78" name="Freeform 78"/>
            <p:cNvSpPr/>
            <p:nvPr/>
          </p:nvSpPr>
          <p:spPr>
            <a:xfrm>
              <a:off x="10096500" y="3162300"/>
              <a:ext cx="1143000" cy="2019300"/>
            </a:xfrm>
            <a:custGeom>
              <a:avLst/>
              <a:gdLst/>
              <a:ahLst/>
              <a:cxnLst/>
              <a:rect l="l" t="t" r="r" b="b"/>
              <a:pathLst>
                <a:path w="1143000" h="2019300">
                  <a:moveTo>
                    <a:pt x="0" y="2019300"/>
                  </a:moveTo>
                  <a:cubicBezTo>
                    <a:pt x="0" y="1104900"/>
                    <a:pt x="381000" y="431800"/>
                    <a:pt x="1143000" y="0"/>
                  </a:cubicBezTo>
                </a:path>
              </a:pathLst>
            </a:custGeom>
            <a:noFill/>
            <a:ln w="9525">
              <a:solidFill>
                <a:srgbClr val="7A7F8C">
                  <a:alpha val="55000"/>
                </a:srgbClr>
              </a:solidFill>
              <a:custDash>
                <a:ds d="300000" sp="400000"/>
              </a:custDash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80" name="TextBox 80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03/16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3" grpId="0"/>
      <p:bldP spid="34" grpId="0"/>
      <p:bldP spid="38" grpId="0"/>
      <p:bldP spid="45" grpId="0"/>
      <p:bldP spid="56" grpId="0"/>
      <p:bldP spid="67" grpId="0"/>
      <p:bldP spid="75" grpId="0"/>
      <p:bldP spid="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7769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PIPELINES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66950" y="180975"/>
              <a:ext cx="34928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Three Complementary Routes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04/16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10204608" cy="651986"/>
            <a:chOff x="731520" y="845820"/>
            <a:chExt cx="10204608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908928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Routed by input shape · 改完后还需原图像素？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101884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Three routes share the unified `--prompt` field (gen: description; edit / hybrid: counterfactual instruction).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1714500"/>
            <a:ext cx="3429000" cy="4152900"/>
            <a:chOff x="762000" y="1714500"/>
            <a:chExt cx="3429000" cy="41529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14500"/>
              <a:ext cx="3429000" cy="41529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14500"/>
              <a:ext cx="342900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57400"/>
              <a:ext cx="342900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985838" y="1854200"/>
              <a:ext cx="188913" cy="177800"/>
            </a:xfrm>
            <a:custGeom>
              <a:avLst/>
              <a:gdLst/>
              <a:ahLst/>
              <a:cxnLst/>
              <a:rect l="l" t="t" r="r" b="b"/>
              <a:pathLst>
                <a:path w="188913" h="177800">
                  <a:moveTo>
                    <a:pt x="144463" y="155575"/>
                  </a:moveTo>
                  <a:cubicBezTo>
                    <a:pt x="156737" y="155575"/>
                    <a:pt x="166688" y="165525"/>
                    <a:pt x="166688" y="177800"/>
                  </a:cubicBezTo>
                  <a:cubicBezTo>
                    <a:pt x="166688" y="165525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5"/>
                    <a:pt x="166688" y="44450"/>
                  </a:cubicBezTo>
                  <a:cubicBezTo>
                    <a:pt x="166688" y="32175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1"/>
                    <a:pt x="96526" y="88900"/>
                    <a:pt x="133350" y="88900"/>
                  </a:cubicBezTo>
                  <a:cubicBezTo>
                    <a:pt x="96526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1"/>
                    <a:pt x="66675" y="155575"/>
                  </a:cubicBez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12545" y="1841182"/>
              <a:ext cx="5138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gen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122" y="2406491"/>
              <a:ext cx="3785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INPUT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6312" y="2621756"/>
              <a:ext cx="1291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仅文本 prompt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90600" y="29527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0122" y="3092291"/>
              <a:ext cx="364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GOAL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312" y="3326606"/>
              <a:ext cx="24060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优化 prompt，使得 T2I 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6312" y="3536156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与描述对齐。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90600" y="38671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0122" y="4006691"/>
              <a:ext cx="3928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LOOP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7265" y="4249102"/>
              <a:ext cx="20895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decompose → T2I baseline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7265" y="4439602"/>
              <a:ext cx="2332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→ K candidates → VQA select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90600" y="47625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0122" y="4902041"/>
              <a:ext cx="600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EXAMPLE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90600" y="5124450"/>
              <a:ext cx="2971800" cy="571500"/>
            </a:xfrm>
            <a:prstGeom prst="roundRect">
              <a:avLst>
                <a:gd name="adj" fmla="val 1000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9665" y="5239702"/>
              <a:ext cx="24449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“A grass field of red poppies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665" y="5430202"/>
              <a:ext cx="2262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beside a wooden windmill.”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381500" y="1714500"/>
            <a:ext cx="3429000" cy="4152900"/>
            <a:chOff x="4381500" y="1714500"/>
            <a:chExt cx="3429000" cy="4152900"/>
          </a:xfrm>
        </p:grpSpPr>
        <p:sp>
          <p:nvSpPr>
            <p:cNvPr id="32" name="Rectangle 32"/>
            <p:cNvSpPr/>
            <p:nvPr/>
          </p:nvSpPr>
          <p:spPr>
            <a:xfrm>
              <a:off x="4381500" y="1714500"/>
              <a:ext cx="3429000" cy="41529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81500" y="1714500"/>
              <a:ext cx="342900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81500" y="2057400"/>
              <a:ext cx="342900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605338" y="1843088"/>
              <a:ext cx="200025" cy="200025"/>
              <a:chOff x="4605338" y="1843088"/>
              <a:chExt cx="200025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605338" y="18430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33338" y="200025"/>
                    </a:moveTo>
                    <a:lnTo>
                      <a:pt x="200025" y="33338"/>
                    </a:lnTo>
                    <a:lnTo>
                      <a:pt x="166688" y="0"/>
                    </a:lnTo>
                    <a:lnTo>
                      <a:pt x="0" y="166688"/>
                    </a:lnTo>
                    <a:lnTo>
                      <a:pt x="33338" y="200025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738688" y="1876425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649788" y="18430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0"/>
                    </a:moveTo>
                    <a:cubicBezTo>
                      <a:pt x="22225" y="12275"/>
                      <a:pt x="32175" y="22225"/>
                      <a:pt x="44450" y="22225"/>
                    </a:cubicBezTo>
                    <a:cubicBezTo>
                      <a:pt x="32175" y="22225"/>
                      <a:pt x="22225" y="32175"/>
                      <a:pt x="22225" y="44450"/>
                    </a:cubicBezTo>
                    <a:cubicBezTo>
                      <a:pt x="22225" y="32175"/>
                      <a:pt x="12275" y="22225"/>
                      <a:pt x="0" y="22225"/>
                    </a:cubicBezTo>
                    <a:cubicBezTo>
                      <a:pt x="12275" y="22225"/>
                      <a:pt x="22225" y="12275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760912" y="19542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0"/>
                    </a:moveTo>
                    <a:cubicBezTo>
                      <a:pt x="22225" y="12275"/>
                      <a:pt x="32175" y="22225"/>
                      <a:pt x="44450" y="22225"/>
                    </a:cubicBezTo>
                    <a:cubicBezTo>
                      <a:pt x="32175" y="22225"/>
                      <a:pt x="22225" y="32175"/>
                      <a:pt x="22225" y="44450"/>
                    </a:cubicBezTo>
                    <a:cubicBezTo>
                      <a:pt x="22225" y="32175"/>
                      <a:pt x="12275" y="22225"/>
                      <a:pt x="0" y="22225"/>
                    </a:cubicBezTo>
                    <a:cubicBezTo>
                      <a:pt x="12275" y="22225"/>
                      <a:pt x="22225" y="12275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932045" y="1841182"/>
              <a:ext cx="599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edit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99622" y="2406491"/>
              <a:ext cx="3785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INPUT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95812" y="2621756"/>
              <a:ext cx="13565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图 + 反事实指令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4610100" y="29527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599622" y="3092291"/>
              <a:ext cx="364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GOAL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95812" y="3326606"/>
              <a:ext cx="1328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局部指令编辑，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95812" y="3536156"/>
              <a:ext cx="1700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尽量保留原图像素。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610100" y="38671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99622" y="4006691"/>
              <a:ext cx="3928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LOOP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96765" y="4249102"/>
              <a:ext cx="2202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Reason → Qwen-Image edit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96765" y="4439602"/>
              <a:ext cx="21936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→ VQA select → refine loop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610100" y="47625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99622" y="4902041"/>
              <a:ext cx="600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EXAMPLE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10100" y="5124450"/>
              <a:ext cx="2971800" cy="571500"/>
            </a:xfrm>
            <a:prstGeom prst="roundRect">
              <a:avLst>
                <a:gd name="adj" fmla="val 1000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9165" y="5239702"/>
              <a:ext cx="1898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“What if the ice cubes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5430202"/>
              <a:ext cx="780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melted?”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001000" y="1714500"/>
            <a:ext cx="3429000" cy="4152900"/>
            <a:chOff x="8001000" y="1714500"/>
            <a:chExt cx="3429000" cy="4152900"/>
          </a:xfrm>
        </p:grpSpPr>
        <p:sp>
          <p:nvSpPr>
            <p:cNvPr id="57" name="Rectangle 57"/>
            <p:cNvSpPr/>
            <p:nvPr/>
          </p:nvSpPr>
          <p:spPr>
            <a:xfrm>
              <a:off x="8001000" y="1714500"/>
              <a:ext cx="3429000" cy="4152900"/>
            </a:xfrm>
            <a:prstGeom prst="roundRect">
              <a:avLst>
                <a:gd name="adj" fmla="val 3333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01000" y="1714500"/>
              <a:ext cx="3429000" cy="457200"/>
            </a:xfrm>
            <a:prstGeom prst="roundRect">
              <a:avLst>
                <a:gd name="adj" fmla="val 25000"/>
              </a:avLst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01000" y="2057400"/>
              <a:ext cx="3429000" cy="1143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224838" y="1843088"/>
              <a:ext cx="200025" cy="200589"/>
              <a:chOff x="8224838" y="1843088"/>
              <a:chExt cx="200025" cy="20058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224838" y="1843088"/>
                <a:ext cx="200025" cy="200589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589">
                    <a:moveTo>
                      <a:pt x="100012" y="200025"/>
                    </a:move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2" y="0"/>
                      <a:pt x="200025" y="39805"/>
                      <a:pt x="200025" y="88900"/>
                    </a:cubicBezTo>
                    <a:cubicBezTo>
                      <a:pt x="200025" y="100679"/>
                      <a:pt x="194758" y="111992"/>
                      <a:pt x="185379" y="120326"/>
                    </a:cubicBezTo>
                    <a:cubicBezTo>
                      <a:pt x="176000" y="128661"/>
                      <a:pt x="163276" y="133350"/>
                      <a:pt x="150019" y="133350"/>
                    </a:cubicBezTo>
                    <a:lnTo>
                      <a:pt x="122238" y="133350"/>
                    </a:lnTo>
                    <a:cubicBezTo>
                      <a:pt x="112036" y="133186"/>
                      <a:pt x="103034" y="139988"/>
                      <a:pt x="100405" y="149846"/>
                    </a:cubicBezTo>
                    <a:cubicBezTo>
                      <a:pt x="97776" y="159703"/>
                      <a:pt x="102197" y="170085"/>
                      <a:pt x="111125" y="175022"/>
                    </a:cubicBezTo>
                    <a:cubicBezTo>
                      <a:pt x="115674" y="179220"/>
                      <a:pt x="117044" y="185849"/>
                      <a:pt x="114529" y="191506"/>
                    </a:cubicBezTo>
                    <a:cubicBezTo>
                      <a:pt x="112015" y="197163"/>
                      <a:pt x="106177" y="200589"/>
                      <a:pt x="100012" y="200025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4844" y="1915319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19294" y="1881981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63744" y="1915319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F7F4EE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551545" y="1841182"/>
              <a:ext cx="9143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hybrid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41412" y="1930241"/>
              <a:ext cx="1708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RECOMMENDED · 整图重绘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19122" y="2406491"/>
              <a:ext cx="3785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INPUT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15312" y="2621756"/>
              <a:ext cx="24710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图 + 反事实指令（整图变换）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229600" y="29527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7A7F8C">
                  <a:alpha val="55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19122" y="3092291"/>
              <a:ext cx="364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GOAL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15312" y="3326606"/>
              <a:ext cx="12730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T2I 从零重绘，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15312" y="3536156"/>
              <a:ext cx="20531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原图仅供 Reason 推理。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229600" y="38671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7A7F8C">
                  <a:alpha val="55000"/>
                </a:srgbClr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19122" y="4006691"/>
              <a:ext cx="3928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LOOP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16265" y="4249102"/>
              <a:ext cx="2696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Reason(hybrid) → scene_prompt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16265" y="4439602"/>
              <a:ext cx="20982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→ 7-layer fix → gen → VQA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8229600" y="47625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7A7F8C">
                  <a:alpha val="5500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19122" y="4902041"/>
              <a:ext cx="60017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EXAMPLE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29600" y="5124450"/>
              <a:ext cx="2971800" cy="571500"/>
            </a:xfrm>
            <a:prstGeom prst="roundRect">
              <a:avLst>
                <a:gd name="adj" fmla="val 10000"/>
              </a:avLst>
            </a:prstGeom>
            <a:solidFill>
              <a:srgbClr val="1A3A5E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368665" y="5239702"/>
              <a:ext cx="2288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“What if this bouquet split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68665" y="5430202"/>
              <a:ext cx="9281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into two?”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62000" y="6096000"/>
            <a:ext cx="10668000" cy="381000"/>
            <a:chOff x="762000" y="6096000"/>
            <a:chExt cx="10668000" cy="381000"/>
          </a:xfrm>
        </p:grpSpPr>
        <p:sp>
          <p:nvSpPr>
            <p:cNvPr id="83" name="Rectangle 83"/>
            <p:cNvSpPr/>
            <p:nvPr/>
          </p:nvSpPr>
          <p:spPr>
            <a:xfrm>
              <a:off x="762000" y="6096000"/>
              <a:ext cx="10668000" cy="381000"/>
            </a:xfrm>
            <a:prstGeom prst="roundRect">
              <a:avLst>
                <a:gd name="adj" fmla="val 1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40118" y="6238399"/>
              <a:ext cx="1089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ROUTING RULE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652712" y="6222206"/>
              <a:ext cx="6074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改完之后还需要原图像素吗？ </a:t>
              </a:r>
              <a:r>
                <a:rPr lang="zh-CN" sz="1125" b="1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Yes → edit · No → hybrid · No image → gen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51522" y="6673691"/>
            <a:ext cx="10743724" cy="167640"/>
            <a:chOff x="751522" y="6673691"/>
            <a:chExt cx="10743724" cy="167640"/>
          </a:xfrm>
        </p:grpSpPr>
        <p:sp>
          <p:nvSpPr>
            <p:cNvPr id="87" name="TextBox 87"/>
            <p:cNvSpPr txBox="1"/>
            <p:nvPr/>
          </p:nvSpPr>
          <p:spPr>
            <a:xfrm>
              <a:off x="751522" y="667369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33772" y="667369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04/16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1" grpId="0"/>
      <p:bldP spid="56" grpId="0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452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FOUNDATION · gen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28950" y="180975"/>
              <a:ext cx="2551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Member 1 — gen Route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05/16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9380525" cy="651986"/>
            <a:chOff x="731520" y="845820"/>
            <a:chExt cx="9380525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93805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基座 · 共用 schema · GenPilot 风格 prompt 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61486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MLLM / T2I clients · shared dataclasses · 5-step optimization loop.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0570" y="1712595"/>
            <a:ext cx="4773930" cy="3430905"/>
            <a:chOff x="750570" y="1712595"/>
            <a:chExt cx="4773930" cy="34309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712595"/>
              <a:ext cx="6859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MODULES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762000" y="1981200"/>
              <a:ext cx="4762500" cy="704850"/>
              <a:chOff x="762000" y="1981200"/>
              <a:chExt cx="4762500" cy="7048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981200"/>
                <a:ext cx="47625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981200"/>
                <a:ext cx="57150" cy="704850"/>
              </a:xfrm>
              <a:prstGeom prst="rect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016000" y="2197100"/>
                <a:ext cx="177800" cy="241300"/>
                <a:chOff x="1016000" y="2197100"/>
                <a:chExt cx="177800" cy="2413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028700" y="222250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104900" y="21971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66800" y="23241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43000" y="23241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16000" y="234950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143000" y="234950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066800" y="24003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79500" y="2273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30300" y="2273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376362" y="2164556"/>
                <a:ext cx="12767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Consolas"/>
                    <a:ea typeface="Microsoft YaHei"/>
                    <a:cs typeface="Consolas"/>
                  </a:rPr>
                  <a:t>api_client.py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378268" y="2428399"/>
                <a:ext cx="38076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OpenAI-兼容 MLLM — 文本 + 视觉，base64 + resize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62000" y="2800350"/>
              <a:ext cx="4762500" cy="704850"/>
              <a:chOff x="762000" y="2800350"/>
              <a:chExt cx="4762500" cy="7048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62000" y="2800350"/>
                <a:ext cx="47625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2000" y="2800350"/>
                <a:ext cx="57150" cy="704850"/>
              </a:xfrm>
              <a:prstGeom prst="rect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990600" y="3028950"/>
                <a:ext cx="228600" cy="228600"/>
                <a:chOff x="990600" y="3028950"/>
                <a:chExt cx="228600" cy="2286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143000" y="3092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27" y="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90600" y="30289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600" y="17058"/>
                        <a:pt x="228600" y="38100"/>
                      </a:cubicBezTo>
                      <a:lnTo>
                        <a:pt x="228600" y="190500"/>
                      </a:lnTo>
                      <a:cubicBezTo>
                        <a:pt x="228600" y="211542"/>
                        <a:pt x="211542" y="228600"/>
                        <a:pt x="190500" y="228600"/>
                      </a:cubicBezTo>
                      <a:lnTo>
                        <a:pt x="38100" y="228600"/>
                      </a:lnTo>
                      <a:cubicBezTo>
                        <a:pt x="17058" y="228600"/>
                        <a:pt x="0" y="211542"/>
                        <a:pt x="0" y="190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90600" y="3119209"/>
                  <a:ext cx="165100" cy="74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74841">
                      <a:moveTo>
                        <a:pt x="0" y="74841"/>
                      </a:moveTo>
                      <a:lnTo>
                        <a:pt x="63500" y="11341"/>
                      </a:lnTo>
                      <a:cubicBezTo>
                        <a:pt x="75286" y="0"/>
                        <a:pt x="89814" y="0"/>
                        <a:pt x="101600" y="11341"/>
                      </a:cubicBezTo>
                      <a:lnTo>
                        <a:pt x="165100" y="74841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130300" y="3144609"/>
                  <a:ext cx="88900" cy="4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49441">
                      <a:moveTo>
                        <a:pt x="0" y="24041"/>
                      </a:moveTo>
                      <a:lnTo>
                        <a:pt x="12700" y="11341"/>
                      </a:lnTo>
                      <a:cubicBezTo>
                        <a:pt x="24486" y="0"/>
                        <a:pt x="39014" y="0"/>
                        <a:pt x="50800" y="11341"/>
                      </a:cubicBezTo>
                      <a:lnTo>
                        <a:pt x="88900" y="49441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376362" y="2983706"/>
                <a:ext cx="12767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Consolas"/>
                    <a:ea typeface="Microsoft YaHei"/>
                    <a:cs typeface="Consolas"/>
                  </a:rPr>
                  <a:t>t2i_client.py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378268" y="3247549"/>
                <a:ext cx="34534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dry_run / dashscope / siliconflow / comfyui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62000" y="3619500"/>
              <a:ext cx="4762500" cy="704850"/>
              <a:chOff x="762000" y="3619500"/>
              <a:chExt cx="4762500" cy="7048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62000" y="3619500"/>
                <a:ext cx="47625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762000" y="3619500"/>
                <a:ext cx="57150" cy="704850"/>
              </a:xfrm>
              <a:prstGeom prst="rect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90600" y="3860800"/>
                <a:ext cx="2159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203200">
                    <a:moveTo>
                      <a:pt x="165100" y="177800"/>
                    </a:moveTo>
                    <a:cubicBezTo>
                      <a:pt x="179128" y="177800"/>
                      <a:pt x="190500" y="189172"/>
                      <a:pt x="190500" y="203200"/>
                    </a:cubicBezTo>
                    <a:cubicBezTo>
                      <a:pt x="190500" y="189172"/>
                      <a:pt x="201872" y="177800"/>
                      <a:pt x="215900" y="177800"/>
                    </a:cubicBezTo>
                    <a:cubicBezTo>
                      <a:pt x="201872" y="177800"/>
                      <a:pt x="190500" y="166428"/>
                      <a:pt x="190500" y="152400"/>
                    </a:cubicBezTo>
                    <a:cubicBezTo>
                      <a:pt x="190500" y="166428"/>
                      <a:pt x="179128" y="177800"/>
                      <a:pt x="165100" y="177800"/>
                    </a:cubicBezTo>
                    <a:moveTo>
                      <a:pt x="165100" y="25400"/>
                    </a:moveTo>
                    <a:cubicBezTo>
                      <a:pt x="179128" y="25400"/>
                      <a:pt x="190500" y="36772"/>
                      <a:pt x="190500" y="50800"/>
                    </a:cubicBezTo>
                    <a:cubicBezTo>
                      <a:pt x="190500" y="36772"/>
                      <a:pt x="201872" y="25400"/>
                      <a:pt x="215900" y="25400"/>
                    </a:cubicBezTo>
                    <a:cubicBezTo>
                      <a:pt x="201872" y="25400"/>
                      <a:pt x="190500" y="14028"/>
                      <a:pt x="190500" y="0"/>
                    </a:cubicBezTo>
                    <a:cubicBezTo>
                      <a:pt x="190500" y="14028"/>
                      <a:pt x="179128" y="25400"/>
                      <a:pt x="165100" y="25400"/>
                    </a:cubicBezTo>
                    <a:moveTo>
                      <a:pt x="76200" y="177800"/>
                    </a:moveTo>
                    <a:cubicBezTo>
                      <a:pt x="76200" y="135716"/>
                      <a:pt x="110316" y="101600"/>
                      <a:pt x="152400" y="101600"/>
                    </a:cubicBezTo>
                    <a:cubicBezTo>
                      <a:pt x="110316" y="101600"/>
                      <a:pt x="76200" y="67484"/>
                      <a:pt x="76200" y="25400"/>
                    </a:cubicBezTo>
                    <a:cubicBezTo>
                      <a:pt x="76200" y="67484"/>
                      <a:pt x="42084" y="101600"/>
                      <a:pt x="0" y="101600"/>
                    </a:cubicBezTo>
                    <a:cubicBezTo>
                      <a:pt x="42084" y="101600"/>
                      <a:pt x="76200" y="135716"/>
                      <a:pt x="76200" y="177800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376362" y="3802856"/>
                <a:ext cx="1491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Consolas"/>
                    <a:ea typeface="Microsoft YaHei"/>
                    <a:cs typeface="Consolas"/>
                  </a:rPr>
                  <a:t>gen_pipeline.py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378268" y="4066699"/>
                <a:ext cx="37190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decompose → baseline → candidates → VQA select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762000" y="4438650"/>
              <a:ext cx="4762500" cy="704850"/>
              <a:chOff x="762000" y="4438650"/>
              <a:chExt cx="4762500" cy="7048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62000" y="4438650"/>
                <a:ext cx="47625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62000" y="4438650"/>
                <a:ext cx="57150" cy="704850"/>
              </a:xfrm>
              <a:prstGeom prst="rect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003300" y="4667250"/>
                <a:ext cx="203200" cy="228600"/>
                <a:chOff x="1003300" y="4667250"/>
                <a:chExt cx="203200" cy="22860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03300" y="4667250"/>
                  <a:ext cx="203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200" y="59142"/>
                        <a:pt x="203200" y="38100"/>
                      </a:cubicBezTo>
                      <a:cubicBezTo>
                        <a:pt x="203200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003300" y="470535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003300" y="478155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376362" y="4622006"/>
                <a:ext cx="11402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Consolas"/>
                    <a:ea typeface="Microsoft YaHei"/>
                    <a:cs typeface="Consolas"/>
                  </a:rPr>
                  <a:t>schemas.py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378268" y="4885849"/>
                <a:ext cx="24634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共享 dataclass — 三通路全部继承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5894070" y="1712595"/>
            <a:ext cx="3505153" cy="3180874"/>
            <a:chOff x="5894070" y="1712595"/>
            <a:chExt cx="3505153" cy="3180874"/>
          </a:xfrm>
        </p:grpSpPr>
        <p:sp>
          <p:nvSpPr>
            <p:cNvPr id="53" name="TextBox 53"/>
            <p:cNvSpPr txBox="1"/>
            <p:nvPr/>
          </p:nvSpPr>
          <p:spPr>
            <a:xfrm>
              <a:off x="5894070" y="1712595"/>
              <a:ext cx="14816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OPTIMIZATION LOOP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924550" y="2038350"/>
              <a:ext cx="2597373" cy="416719"/>
              <a:chOff x="5924550" y="2038350"/>
              <a:chExt cx="2597373" cy="416719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5924550" y="2038350"/>
                <a:ext cx="342900" cy="342900"/>
              </a:xfrm>
              <a:prstGeom prst="ellipse">
                <a:avLst/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049556" y="2137410"/>
                <a:ext cx="928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1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385560" y="2042160"/>
                <a:ext cx="11018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Decompose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388418" y="2256949"/>
                <a:ext cx="21335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把 prompt 拆为可校验的约束</a:t>
                </a:r>
              </a:p>
            </p:txBody>
          </p:sp>
        </p:grpSp>
        <p:sp>
          <p:nvSpPr>
            <p:cNvPr id="59" name="Line 59"/>
            <p:cNvSpPr/>
            <p:nvPr/>
          </p:nvSpPr>
          <p:spPr>
            <a:xfrm>
              <a:off x="6096000" y="23812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rgbClr val="D97A2C"/>
              </a:solidFill>
              <a:custDash>
                <a:ds d="200000" sp="200000"/>
              </a:custDash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924550" y="2647950"/>
              <a:ext cx="2017872" cy="416719"/>
              <a:chOff x="5924550" y="2647950"/>
              <a:chExt cx="2017872" cy="416719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5924550" y="2647950"/>
                <a:ext cx="342900" cy="342900"/>
              </a:xfrm>
              <a:prstGeom prst="ellipse">
                <a:avLst/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023553" y="2747010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2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385560" y="2651760"/>
                <a:ext cx="8417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Baseline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388418" y="2866549"/>
                <a:ext cx="15540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用 T2I 出 baseline 图</a:t>
                </a:r>
              </a:p>
            </p:txBody>
          </p:sp>
        </p:grpSp>
        <p:sp>
          <p:nvSpPr>
            <p:cNvPr id="65" name="Line 65"/>
            <p:cNvSpPr/>
            <p:nvPr/>
          </p:nvSpPr>
          <p:spPr>
            <a:xfrm>
              <a:off x="6096000" y="29908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rgbClr val="D97A2C"/>
              </a:solidFill>
              <a:custDash>
                <a:ds d="200000" sp="200000"/>
              </a:custDash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5924550" y="3257550"/>
              <a:ext cx="2846880" cy="416719"/>
              <a:chOff x="5924550" y="3257550"/>
              <a:chExt cx="2846880" cy="416719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5924550" y="3257550"/>
                <a:ext cx="342900" cy="342900"/>
              </a:xfrm>
              <a:prstGeom prst="ellipse">
                <a:avLst/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023553" y="3356610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3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385560" y="3261360"/>
                <a:ext cx="12994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K candidates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388418" y="3476149"/>
                <a:ext cx="23830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生成 K 个候选 prompt，逐个 T2I</a:t>
                </a:r>
              </a:p>
            </p:txBody>
          </p:sp>
        </p:grpSp>
        <p:sp>
          <p:nvSpPr>
            <p:cNvPr id="71" name="Line 71"/>
            <p:cNvSpPr/>
            <p:nvPr/>
          </p:nvSpPr>
          <p:spPr>
            <a:xfrm>
              <a:off x="6096000" y="36004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rgbClr val="D97A2C"/>
              </a:solidFill>
              <a:custDash>
                <a:ds d="200000" sp="200000"/>
              </a:custDash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924550" y="3867150"/>
              <a:ext cx="2589324" cy="416719"/>
              <a:chOff x="5924550" y="3867150"/>
              <a:chExt cx="2589324" cy="416719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5924550" y="3867150"/>
                <a:ext cx="342900" cy="342900"/>
              </a:xfrm>
              <a:prstGeom prst="ellipse">
                <a:avLst/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6023553" y="3966210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4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385560" y="3870960"/>
                <a:ext cx="11122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VQA select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388418" y="4085749"/>
                <a:ext cx="21254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MLLM VQA 打分，保留最好的</a:t>
                </a:r>
              </a:p>
            </p:txBody>
          </p:sp>
        </p:grpSp>
        <p:sp>
          <p:nvSpPr>
            <p:cNvPr id="77" name="Line 77"/>
            <p:cNvSpPr/>
            <p:nvPr/>
          </p:nvSpPr>
          <p:spPr>
            <a:xfrm>
              <a:off x="6096000" y="42100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rgbClr val="D97A2C"/>
              </a:solidFill>
              <a:custDash>
                <a:ds d="200000" sp="200000"/>
              </a:custDash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5924550" y="4476750"/>
              <a:ext cx="3474673" cy="416719"/>
              <a:chOff x="5924550" y="4476750"/>
              <a:chExt cx="3474673" cy="416719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5924550" y="4476750"/>
                <a:ext cx="342900" cy="342900"/>
              </a:xfrm>
              <a:prstGeom prst="ellipse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023553" y="4575810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5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385560" y="4480560"/>
                <a:ext cx="13618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Update + loop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388418" y="4695349"/>
                <a:ext cx="30108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用最优 prompt 替换 current — 循环 N 轮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762000" y="5448300"/>
            <a:ext cx="10668000" cy="928688"/>
            <a:chOff x="762000" y="5448300"/>
            <a:chExt cx="10668000" cy="928688"/>
          </a:xfrm>
        </p:grpSpPr>
        <p:sp>
          <p:nvSpPr>
            <p:cNvPr id="84" name="Rectangle 84"/>
            <p:cNvSpPr/>
            <p:nvPr/>
          </p:nvSpPr>
          <p:spPr>
            <a:xfrm>
              <a:off x="762000" y="5448300"/>
              <a:ext cx="10668000" cy="762000"/>
            </a:xfrm>
            <a:prstGeom prst="roundRect">
              <a:avLst>
                <a:gd name="adj" fmla="val 125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1070" y="5617845"/>
              <a:ext cx="24255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CASE · POPPY + DAISY + WINDMILL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7260" y="5947410"/>
              <a:ext cx="7767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baseline 漏 “yellow daisies”，2 轮迭代后修复 · 真实 API（DashScope Qwen-Image）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65110" y="5685949"/>
              <a:ext cx="8867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D97A2C"/>
                  </a:solidFill>
                  <a:latin typeface="Georgia"/>
                  <a:ea typeface="SimSun"/>
                  <a:cs typeface="Georgia"/>
                </a:rPr>
                <a:t>VQA SCORE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23242" y="5858828"/>
              <a:ext cx="3048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5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0.8 → 1.0 → 1.0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90" name="TextBox 90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05/16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2" grpId="0"/>
      <p:bldP spid="83" grpId="0"/>
      <p:bldP spid="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647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REASON · EDIT · VQA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05200" y="180975"/>
              <a:ext cx="26879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Member 2 — edit Route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06/16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8631631" cy="651986"/>
            <a:chOff x="731520" y="845820"/>
            <a:chExt cx="8631631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863163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四类推理 + Qwen-Image 指令编辑 + VQA 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74209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Reasoning types aligned with Reason50K · 5-step pipeline · refine until threshold.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0570" y="1712595"/>
            <a:ext cx="9726930" cy="1202055"/>
            <a:chOff x="750570" y="1712595"/>
            <a:chExt cx="9726930" cy="120205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712595"/>
              <a:ext cx="12632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REASONING TYPES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62000" y="1981200"/>
              <a:ext cx="2286000" cy="933450"/>
              <a:chOff x="762000" y="1981200"/>
              <a:chExt cx="2286000" cy="9334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981200"/>
                <a:ext cx="2286000" cy="933450"/>
              </a:xfrm>
              <a:prstGeom prst="roundRect">
                <a:avLst>
                  <a:gd name="adj" fmla="val 10204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71550" y="2152650"/>
                <a:ext cx="228600" cy="228600"/>
                <a:chOff x="971550" y="2152650"/>
                <a:chExt cx="228600" cy="2286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71550" y="2152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73150" y="225425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103757" y="2216150"/>
                  <a:ext cx="32893" cy="32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93" h="32893">
                      <a:moveTo>
                        <a:pt x="0" y="32893"/>
                      </a:moveTo>
                      <a:lnTo>
                        <a:pt x="32893" y="0"/>
                      </a:ln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22350" y="22034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cubicBezTo>
                        <a:pt x="0" y="28430"/>
                        <a:pt x="28430" y="0"/>
                        <a:pt x="63500" y="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302068" y="2218849"/>
                <a:ext cx="7262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A7F8C"/>
                    </a:solidFill>
                    <a:latin typeface="Consolas"/>
                    <a:ea typeface="Microsoft YaHei"/>
                    <a:cs typeface="Consolas"/>
                  </a:rPr>
                  <a:t>PHYSICAL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6305" y="2483168"/>
                <a:ext cx="9704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物理变化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22020" y="2703195"/>
                <a:ext cx="15087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冰块融化、跷跷板倾斜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238500" y="1981200"/>
              <a:ext cx="2286000" cy="933450"/>
              <a:chOff x="3238500" y="1981200"/>
              <a:chExt cx="2286000" cy="9334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3238500" y="1981200"/>
                <a:ext cx="2286000" cy="933450"/>
              </a:xfrm>
              <a:prstGeom prst="roundRect">
                <a:avLst>
                  <a:gd name="adj" fmla="val 10204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448050" y="2152650"/>
                <a:ext cx="228600" cy="228600"/>
                <a:chOff x="3448050" y="2152650"/>
                <a:chExt cx="228600" cy="2286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3448050" y="2152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549650" y="225425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580257" y="2216150"/>
                  <a:ext cx="32893" cy="32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93" h="32893">
                      <a:moveTo>
                        <a:pt x="0" y="32893"/>
                      </a:moveTo>
                      <a:lnTo>
                        <a:pt x="32893" y="0"/>
                      </a:ln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498850" y="22034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cubicBezTo>
                        <a:pt x="0" y="28430"/>
                        <a:pt x="28430" y="0"/>
                        <a:pt x="63500" y="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778568" y="2218849"/>
                <a:ext cx="8360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A7F8C"/>
                    </a:solidFill>
                    <a:latin typeface="Consolas"/>
                    <a:ea typeface="Microsoft YaHei"/>
                    <a:cs typeface="Consolas"/>
                  </a:rPr>
                  <a:t>TEMPORAL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92805" y="2483168"/>
                <a:ext cx="9704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时间推进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398520" y="2703195"/>
                <a:ext cx="12115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白天变深夜、衰老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0" y="1981200"/>
              <a:ext cx="2286000" cy="933450"/>
              <a:chOff x="5715000" y="1981200"/>
              <a:chExt cx="2286000" cy="9334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0" y="1981200"/>
                <a:ext cx="2286000" cy="933450"/>
              </a:xfrm>
              <a:prstGeom prst="roundRect">
                <a:avLst>
                  <a:gd name="adj" fmla="val 10204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5924550" y="2152650"/>
                <a:ext cx="228600" cy="228600"/>
                <a:chOff x="5924550" y="2152650"/>
                <a:chExt cx="228600" cy="2286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5924550" y="2152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026150" y="225425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056757" y="2216150"/>
                  <a:ext cx="32893" cy="32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93" h="32893">
                      <a:moveTo>
                        <a:pt x="0" y="32893"/>
                      </a:moveTo>
                      <a:lnTo>
                        <a:pt x="32893" y="0"/>
                      </a:ln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975350" y="22034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cubicBezTo>
                        <a:pt x="0" y="28430"/>
                        <a:pt x="28430" y="0"/>
                        <a:pt x="63500" y="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6255068" y="2218849"/>
                <a:ext cx="5825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D97A2C"/>
                    </a:solidFill>
                    <a:latin typeface="Consolas"/>
                    <a:ea typeface="Microsoft YaHei"/>
                    <a:cs typeface="Consolas"/>
                  </a:rPr>
                  <a:t>CAUSAL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869305" y="2483168"/>
                <a:ext cx="9704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因果链条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875020" y="2703195"/>
                <a:ext cx="12115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6DFD3"/>
                    </a:solidFill>
                    <a:latin typeface="Segoe UI"/>
                    <a:ea typeface="Microsoft YaHei"/>
                    <a:cs typeface="Segoe UI"/>
                  </a:rPr>
                  <a:t>蜜蜂落花、跷跷板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191500" y="1981200"/>
              <a:ext cx="2286000" cy="933450"/>
              <a:chOff x="8191500" y="1981200"/>
              <a:chExt cx="2286000" cy="9334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8191500" y="1981200"/>
                <a:ext cx="2286000" cy="933450"/>
              </a:xfrm>
              <a:prstGeom prst="roundRect">
                <a:avLst>
                  <a:gd name="adj" fmla="val 10204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8401050" y="2152650"/>
                <a:ext cx="228600" cy="228600"/>
                <a:chOff x="8401050" y="2152650"/>
                <a:chExt cx="228600" cy="22860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8401050" y="2152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502650" y="225425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533257" y="2216150"/>
                  <a:ext cx="32893" cy="32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93" h="32893">
                      <a:moveTo>
                        <a:pt x="0" y="32893"/>
                      </a:moveTo>
                      <a:lnTo>
                        <a:pt x="32893" y="0"/>
                      </a:ln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8451850" y="22034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cubicBezTo>
                        <a:pt x="0" y="28430"/>
                        <a:pt x="28430" y="0"/>
                        <a:pt x="63500" y="0"/>
                      </a:cubicBezTo>
                    </a:path>
                  </a:pathLst>
                </a:custGeom>
                <a:noFill/>
                <a:ln w="19050">
                  <a:solidFill>
                    <a:srgbClr val="D97A2C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8731568" y="2218849"/>
                <a:ext cx="5233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A7F8C"/>
                    </a:solidFill>
                    <a:latin typeface="Consolas"/>
                    <a:ea typeface="Microsoft YaHei"/>
                    <a:cs typeface="Consolas"/>
                  </a:rPr>
                  <a:t>STORY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45805" y="2483168"/>
                <a:ext cx="97040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叙事推理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51520" y="2703195"/>
                <a:ext cx="9144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隐藏纹理浮现</a:t>
                </a:r>
              </a:p>
            </p:txBody>
          </p:sp>
        </p:grpSp>
      </p:grpSp>
      <p:grpSp>
        <p:nvGrpSpPr>
          <p:cNvPr id="103" name="Group 103"/>
          <p:cNvGrpSpPr/>
          <p:nvPr/>
        </p:nvGrpSpPr>
        <p:grpSpPr>
          <a:xfrm>
            <a:off x="750570" y="3122295"/>
            <a:ext cx="10679430" cy="2173605"/>
            <a:chOff x="750570" y="3122295"/>
            <a:chExt cx="10679430" cy="2173605"/>
          </a:xfrm>
        </p:grpSpPr>
        <p:sp>
          <p:nvSpPr>
            <p:cNvPr id="53" name="TextBox 53"/>
            <p:cNvSpPr txBox="1"/>
            <p:nvPr/>
          </p:nvSpPr>
          <p:spPr>
            <a:xfrm>
              <a:off x="750570" y="3122295"/>
              <a:ext cx="6313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PIPELINE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62000" y="3390900"/>
              <a:ext cx="2095500" cy="1905000"/>
              <a:chOff x="762000" y="3390900"/>
              <a:chExt cx="2095500" cy="1905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62000" y="3390900"/>
                <a:ext cx="209550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952500" y="3562350"/>
                <a:ext cx="381000" cy="381000"/>
              </a:xfrm>
              <a:prstGeom prst="ellipse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96556" y="3689985"/>
                <a:ext cx="928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1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470660" y="3699510"/>
                <a:ext cx="7169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Reason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40118" y="4180999"/>
                <a:ext cx="10469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Reason Agent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42022" y="4406741"/>
                <a:ext cx="77690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visual_cues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42022" y="4597241"/>
                <a:ext cx="14919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+ physics_implications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42022" y="4787741"/>
                <a:ext cx="130130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+ preserve_objects</a:t>
                </a:r>
              </a:p>
            </p:txBody>
          </p:sp>
        </p:grpSp>
        <p:sp>
          <p:nvSpPr>
            <p:cNvPr id="63" name="Line 63"/>
            <p:cNvSpPr/>
            <p:nvPr/>
          </p:nvSpPr>
          <p:spPr>
            <a:xfrm>
              <a:off x="2895600" y="43434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3028950" y="43053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3124200" y="3390900"/>
              <a:ext cx="2095500" cy="1905000"/>
              <a:chOff x="3124200" y="3390900"/>
              <a:chExt cx="2095500" cy="19050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3124200" y="3390900"/>
                <a:ext cx="209550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3314700" y="3562350"/>
                <a:ext cx="381000" cy="381000"/>
              </a:xfrm>
              <a:prstGeom prst="ellipse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3432753" y="3689985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2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3832860" y="3699510"/>
                <a:ext cx="78977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Finalize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3303270" y="4189095"/>
                <a:ext cx="15384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2C4E"/>
                    </a:solidFill>
                    <a:latin typeface="Consolas"/>
                    <a:ea typeface="Microsoft YaHei"/>
                    <a:cs typeface="Consolas"/>
                  </a:rPr>
                  <a:t>finalize_edit_prompt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3303270" y="4436745"/>
                <a:ext cx="9144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注入物理约束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3303270" y="4646295"/>
                <a:ext cx="10407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+ 保留对象列表</a:t>
                </a:r>
              </a:p>
            </p:txBody>
          </p:sp>
        </p:grpSp>
        <p:sp>
          <p:nvSpPr>
            <p:cNvPr id="73" name="Line 73"/>
            <p:cNvSpPr/>
            <p:nvPr/>
          </p:nvSpPr>
          <p:spPr>
            <a:xfrm>
              <a:off x="5257800" y="43434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5391150" y="43053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5486400" y="3390900"/>
              <a:ext cx="2095500" cy="1905000"/>
              <a:chOff x="5486400" y="3390900"/>
              <a:chExt cx="2095500" cy="19050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5486400" y="3390900"/>
                <a:ext cx="209550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5676900" y="3562350"/>
                <a:ext cx="381000" cy="381000"/>
              </a:xfrm>
              <a:prstGeom prst="ellipse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5794953" y="3689985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3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195060" y="3699510"/>
                <a:ext cx="4361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Edit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5664518" y="4180999"/>
                <a:ext cx="16586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Qwen-Image 指令编辑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5666422" y="4444841"/>
                <a:ext cx="52492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无 mask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5666422" y="4635341"/>
                <a:ext cx="845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image + text</a:t>
                </a:r>
              </a:p>
            </p:txBody>
          </p:sp>
        </p:grpSp>
        <p:sp>
          <p:nvSpPr>
            <p:cNvPr id="83" name="Line 83"/>
            <p:cNvSpPr/>
            <p:nvPr/>
          </p:nvSpPr>
          <p:spPr>
            <a:xfrm>
              <a:off x="7620000" y="43434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84" name="Polygon 84"/>
            <p:cNvSpPr/>
            <p:nvPr/>
          </p:nvSpPr>
          <p:spPr>
            <a:xfrm>
              <a:off x="7753350" y="43053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848600" y="3390900"/>
              <a:ext cx="2095500" cy="1905000"/>
              <a:chOff x="7848600" y="3390900"/>
              <a:chExt cx="2095500" cy="1905000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7848600" y="3390900"/>
                <a:ext cx="209550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8039100" y="3562350"/>
                <a:ext cx="381000" cy="381000"/>
              </a:xfrm>
              <a:prstGeom prst="ellipse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157153" y="3689985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4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557260" y="3699510"/>
                <a:ext cx="4153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VQA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026718" y="4180999"/>
                <a:ext cx="11998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K 候选 VQA 评分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028622" y="4444841"/>
                <a:ext cx="13489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checklist 清单式打分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028622" y="4635341"/>
                <a:ext cx="7019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A7F8C"/>
                    </a:solidFill>
                    <a:latin typeface="Segoe UI"/>
                    <a:ea typeface="Microsoft YaHei"/>
                    <a:cs typeface="Segoe UI"/>
                  </a:rPr>
                  <a:t>保留最好的</a:t>
                </a:r>
              </a:p>
            </p:txBody>
          </p:sp>
        </p:grpSp>
        <p:sp>
          <p:nvSpPr>
            <p:cNvPr id="93" name="Line 93"/>
            <p:cNvSpPr/>
            <p:nvPr/>
          </p:nvSpPr>
          <p:spPr>
            <a:xfrm>
              <a:off x="9982200" y="43434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94" name="Polygon 94"/>
            <p:cNvSpPr/>
            <p:nvPr/>
          </p:nvSpPr>
          <p:spPr>
            <a:xfrm>
              <a:off x="10115550" y="4305300"/>
              <a:ext cx="57150" cy="76200"/>
            </a:xfrm>
            <a:custGeom>
              <a:avLst/>
              <a:gdLst/>
              <a:ahLst/>
              <a:cxnLst/>
              <a:rect l="l" t="t" r="r" b="b"/>
              <a:pathLst>
                <a:path w="57150" h="76200">
                  <a:moveTo>
                    <a:pt x="5715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10210800" y="3390900"/>
              <a:ext cx="1219200" cy="1905000"/>
              <a:chOff x="10210800" y="3390900"/>
              <a:chExt cx="1219200" cy="190500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10210800" y="3390900"/>
                <a:ext cx="1219200" cy="1905000"/>
              </a:xfrm>
              <a:prstGeom prst="roundRect">
                <a:avLst>
                  <a:gd name="adj" fmla="val 7812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96" name="Ellipse 96"/>
              <p:cNvSpPr/>
              <p:nvPr/>
            </p:nvSpPr>
            <p:spPr>
              <a:xfrm>
                <a:off x="10401300" y="3562350"/>
                <a:ext cx="381000" cy="381000"/>
              </a:xfrm>
              <a:prstGeom prst="ellipse">
                <a:avLst/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0519353" y="3689985"/>
                <a:ext cx="144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5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10387965" y="4172902"/>
                <a:ext cx="5818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Refine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0389870" y="4455795"/>
                <a:ext cx="4686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6DFD3"/>
                    </a:solidFill>
                    <a:latin typeface="Segoe UI"/>
                    <a:ea typeface="Microsoft YaHei"/>
                    <a:cs typeface="Segoe UI"/>
                  </a:rPr>
                  <a:t>不达标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0389870" y="4646295"/>
                <a:ext cx="4463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6DFD3"/>
                    </a:solidFill>
                    <a:latin typeface="Segoe UI"/>
                    <a:ea typeface="Microsoft YaHei"/>
                    <a:cs typeface="Segoe UI"/>
                  </a:rPr>
                  <a:t>→ 重编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10390822" y="4902041"/>
                <a:ext cx="58621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D97A2C"/>
                    </a:solidFill>
                    <a:latin typeface="Segoe UI"/>
                    <a:ea typeface="Microsoft YaHei"/>
                    <a:cs typeface="Segoe UI"/>
                  </a:rPr>
                  <a:t>最少 2 轮</a:t>
                </a:r>
              </a:p>
            </p:txBody>
          </p:sp>
        </p:grpSp>
      </p:grpSp>
      <p:grpSp>
        <p:nvGrpSpPr>
          <p:cNvPr id="108" name="Group 108"/>
          <p:cNvGrpSpPr/>
          <p:nvPr/>
        </p:nvGrpSpPr>
        <p:grpSpPr>
          <a:xfrm>
            <a:off x="762000" y="5581650"/>
            <a:ext cx="10668000" cy="828675"/>
            <a:chOff x="762000" y="5581650"/>
            <a:chExt cx="10668000" cy="828675"/>
          </a:xfrm>
        </p:grpSpPr>
        <p:sp>
          <p:nvSpPr>
            <p:cNvPr id="104" name="Rectangle 104"/>
            <p:cNvSpPr/>
            <p:nvPr/>
          </p:nvSpPr>
          <p:spPr>
            <a:xfrm>
              <a:off x="762000" y="5581650"/>
              <a:ext cx="10668000" cy="704850"/>
            </a:xfrm>
            <a:prstGeom prst="roundRect">
              <a:avLst>
                <a:gd name="adj" fmla="val 13514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41070" y="5732145"/>
              <a:ext cx="2682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CASE · ELEPHANT + SQUIRREL SEESAW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38212" y="6012656"/>
              <a:ext cx="6287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reasoning_type = causal</a:t>
              </a:r>
              <a:r>
                <a:rPr lang="zh-CN" sz="112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 · VQA checklist </a:t>
              </a:r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4 / 4 passed</a:t>
              </a:r>
              <a:r>
                <a:rPr lang="zh-CN" sz="112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 · final score 1.0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396690" y="5739765"/>
              <a:ext cx="88472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30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1.0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109" name="TextBox 109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06/16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2" grpId="0"/>
      <p:bldP spid="103" grpId="0"/>
      <p:bldP spid="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148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FULL RE-PAINT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38450" y="180975"/>
              <a:ext cx="38023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Member 3 — hybrid Route (1 / 2)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07/16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9463735" cy="651986"/>
            <a:chOff x="731520" y="845820"/>
            <a:chExt cx="9463735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946373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Reason 重写场景 · T2I 从零重绘 · 原图仅用于推理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73744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When the change is too large to keep pixels — recompose the scene from scratch.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752600"/>
            <a:ext cx="10668000" cy="457200"/>
            <a:chOff x="762000" y="1752600"/>
            <a:chExt cx="10668000" cy="4572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52600"/>
              <a:ext cx="10668000" cy="4572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0618" y="1933099"/>
              <a:ext cx="844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DIMENSION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5355" y="1892618"/>
              <a:ext cx="490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edit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55355" y="1892618"/>
              <a:ext cx="7480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A2C"/>
                  </a:solidFill>
                  <a:latin typeface="Georgia"/>
                  <a:ea typeface="SimSun"/>
                  <a:cs typeface="Georgia"/>
                </a:rPr>
                <a:t>hybrid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191000" y="17526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7A7F8C">
                  <a:alpha val="4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810500" y="17526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7A7F8C">
                  <a:alpha val="40000"/>
                </a:srgb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62000" y="2209800"/>
            <a:ext cx="10668000" cy="828675"/>
            <a:chOff x="762000" y="2209800"/>
            <a:chExt cx="10668000" cy="828675"/>
          </a:xfrm>
        </p:grpSpPr>
        <p:sp>
          <p:nvSpPr>
            <p:cNvPr id="18" name="Rectangle 18"/>
            <p:cNvSpPr/>
            <p:nvPr/>
          </p:nvSpPr>
          <p:spPr>
            <a:xfrm>
              <a:off x="762000" y="2209800"/>
              <a:ext cx="10668000" cy="819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1570" y="2436495"/>
              <a:ext cx="8185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MECHANISM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9665" y="2648902"/>
              <a:ext cx="390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机制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7212" y="2412206"/>
              <a:ext cx="18580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image + edit_prompt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67212" y="2640806"/>
              <a:ext cx="864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→ Edit API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86712" y="2412206"/>
              <a:ext cx="13547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scene_prompt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86712" y="2640806"/>
              <a:ext cx="1876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→ T2I (无 image 输入)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" y="3028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191000" y="220980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810500" y="220980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62000" y="3028950"/>
            <a:ext cx="10668000" cy="828675"/>
            <a:chOff x="762000" y="3028950"/>
            <a:chExt cx="10668000" cy="828675"/>
          </a:xfrm>
        </p:grpSpPr>
        <p:sp>
          <p:nvSpPr>
            <p:cNvPr id="29" name="Rectangle 29"/>
            <p:cNvSpPr/>
            <p:nvPr/>
          </p:nvSpPr>
          <p:spPr>
            <a:xfrm>
              <a:off x="762000" y="3028950"/>
              <a:ext cx="10668000" cy="819150"/>
            </a:xfrm>
            <a:prstGeom prst="rect">
              <a:avLst/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1570" y="3255645"/>
              <a:ext cx="4987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PIXELS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665" y="3468052"/>
              <a:ext cx="11188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保留原像素？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407694" y="3264694"/>
              <a:ext cx="157162" cy="157162"/>
              <a:chOff x="4407694" y="3264694"/>
              <a:chExt cx="157162" cy="15716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407694" y="326469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3B7A5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460081" y="3325812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2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3B7A5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33912" y="3288506"/>
              <a:ext cx="350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B7A57"/>
                  </a:solidFill>
                  <a:latin typeface="Segoe UI"/>
                  <a:ea typeface="Microsoft YaHei"/>
                  <a:cs typeface="Segoe UI"/>
                </a:rPr>
                <a:t>Yes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69118" y="3571399"/>
              <a:ext cx="14976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尽可能保留 — 局部改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017719" y="3261793"/>
              <a:ext cx="176105" cy="151297"/>
              <a:chOff x="8017719" y="3261793"/>
              <a:chExt cx="176105" cy="15129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105775" y="33170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017719" y="32617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05775" y="337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3412" y="3288506"/>
              <a:ext cx="2431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No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88618" y="3571399"/>
              <a:ext cx="1658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从零重绘 — 像素不保留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3848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191000" y="30289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810500" y="30289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62000" y="3848100"/>
            <a:ext cx="10668000" cy="828675"/>
            <a:chOff x="762000" y="3848100"/>
            <a:chExt cx="10668000" cy="828675"/>
          </a:xfrm>
        </p:grpSpPr>
        <p:sp>
          <p:nvSpPr>
            <p:cNvPr id="47" name="Rectangle 47"/>
            <p:cNvSpPr/>
            <p:nvPr/>
          </p:nvSpPr>
          <p:spPr>
            <a:xfrm>
              <a:off x="762000" y="3848100"/>
              <a:ext cx="10668000" cy="819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31570" y="4074795"/>
              <a:ext cx="1161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 OUTPUT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9665" y="4287202"/>
              <a:ext cx="10459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Reason 输出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68165" y="4058602"/>
              <a:ext cx="1066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edit_prompt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8165" y="4287202"/>
              <a:ext cx="14655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+ target_objects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87665" y="4058602"/>
              <a:ext cx="1205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scene_prompt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88618" y="4295299"/>
              <a:ext cx="990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整段场景描述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62000" y="4667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4191000" y="384810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7810500" y="384810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762000" y="4667250"/>
            <a:ext cx="10668000" cy="819150"/>
            <a:chOff x="762000" y="4667250"/>
            <a:chExt cx="10668000" cy="819150"/>
          </a:xfrm>
        </p:grpSpPr>
        <p:sp>
          <p:nvSpPr>
            <p:cNvPr id="58" name="Rectangle 58"/>
            <p:cNvSpPr/>
            <p:nvPr/>
          </p:nvSpPr>
          <p:spPr>
            <a:xfrm>
              <a:off x="762000" y="4667250"/>
              <a:ext cx="10668000" cy="819150"/>
            </a:xfrm>
            <a:prstGeom prst="rect">
              <a:avLst/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31570" y="4893945"/>
              <a:ext cx="9745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TYPICAL CASE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9665" y="5106352"/>
              <a:ext cx="7547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典型场景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67212" y="4869656"/>
              <a:ext cx="1913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冰块融化 · 跷跷板倾斜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69118" y="5114449"/>
              <a:ext cx="11515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单对象局部变化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86712" y="4869656"/>
              <a:ext cx="2313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一束花分两束 · 白天 → 深夜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88618" y="5114449"/>
              <a:ext cx="1867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数量 / 全局 / 季节 / 重组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4191000" y="46672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7810500" y="466725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762000" y="2209800"/>
            <a:ext cx="10668000" cy="3276600"/>
            <a:chOff x="762000" y="2209800"/>
            <a:chExt cx="10668000" cy="3276600"/>
          </a:xfrm>
        </p:grpSpPr>
        <p:sp>
          <p:nvSpPr>
            <p:cNvPr id="68" name="Rectangle 68"/>
            <p:cNvSpPr/>
            <p:nvPr/>
          </p:nvSpPr>
          <p:spPr>
            <a:xfrm>
              <a:off x="762000" y="2209800"/>
              <a:ext cx="10668000" cy="3276600"/>
            </a:xfrm>
            <a:prstGeom prst="rect">
              <a:avLst/>
            </a:prstGeom>
            <a:noFill/>
            <a:ln w="9525">
              <a:solidFill>
                <a:srgbClr val="E6DFD3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762000" y="5753100"/>
            <a:ext cx="10668000" cy="476250"/>
            <a:chOff x="762000" y="5753100"/>
            <a:chExt cx="10668000" cy="476250"/>
          </a:xfrm>
        </p:grpSpPr>
        <p:sp>
          <p:nvSpPr>
            <p:cNvPr id="70" name="Rectangle 70"/>
            <p:cNvSpPr/>
            <p:nvPr/>
          </p:nvSpPr>
          <p:spPr>
            <a:xfrm>
              <a:off x="762000" y="5753100"/>
              <a:ext cx="10668000" cy="476250"/>
            </a:xfrm>
            <a:prstGeom prst="roundRect">
              <a:avLst>
                <a:gd name="adj" fmla="val 12000"/>
              </a:avLst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983456" y="5929312"/>
              <a:ext cx="185738" cy="123825"/>
              <a:chOff x="983456" y="5929312"/>
              <a:chExt cx="185738" cy="1238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1055688" y="59705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83456" y="5929312"/>
                <a:ext cx="185738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23825">
                    <a:moveTo>
                      <a:pt x="185738" y="61912"/>
                    </a:moveTo>
                    <a:cubicBezTo>
                      <a:pt x="160973" y="103188"/>
                      <a:pt x="130016" y="123825"/>
                      <a:pt x="92869" y="123825"/>
                    </a:cubicBezTo>
                    <a:cubicBezTo>
                      <a:pt x="55721" y="123825"/>
                      <a:pt x="24765" y="103188"/>
                      <a:pt x="0" y="61912"/>
                    </a:cubicBezTo>
                    <a:cubicBezTo>
                      <a:pt x="24765" y="20637"/>
                      <a:pt x="55721" y="0"/>
                      <a:pt x="92869" y="0"/>
                    </a:cubicBezTo>
                    <a:cubicBezTo>
                      <a:pt x="130016" y="0"/>
                      <a:pt x="160973" y="20637"/>
                      <a:pt x="185738" y="61912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300162" y="5926931"/>
              <a:ext cx="8173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Original image is used </a:t>
              </a:r>
              <a:r>
                <a:rPr lang="zh-CN" sz="1125" b="1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ONLY for reasoning</a:t>
              </a:r>
              <a:r>
                <a:rPr lang="zh-CN" sz="1125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. T2I never sees it — only the Reason Agent does.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76" name="TextBox 76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07/16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46" grpId="0"/>
      <p:bldP spid="57" grpId="0"/>
      <p:bldP spid="67" grpId="0"/>
      <p:bldP spid="69" grpId="0"/>
      <p:bldP spid="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647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QUALITY SAFEGUARDS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09950" y="180975"/>
              <a:ext cx="46939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Seven-Layer Post-Processing (hybrid)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08/16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8423605" cy="651986"/>
            <a:chOff x="731520" y="845820"/>
            <a:chExt cx="8423605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842360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scene_prompt 进 T2I 前 — 7 个函数依序执行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80617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In </a:t>
              </a:r>
              <a:r>
                <a:rPr lang="zh-CN" sz="112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reason/hybrid_pipeline.py</a:t>
              </a:r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 — fragment detection · anchor injection · geometry repair.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52600"/>
            <a:ext cx="2524125" cy="1714500"/>
            <a:chOff x="762000" y="1752600"/>
            <a:chExt cx="2524125" cy="17145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52600"/>
              <a:ext cx="2524125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14400" y="1847850"/>
              <a:ext cx="419100" cy="4191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1701" y="1978342"/>
              <a:ext cx="104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9222" y="2025491"/>
              <a:ext cx="6788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FRAGMENT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6308" y="2357914"/>
              <a:ext cx="9164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碎片修复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2975" y="2681288"/>
              <a:ext cx="115204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_validate_and_fix_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975" y="2814638"/>
              <a:ext cx="86106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scene_prompt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3046095"/>
              <a:ext cx="1233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从 visual_cues 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070" y="3217545"/>
              <a:ext cx="103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建碎片 prompt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76625" y="1752600"/>
            <a:ext cx="2524125" cy="1714500"/>
            <a:chOff x="3476625" y="1752600"/>
            <a:chExt cx="2524125" cy="1714500"/>
          </a:xfrm>
        </p:grpSpPr>
        <p:sp>
          <p:nvSpPr>
            <p:cNvPr id="21" name="Rectangle 21"/>
            <p:cNvSpPr/>
            <p:nvPr/>
          </p:nvSpPr>
          <p:spPr>
            <a:xfrm>
              <a:off x="3476625" y="1752600"/>
              <a:ext cx="2524125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629025" y="1847850"/>
              <a:ext cx="419100" cy="4191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57072" y="1978342"/>
              <a:ext cx="1630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13848" y="2025491"/>
              <a:ext cx="10220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COMPLETENESS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50932" y="2357914"/>
              <a:ext cx="11375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元素完整性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7600" y="2681288"/>
              <a:ext cx="13192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_ensure_instruction_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57600" y="2814638"/>
              <a:ext cx="5576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elements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5695" y="3046095"/>
              <a:ext cx="1062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重新注入指令命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5695" y="3217545"/>
              <a:ext cx="16424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名但 Reason 遗漏的对象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752600"/>
            <a:ext cx="2524125" cy="1714500"/>
            <a:chOff x="6191250" y="1752600"/>
            <a:chExt cx="2524125" cy="1714500"/>
          </a:xfrm>
        </p:grpSpPr>
        <p:sp>
          <p:nvSpPr>
            <p:cNvPr id="31" name="Rectangle 31"/>
            <p:cNvSpPr/>
            <p:nvPr/>
          </p:nvSpPr>
          <p:spPr>
            <a:xfrm>
              <a:off x="6191250" y="1752600"/>
              <a:ext cx="2524125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343650" y="1847850"/>
              <a:ext cx="419100" cy="4191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1697" y="1978342"/>
              <a:ext cx="1630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28472" y="2025491"/>
              <a:ext cx="8504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PERSPECTIVE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5558" y="2357914"/>
              <a:ext cx="9164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视角锚点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2225" y="2681288"/>
              <a:ext cx="128825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_inject_perspective_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2225" y="2814638"/>
              <a:ext cx="42767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anchor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0320" y="3046095"/>
              <a:ext cx="10852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锁定视点 + 空间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70320" y="3217545"/>
              <a:ext cx="6172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排布关系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05875" y="1752600"/>
            <a:ext cx="2524125" cy="1714500"/>
            <a:chOff x="8905875" y="1752600"/>
            <a:chExt cx="2524125" cy="1714500"/>
          </a:xfrm>
        </p:grpSpPr>
        <p:sp>
          <p:nvSpPr>
            <p:cNvPr id="41" name="Rectangle 41"/>
            <p:cNvSpPr/>
            <p:nvPr/>
          </p:nvSpPr>
          <p:spPr>
            <a:xfrm>
              <a:off x="8905875" y="1752600"/>
              <a:ext cx="2524125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058275" y="1847850"/>
              <a:ext cx="419100" cy="419100"/>
            </a:xfrm>
            <a:prstGeom prst="ellipse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86322" y="1978342"/>
              <a:ext cx="1630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3098" y="2025491"/>
              <a:ext cx="4142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STYLE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0182" y="2357914"/>
              <a:ext cx="9164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风格锚点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0" y="2681288"/>
              <a:ext cx="128825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_inject_style_anchor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4945" y="3046095"/>
              <a:ext cx="1062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注入风格线索；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84945" y="3217545"/>
              <a:ext cx="1508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变形场景自动跳过冲突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3619500"/>
            <a:ext cx="3371850" cy="1714500"/>
            <a:chOff x="762000" y="3619500"/>
            <a:chExt cx="3371850" cy="1714500"/>
          </a:xfrm>
        </p:grpSpPr>
        <p:sp>
          <p:nvSpPr>
            <p:cNvPr id="50" name="Rectangle 50"/>
            <p:cNvSpPr/>
            <p:nvPr/>
          </p:nvSpPr>
          <p:spPr>
            <a:xfrm>
              <a:off x="762000" y="3619500"/>
              <a:ext cx="3371850" cy="1714500"/>
            </a:xfrm>
            <a:prstGeom prst="roundRect">
              <a:avLst>
                <a:gd name="adj" fmla="val 5556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14400" y="3714750"/>
              <a:ext cx="419100" cy="4191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2447" y="3845242"/>
              <a:ext cx="1630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99222" y="3892391"/>
              <a:ext cx="15226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IDENTITY · PERSON AGE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308" y="4224814"/>
              <a:ext cx="13585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人物年龄锁定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2022" y="4540091"/>
              <a:ext cx="13013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_inject_person_age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0118" y="4790599"/>
              <a:ext cx="1795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锁定年龄段，防止随机换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0118" y="4981099"/>
              <a:ext cx="1014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为孩子 / 老人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324350" y="3619500"/>
            <a:ext cx="3371850" cy="1714500"/>
            <a:chOff x="4324350" y="3619500"/>
            <a:chExt cx="3371850" cy="1714500"/>
          </a:xfrm>
        </p:grpSpPr>
        <p:sp>
          <p:nvSpPr>
            <p:cNvPr id="59" name="Rectangle 59"/>
            <p:cNvSpPr/>
            <p:nvPr/>
          </p:nvSpPr>
          <p:spPr>
            <a:xfrm>
              <a:off x="4324350" y="3619500"/>
              <a:ext cx="3371850" cy="1714500"/>
            </a:xfrm>
            <a:prstGeom prst="roundRect">
              <a:avLst>
                <a:gd name="adj" fmla="val 5556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4476750" y="3714750"/>
              <a:ext cx="419100" cy="4191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04797" y="3845242"/>
              <a:ext cx="1630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61572" y="3892391"/>
              <a:ext cx="5787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LIGHTING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98658" y="4224814"/>
              <a:ext cx="9164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光照行为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04372" y="4540091"/>
              <a:ext cx="14988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_inject_light_behavior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02468" y="4790599"/>
              <a:ext cx="1360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光向 + 硬度 + 色温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502468" y="4981099"/>
              <a:ext cx="5076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一致性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886700" y="3619500"/>
            <a:ext cx="3543300" cy="1714500"/>
            <a:chOff x="7886700" y="3619500"/>
            <a:chExt cx="3543300" cy="1714500"/>
          </a:xfrm>
        </p:grpSpPr>
        <p:sp>
          <p:nvSpPr>
            <p:cNvPr id="68" name="Rectangle 68"/>
            <p:cNvSpPr/>
            <p:nvPr/>
          </p:nvSpPr>
          <p:spPr>
            <a:xfrm>
              <a:off x="7886700" y="3619500"/>
              <a:ext cx="3543300" cy="1714500"/>
            </a:xfrm>
            <a:prstGeom prst="roundRect">
              <a:avLst>
                <a:gd name="adj" fmla="val 5556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039100" y="3714750"/>
              <a:ext cx="419100" cy="4191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167147" y="3845242"/>
              <a:ext cx="1630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23922" y="3892391"/>
              <a:ext cx="7074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GEOMETRY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1008" y="4224814"/>
              <a:ext cx="9164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房间几何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6722" y="4540091"/>
              <a:ext cx="1580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_inject_room_geometry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64818" y="4790599"/>
              <a:ext cx="16827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窗位 / 地砖 / 结构锚点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5524500"/>
            <a:ext cx="10668000" cy="738188"/>
            <a:chOff x="762000" y="5524500"/>
            <a:chExt cx="10668000" cy="738188"/>
          </a:xfrm>
        </p:grpSpPr>
        <p:sp>
          <p:nvSpPr>
            <p:cNvPr id="76" name="Rectangle 76"/>
            <p:cNvSpPr/>
            <p:nvPr/>
          </p:nvSpPr>
          <p:spPr>
            <a:xfrm>
              <a:off x="762000" y="5524500"/>
              <a:ext cx="10668000" cy="704850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62000" y="5524500"/>
              <a:ext cx="57150" cy="7048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1168400" y="5753100"/>
              <a:ext cx="177800" cy="228600"/>
              <a:chOff x="1168400" y="5753100"/>
              <a:chExt cx="177800" cy="2286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1168400" y="5778500"/>
                <a:ext cx="177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200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200"/>
                      <a:pt x="25400" y="203200"/>
                    </a:cubicBezTo>
                    <a:lnTo>
                      <a:pt x="152400" y="203200"/>
                    </a:lnTo>
                    <a:cubicBezTo>
                      <a:pt x="166428" y="203200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219200" y="5753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219200" y="58674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219200" y="59182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512570" y="5732145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UNIT TESTS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506855" y="5988368"/>
              <a:ext cx="7768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36 / 36 passing</a:t>
              </a:r>
              <a:r>
                <a:rPr lang="zh-CN" sz="135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 · reason/test_hybrid_pipeline.py · runtime &lt; 0.05 s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75304" y="5694045"/>
              <a:ext cx="15756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FRAGMENT → T2I-READY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72827" y="5917882"/>
              <a:ext cx="25876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D97A2C"/>
                  </a:solidFill>
                  <a:latin typeface="Georgia"/>
                  <a:ea typeface="SimSun"/>
                  <a:cs typeface="Georgia"/>
                </a:rPr>
                <a:t>7 sequential gates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88" name="TextBox 88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08/16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30" grpId="0"/>
      <p:bldP spid="40" grpId="0"/>
      <p:bldP spid="49" grpId="0"/>
      <p:bldP spid="58" grpId="0"/>
      <p:bldP spid="67" grpId="0"/>
      <p:bldP spid="75" grpId="0"/>
      <p:bldP spid="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6051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MLLM-ONLY ROUTER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314700" y="180975"/>
              <a:ext cx="2266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Member 4 — Router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2845" y="245745"/>
              <a:ext cx="3943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09/16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7966471" cy="651986"/>
            <a:chOff x="731520" y="845820"/>
            <a:chExt cx="7966471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29799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MLLM 自动分三通路</a:t>
              </a:r>
              <a:endParaRPr lang="zh-CN" sz="2400" b="1" dirty="0">
                <a:solidFill>
                  <a:srgbClr val="D97A2C"/>
                </a:solidFill>
                <a:latin typeface="Georgia"/>
                <a:ea typeface="Microsoft YaHei"/>
                <a:cs typeface="Georgia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7950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Fail loud, not silent. No keyword fallback — MLLM unconfigured = explicit </a:t>
              </a:r>
              <a:r>
                <a:rPr lang="zh-CN" sz="112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RuntimeError</a:t>
              </a:r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0484" y="1712595"/>
            <a:ext cx="6889516" cy="3754755"/>
            <a:chOff x="730484" y="1712595"/>
            <a:chExt cx="6889516" cy="375475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712595"/>
              <a:ext cx="2706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DECISION FLOW (reason/router.py)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30484" y="1981200"/>
              <a:ext cx="6889516" cy="590550"/>
              <a:chOff x="730484" y="1981200"/>
              <a:chExt cx="6889516" cy="5905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981200"/>
                <a:ext cx="6858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1981200"/>
                <a:ext cx="7429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65565" y="2120741"/>
                <a:ext cx="53581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97A2C"/>
                    </a:solidFill>
                    <a:latin typeface="Segoe UI"/>
                    <a:ea typeface="Microsoft YaHei"/>
                    <a:cs typeface="Segoe UI"/>
                  </a:rPr>
                  <a:t>LEVEL 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30484" y="2300764"/>
                <a:ext cx="8059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prompt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681162" y="2107406"/>
                <a:ext cx="29344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Prompt is required (all modes)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84020" y="2341245"/>
                <a:ext cx="40273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空 prompt → </a:t>
                </a:r>
                <a:r>
                  <a:rPr lang="zh-CN" sz="900" dirty="0">
                    <a:solidFill>
                      <a:srgbClr val="D97A2C"/>
                    </a:solidFill>
                    <a:latin typeface="Consolas"/>
                    <a:ea typeface="Microsoft YaHei"/>
                    <a:cs typeface="Consolas"/>
                  </a:rPr>
                  <a:t>ValueError: router: prompt is required...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4191000" y="25717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7A7F8C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62000" y="2705100"/>
              <a:ext cx="6858000" cy="590550"/>
              <a:chOff x="762000" y="2705100"/>
              <a:chExt cx="6858000" cy="5905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2705100"/>
                <a:ext cx="6858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62000" y="2705100"/>
                <a:ext cx="7429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3443" y="2844641"/>
                <a:ext cx="5000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97A2C"/>
                    </a:solidFill>
                    <a:latin typeface="Segoe UI"/>
                    <a:ea typeface="Microsoft YaHei"/>
                    <a:cs typeface="Segoe UI"/>
                  </a:rPr>
                  <a:t>LEVEL 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2049" y="3024664"/>
                <a:ext cx="56285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mode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81162" y="2831306"/>
                <a:ext cx="12669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Mode validity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84020" y="3065145"/>
                <a:ext cx="36187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必须 ∈ {auto, gen, edit, hybrid}，否则 </a:t>
                </a:r>
                <a:r>
                  <a:rPr lang="zh-CN" sz="900" dirty="0">
                    <a:solidFill>
                      <a:srgbClr val="D97A2C"/>
                    </a:solidFill>
                    <a:latin typeface="Consolas"/>
                    <a:ea typeface="Microsoft YaHei"/>
                    <a:cs typeface="Consolas"/>
                  </a:rPr>
                  <a:t>ValueError</a:t>
                </a: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4191000" y="32956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7A7F8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62000" y="3429000"/>
              <a:ext cx="6858000" cy="590550"/>
              <a:chOff x="762000" y="3429000"/>
              <a:chExt cx="685800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62000" y="3429000"/>
                <a:ext cx="6858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62000" y="3429000"/>
                <a:ext cx="7429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65565" y="3568541"/>
                <a:ext cx="53581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97A2C"/>
                    </a:solidFill>
                    <a:latin typeface="Segoe UI"/>
                    <a:ea typeface="Microsoft YaHei"/>
                    <a:cs typeface="Segoe UI"/>
                  </a:rPr>
                  <a:t>LEVEL 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4353" y="3772852"/>
                <a:ext cx="6182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manual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681162" y="3555206"/>
                <a:ext cx="35390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Manual override — input compatibility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84020" y="3789045"/>
                <a:ext cx="34404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edit / hybrid 须传可读的 image，否则 </a:t>
                </a:r>
                <a:r>
                  <a:rPr lang="zh-CN" sz="900" dirty="0">
                    <a:solidFill>
                      <a:srgbClr val="D97A2C"/>
                    </a:solidFill>
                    <a:latin typeface="Consolas"/>
                    <a:ea typeface="Microsoft YaHei"/>
                    <a:cs typeface="Consolas"/>
                  </a:rPr>
                  <a:t>ValueError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4191000" y="40195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7A7F8C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62000" y="4152900"/>
              <a:ext cx="6858000" cy="590550"/>
              <a:chOff x="762000" y="4152900"/>
              <a:chExt cx="6858000" cy="5905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62000" y="4152900"/>
                <a:ext cx="6858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FFFFF"/>
              </a:solidFill>
              <a:ln w="9525">
                <a:solidFill>
                  <a:srgbClr val="E6DFD3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762000" y="4152900"/>
                <a:ext cx="7429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65565" y="4292441"/>
                <a:ext cx="53581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97A2C"/>
                    </a:solidFill>
                    <a:latin typeface="Segoe UI"/>
                    <a:ea typeface="Microsoft YaHei"/>
                    <a:cs typeface="Segoe UI"/>
                  </a:rPr>
                  <a:t>LEVEL 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9802" y="4496752"/>
                <a:ext cx="6273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struct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681162" y="4279106"/>
                <a:ext cx="26516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auto + 结构规则 (zero cost)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684020" y="4512945"/>
                <a:ext cx="19099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无图直接 → </a:t>
                </a:r>
                <a:r>
                  <a:rPr lang="zh-CN" sz="900" b="1" dirty="0">
                    <a:solidFill>
                      <a:srgbClr val="3B7A57"/>
                    </a:solidFill>
                    <a:latin typeface="Segoe UI"/>
                    <a:ea typeface="Microsoft YaHei"/>
                    <a:cs typeface="Segoe UI"/>
                  </a:rPr>
                  <a:t>gen</a:t>
                </a:r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，不调 MLLM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4191000" y="47434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7A7F8C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62000" y="4876800"/>
              <a:ext cx="6858000" cy="590550"/>
              <a:chOff x="762000" y="4876800"/>
              <a:chExt cx="6858000" cy="5905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62000" y="4876800"/>
                <a:ext cx="68580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0F2C4E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762000" y="4876800"/>
                <a:ext cx="7429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D97A2C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65565" y="5016341"/>
                <a:ext cx="53581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F2C4E"/>
                    </a:solidFill>
                    <a:latin typeface="Segoe UI"/>
                    <a:ea typeface="Microsoft YaHei"/>
                    <a:cs typeface="Segoe UI"/>
                  </a:rPr>
                  <a:t>LEVEL 4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83510" y="5220652"/>
                <a:ext cx="4999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2C4E"/>
                    </a:solidFill>
                    <a:latin typeface="Georgia"/>
                    <a:ea typeface="SimSun"/>
                    <a:cs typeface="Georgia"/>
                  </a:rPr>
                  <a:t>MLLM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681162" y="5003006"/>
                <a:ext cx="18325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7F4EE"/>
                    </a:solidFill>
                    <a:latin typeface="Georgia"/>
                    <a:ea typeface="SimSun"/>
                    <a:cs typeface="Georgia"/>
                  </a:rPr>
                  <a:t>auto + MLLM 分类器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684020" y="5236845"/>
                <a:ext cx="46068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6DFD3"/>
                    </a:solidFill>
                    <a:latin typeface="Segoe UI"/>
                    <a:ea typeface="Microsoft YaHei"/>
                    <a:cs typeface="Segoe UI"/>
                  </a:rPr>
                  <a:t>prompts/router_system.txt → 严格 JSON · 失败 → </a:t>
                </a:r>
                <a:r>
                  <a:rPr lang="zh-CN" sz="900" dirty="0">
                    <a:solidFill>
                      <a:srgbClr val="D97A2C"/>
                    </a:solidFill>
                    <a:latin typeface="Consolas"/>
                    <a:ea typeface="Microsoft YaHei"/>
                    <a:cs typeface="Consolas"/>
                  </a:rPr>
                  <a:t>RuntimeError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7886700" y="1981200"/>
            <a:ext cx="3543300" cy="1657350"/>
            <a:chOff x="7886700" y="1981200"/>
            <a:chExt cx="3543300" cy="1657350"/>
          </a:xfrm>
        </p:grpSpPr>
        <p:sp>
          <p:nvSpPr>
            <p:cNvPr id="52" name="Rectangle 52"/>
            <p:cNvSpPr/>
            <p:nvPr/>
          </p:nvSpPr>
          <p:spPr>
            <a:xfrm>
              <a:off x="7886700" y="1981200"/>
              <a:ext cx="3543300" cy="1657350"/>
            </a:xfrm>
            <a:prstGeom prst="roundRect">
              <a:avLst>
                <a:gd name="adj" fmla="val 5747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03870" y="2169795"/>
              <a:ext cx="1154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CORE QUESTION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96250" y="2466975"/>
              <a:ext cx="18583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改完之后还需要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6250" y="2752725"/>
              <a:ext cx="15982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原图像素吗？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115300" y="30861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D97A2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02918" y="3228499"/>
              <a:ext cx="18196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B7A57"/>
                  </a:solidFill>
                  <a:latin typeface="Segoe UI"/>
                  <a:ea typeface="Microsoft YaHei"/>
                  <a:cs typeface="Segoe UI"/>
                </a:rPr>
                <a:t>Yes</a:t>
              </a:r>
              <a:r>
                <a:rPr lang="zh-CN" sz="97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 → preserve via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edit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02918" y="3438049"/>
              <a:ext cx="1867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No</a:t>
              </a:r>
              <a:r>
                <a:rPr lang="zh-CN" sz="97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 → re-paint via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hybrid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86700" y="3771900"/>
            <a:ext cx="3543300" cy="1697831"/>
            <a:chOff x="7886700" y="3771900"/>
            <a:chExt cx="3543300" cy="1697831"/>
          </a:xfrm>
        </p:grpSpPr>
        <p:sp>
          <p:nvSpPr>
            <p:cNvPr id="60" name="Rectangle 60"/>
            <p:cNvSpPr/>
            <p:nvPr/>
          </p:nvSpPr>
          <p:spPr>
            <a:xfrm>
              <a:off x="7886700" y="3771900"/>
              <a:ext cx="3543300" cy="1695450"/>
            </a:xfrm>
            <a:prstGeom prst="roundRect">
              <a:avLst>
                <a:gd name="adj" fmla="val 5618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03870" y="3941445"/>
              <a:ext cx="14972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TWO ERROR CLASSES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15300" y="4210050"/>
              <a:ext cx="133350" cy="4191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0565" y="4306252"/>
              <a:ext cx="9822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ValueError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32470" y="4493895"/>
              <a:ext cx="1954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用户输入错误（请修改调用）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15300" y="4762500"/>
              <a:ext cx="133350" cy="4191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30565" y="4858702"/>
              <a:ext cx="12189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RuntimeError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32470" y="5046345"/>
              <a:ext cx="21105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环境 / MLLM 故障（请修部署）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04822" y="5302091"/>
              <a:ext cx="14443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所有信息 </a:t>
              </a:r>
              <a:r>
                <a:rPr lang="zh-CN" sz="82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router:</a:t>
              </a:r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 前缀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5715000"/>
            <a:ext cx="10668000" cy="609600"/>
            <a:chOff x="762000" y="5715000"/>
            <a:chExt cx="10668000" cy="609600"/>
          </a:xfrm>
        </p:grpSpPr>
        <p:sp>
          <p:nvSpPr>
            <p:cNvPr id="70" name="Rectangle 70"/>
            <p:cNvSpPr/>
            <p:nvPr/>
          </p:nvSpPr>
          <p:spPr>
            <a:xfrm>
              <a:off x="762000" y="5715000"/>
              <a:ext cx="10668000" cy="571500"/>
            </a:xfrm>
            <a:prstGeom prst="roundRect">
              <a:avLst>
                <a:gd name="adj" fmla="val 16667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1070" y="5846445"/>
              <a:ext cx="27844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UNIT TESTS · reason/test_router.py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0118" y="6085999"/>
              <a:ext cx="91519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6 类全部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mock</a:t>
              </a:r>
              <a:r>
                <a:rPr lang="zh-CN" sz="975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： PromptRequired · ModeValidity · ModeInputCompatibility · AutoStructural · MLLMPath · MLLMErrors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15246" y="5836920"/>
              <a:ext cx="14547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23 / 23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75" name="TextBox 75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364754" y="6578441"/>
              <a:ext cx="3614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09/16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1" grpId="0"/>
      <p:bldP spid="69" grpId="0"/>
      <p:bldP spid="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96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CLI · WEB UI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57450" y="180975"/>
              <a:ext cx="37033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Member 4 — Integration &amp; Demo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992" y="245745"/>
              <a:ext cx="357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10/16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8465210" cy="651986"/>
            <a:chOff x="731520" y="845820"/>
            <a:chExt cx="8465210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846521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一条命令 · 一个 Demo · 单一 </a:t>
              </a:r>
              <a:r>
                <a:rPr lang="zh-CN" sz="2400" b="1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--prompt</a:t>
              </a:r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 字段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83589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CLI &amp; Gradio share </a:t>
              </a:r>
              <a:r>
                <a:rPr lang="zh-CN" sz="112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router.route()</a:t>
              </a:r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 and the same dataclass schema — parity by construction.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1714500"/>
            <a:ext cx="5334000" cy="3962400"/>
            <a:chOff x="762000" y="1714500"/>
            <a:chExt cx="5334000" cy="39624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14500"/>
              <a:ext cx="5334000" cy="3962400"/>
            </a:xfrm>
            <a:prstGeom prst="roundRect">
              <a:avLst>
                <a:gd name="adj" fmla="val 2885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14500"/>
              <a:ext cx="533400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57400"/>
              <a:ext cx="533400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85838" y="1854200"/>
              <a:ext cx="200025" cy="177800"/>
              <a:chOff x="985838" y="1854200"/>
              <a:chExt cx="200025" cy="177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41400" y="1909762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96962" y="1976438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5838" y="1854200"/>
                <a:ext cx="2000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778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0" y="0"/>
                    </a:lnTo>
                    <a:cubicBezTo>
                      <a:pt x="190075" y="0"/>
                      <a:pt x="200025" y="9950"/>
                      <a:pt x="200025" y="22225"/>
                    </a:cubicBezTo>
                    <a:lnTo>
                      <a:pt x="200025" y="155575"/>
                    </a:lnTo>
                    <a:cubicBezTo>
                      <a:pt x="200025" y="167850"/>
                      <a:pt x="190075" y="177800"/>
                      <a:pt x="177800" y="177800"/>
                    </a:cubicBez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6355" y="1873568"/>
              <a:ext cx="12746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pipeline.py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2782" y="1930241"/>
              <a:ext cx="7431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UNIFIED CLI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0600" y="2400300"/>
              <a:ext cx="4876800" cy="1714500"/>
            </a:xfrm>
            <a:prstGeom prst="roundRect">
              <a:avLst>
                <a:gd name="adj" fmla="val 3333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68718" y="2542699"/>
              <a:ext cx="359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# auto — router decides; final JSON to stdout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68718" y="2771299"/>
              <a:ext cx="1731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$ python pipeline.py \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68718" y="2961799"/>
              <a:ext cx="12642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--image x.png \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8718" y="3152299"/>
              <a:ext cx="2576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--prompt </a:t>
              </a:r>
              <a:r>
                <a:rPr lang="zh-CN" sz="97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"如果冰块融化会怎样"</a:t>
              </a:r>
              <a:r>
                <a:rPr lang="zh-CN" sz="975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 \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68718" y="3342799"/>
              <a:ext cx="1127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--mode auto \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8718" y="3533299"/>
              <a:ext cx="829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7F4EE"/>
                  </a:solidFill>
                  <a:latin typeface="Consolas"/>
                  <a:ea typeface="Microsoft YaHei"/>
                  <a:cs typeface="Consolas"/>
                </a:rPr>
                <a:t>--real-api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69670" y="3865245"/>
              <a:ext cx="39902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# 单一 --prompt：gen 当描述 / edit·hybrid 当反事实指令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9170" y="4322445"/>
              <a:ext cx="6703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DISPATCH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8218" y="4542949"/>
              <a:ext cx="39524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router.route() → run_gen / run_edit / run_hybrid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4855845"/>
              <a:ext cx="20511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RETURN (shared dataclass)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8218" y="5076349"/>
              <a:ext cx="2970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final_image · route · reasoning_chain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8218" y="5285899"/>
              <a:ext cx="17954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vqa_result · metadata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5484495"/>
              <a:ext cx="37153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不带 </a:t>
              </a:r>
              <a:r>
                <a:rPr lang="zh-CN" sz="900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--real-api</a:t>
              </a:r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 即 dry-run — SVG 占位图，无 API 消耗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0" y="1714500"/>
            <a:ext cx="5143500" cy="3962400"/>
            <a:chOff x="6286500" y="1714500"/>
            <a:chExt cx="5143500" cy="3962400"/>
          </a:xfrm>
        </p:grpSpPr>
        <p:sp>
          <p:nvSpPr>
            <p:cNvPr id="35" name="Rectangle 35"/>
            <p:cNvSpPr/>
            <p:nvPr/>
          </p:nvSpPr>
          <p:spPr>
            <a:xfrm>
              <a:off x="6286500" y="1714500"/>
              <a:ext cx="5143500" cy="3962400"/>
            </a:xfrm>
            <a:prstGeom prst="roundRect">
              <a:avLst>
                <a:gd name="adj" fmla="val 2885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86500" y="1714500"/>
              <a:ext cx="5143500" cy="457200"/>
            </a:xfrm>
            <a:prstGeom prst="roundRect">
              <a:avLst>
                <a:gd name="adj" fmla="val 25000"/>
              </a:avLst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86500" y="2057400"/>
              <a:ext cx="5143500" cy="1143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510338" y="1854200"/>
              <a:ext cx="200025" cy="187325"/>
              <a:chOff x="6510338" y="1854200"/>
              <a:chExt cx="200025" cy="1873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10338" y="18542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21450" y="1854200"/>
                <a:ext cx="1778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55575" y="133350"/>
                    </a:lnTo>
                    <a:cubicBezTo>
                      <a:pt x="167850" y="133350"/>
                      <a:pt x="177800" y="123400"/>
                      <a:pt x="177800" y="11112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10350" y="19875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77012" y="2032000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65900" y="1898650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33338" y="11112"/>
                    </a:lnTo>
                    <a:lnTo>
                      <a:pt x="55562" y="33338"/>
                    </a:ln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840855" y="1873568"/>
              <a:ext cx="1824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demo_gradio.py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92255" y="1930241"/>
              <a:ext cx="9577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GRADIO WEB UI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03670" y="2417445"/>
              <a:ext cx="678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UI FIELDS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6515100" y="2628900"/>
              <a:ext cx="4686300" cy="381000"/>
              <a:chOff x="6515100" y="2628900"/>
              <a:chExt cx="4686300" cy="3810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515100" y="2628900"/>
                <a:ext cx="46863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7F4EE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6660356" y="2717006"/>
                <a:ext cx="185738" cy="185738"/>
                <a:chOff x="6660356" y="2717006"/>
                <a:chExt cx="185738" cy="185738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794500" y="2717006"/>
                  <a:ext cx="51594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4" h="51594">
                      <a:moveTo>
                        <a:pt x="0" y="0"/>
                      </a:moveTo>
                      <a:lnTo>
                        <a:pt x="51594" y="0"/>
                      </a:lnTo>
                      <a:lnTo>
                        <a:pt x="51594" y="51594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660356" y="2717006"/>
                  <a:ext cx="51594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4" h="51594">
                      <a:moveTo>
                        <a:pt x="51594" y="0"/>
                      </a:moveTo>
                      <a:lnTo>
                        <a:pt x="0" y="0"/>
                      </a:lnTo>
                      <a:lnTo>
                        <a:pt x="0" y="51594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753225" y="2717006"/>
                  <a:ext cx="92869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185738">
                      <a:moveTo>
                        <a:pt x="92869" y="0"/>
                      </a:moveTo>
                      <a:lnTo>
                        <a:pt x="15107" y="77762"/>
                      </a:lnTo>
                      <a:cubicBezTo>
                        <a:pt x="5437" y="87435"/>
                        <a:pt x="3" y="100551"/>
                        <a:pt x="0" y="114229"/>
                      </a:cubicBezTo>
                      <a:lnTo>
                        <a:pt x="0" y="185738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660356" y="2717006"/>
                  <a:ext cx="9286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69" h="123825">
                      <a:moveTo>
                        <a:pt x="0" y="0"/>
                      </a:moveTo>
                      <a:lnTo>
                        <a:pt x="77762" y="77762"/>
                      </a:lnTo>
                      <a:cubicBezTo>
                        <a:pt x="87432" y="87435"/>
                        <a:pt x="92866" y="100551"/>
                        <a:pt x="92869" y="114229"/>
                      </a:cubicBezTo>
                      <a:lnTo>
                        <a:pt x="92869" y="123825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6978015" y="2763202"/>
                <a:ext cx="32337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Route 下拉 — auto / gen / edit / hybrid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515100" y="3086100"/>
              <a:ext cx="4686300" cy="381000"/>
              <a:chOff x="6515100" y="3086100"/>
              <a:chExt cx="4686300" cy="3810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515100" y="3086100"/>
                <a:ext cx="46863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7F4EE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6670675" y="3188605"/>
                <a:ext cx="161020" cy="161020"/>
                <a:chOff x="6670675" y="3188605"/>
                <a:chExt cx="161020" cy="161020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6670675" y="3188605"/>
                  <a:ext cx="161020" cy="161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20" h="161020">
                      <a:moveTo>
                        <a:pt x="0" y="161020"/>
                      </a:moveTo>
                      <a:lnTo>
                        <a:pt x="41275" y="161020"/>
                      </a:lnTo>
                      <a:lnTo>
                        <a:pt x="149622" y="52673"/>
                      </a:lnTo>
                      <a:cubicBezTo>
                        <a:pt x="161020" y="41275"/>
                        <a:pt x="161020" y="22796"/>
                        <a:pt x="149622" y="11398"/>
                      </a:cubicBezTo>
                      <a:cubicBezTo>
                        <a:pt x="138224" y="0"/>
                        <a:pt x="119745" y="0"/>
                        <a:pt x="108347" y="11398"/>
                      </a:cubicBezTo>
                      <a:lnTo>
                        <a:pt x="0" y="119745"/>
                      </a:lnTo>
                      <a:lnTo>
                        <a:pt x="0" y="161020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768703" y="3210322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0"/>
                      </a:moveTo>
                      <a:lnTo>
                        <a:pt x="41275" y="41275"/>
                      </a:ln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6978015" y="3220402"/>
                <a:ext cx="29303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Prompt + 图像上传 · 无图直接走 gen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515100" y="3543300"/>
              <a:ext cx="4686300" cy="381000"/>
              <a:chOff x="6515100" y="3543300"/>
              <a:chExt cx="4686300" cy="3810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515100" y="3543300"/>
                <a:ext cx="46863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7F4EE"/>
              </a:solidFill>
              <a:ln>
                <a:noFill/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6650038" y="3662362"/>
                <a:ext cx="206375" cy="123825"/>
                <a:chOff x="6650038" y="3662362"/>
                <a:chExt cx="206375" cy="123825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773862" y="37036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650038" y="3662362"/>
                  <a:ext cx="20637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5" h="123825">
                      <a:moveTo>
                        <a:pt x="0" y="61912"/>
                      </a:moveTo>
                      <a:cubicBezTo>
                        <a:pt x="0" y="27719"/>
                        <a:pt x="27719" y="0"/>
                        <a:pt x="61912" y="0"/>
                      </a:cubicBezTo>
                      <a:lnTo>
                        <a:pt x="144463" y="0"/>
                      </a:lnTo>
                      <a:cubicBezTo>
                        <a:pt x="178656" y="0"/>
                        <a:pt x="206375" y="27719"/>
                        <a:pt x="206375" y="61912"/>
                      </a:cubicBezTo>
                      <a:cubicBezTo>
                        <a:pt x="206375" y="96106"/>
                        <a:pt x="178656" y="123825"/>
                        <a:pt x="144463" y="123825"/>
                      </a:cubicBezTo>
                      <a:lnTo>
                        <a:pt x="61912" y="123825"/>
                      </a:lnTo>
                      <a:cubicBezTo>
                        <a:pt x="27719" y="123825"/>
                        <a:pt x="0" y="96106"/>
                        <a:pt x="0" y="61912"/>
                      </a:cubicBezTo>
                    </a:path>
                  </a:pathLst>
                </a:custGeom>
                <a:noFill/>
                <a:ln w="19050">
                  <a:solidFill>
                    <a:srgbClr val="0F2C4E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978015" y="3677602"/>
                <a:ext cx="2826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“Use real API” 开关 · 关 = dry-run</a:t>
                </a:r>
              </a:p>
            </p:txBody>
          </p:sp>
        </p:grpSp>
        <p:sp>
          <p:nvSpPr>
            <p:cNvPr id="67" name="Line 67"/>
            <p:cNvSpPr/>
            <p:nvPr/>
          </p:nvSpPr>
          <p:spPr>
            <a:xfrm>
              <a:off x="6515100" y="40957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E6DFD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03670" y="4246245"/>
              <a:ext cx="8341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UI OUTPUTS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01765" y="4477702"/>
              <a:ext cx="2167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before / after 图像并排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01765" y="4687252"/>
              <a:ext cx="1612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推理链 + VQA 面板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01765" y="4896802"/>
              <a:ext cx="1604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· 完整 JSON viewer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515100" y="5181600"/>
              <a:ext cx="4686300" cy="381000"/>
            </a:xfrm>
            <a:prstGeom prst="roundRect">
              <a:avLst>
                <a:gd name="adj" fmla="val 1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12268" y="5304949"/>
              <a:ext cx="1940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→ http://127.0.0.1:7860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02228" y="5313045"/>
              <a:ext cx="8772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HTTP 200 OK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62000" y="5867400"/>
            <a:ext cx="10668000" cy="419100"/>
            <a:chOff x="762000" y="5867400"/>
            <a:chExt cx="10668000" cy="419100"/>
          </a:xfrm>
        </p:grpSpPr>
        <p:sp>
          <p:nvSpPr>
            <p:cNvPr id="76" name="Rectangle 76"/>
            <p:cNvSpPr/>
            <p:nvPr/>
          </p:nvSpPr>
          <p:spPr>
            <a:xfrm>
              <a:off x="762000" y="5867400"/>
              <a:ext cx="10668000" cy="419100"/>
            </a:xfrm>
            <a:prstGeom prst="roundRect">
              <a:avLst>
                <a:gd name="adj" fmla="val 13636"/>
              </a:avLst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985838" y="5976938"/>
              <a:ext cx="200025" cy="200025"/>
              <a:chOff x="985838" y="5976938"/>
              <a:chExt cx="200025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985838" y="59769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3B7A5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052512" y="60547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3B7A5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338262" y="6012656"/>
              <a:ext cx="79688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CLI &amp; Web UI 共享同一 </a:t>
              </a:r>
              <a:r>
                <a:rPr lang="zh-CN" sz="112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router.route()</a:t>
              </a:r>
              <a:r>
                <a:rPr lang="zh-CN" sz="1125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 与同一 dataclass schema —— </a:t>
              </a:r>
              <a:r>
                <a:rPr lang="zh-CN" sz="1125" b="1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parity by construction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82" name="TextBox 82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398806" y="6578441"/>
              <a:ext cx="3274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10/16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4" grpId="0"/>
      <p:bldP spid="75" grpId="0"/>
      <p:bldP spid="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309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SHOWCASE · gen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43200" y="180975"/>
              <a:ext cx="46320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Text → Image · Poppy + Daisy + Windmill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07140" y="245745"/>
              <a:ext cx="320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11/16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7092239" cy="651986"/>
            <a:chOff x="731520" y="845820"/>
            <a:chExt cx="7092239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709223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gen 通路实例 — prompt 优化两轮收敛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48484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Real API · DashScope Qwen-Image · VQA </a:t>
              </a:r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0.8 → 1.0 → 1.0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1714500"/>
            <a:ext cx="5143500" cy="4267200"/>
            <a:chOff x="762000" y="1714500"/>
            <a:chExt cx="5143500" cy="42672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14500"/>
              <a:ext cx="5143500" cy="42672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14500"/>
              <a:ext cx="5143500" cy="419100"/>
            </a:xfrm>
            <a:prstGeom prst="roundRect">
              <a:avLst>
                <a:gd name="adj" fmla="val 27273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19300"/>
              <a:ext cx="514350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81075" y="1847850"/>
              <a:ext cx="171450" cy="152400"/>
              <a:chOff x="981075" y="1847850"/>
              <a:chExt cx="171450" cy="152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28700" y="18954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76325" y="19526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1075" y="18478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33350"/>
                    </a:lnTo>
                    <a:cubicBezTo>
                      <a:pt x="171450" y="143871"/>
                      <a:pt x="162921" y="152400"/>
                      <a:pt x="15240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63968" y="1875949"/>
              <a:ext cx="1267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INPUT · PROMPT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90600" y="2362200"/>
              <a:ext cx="4686300" cy="762000"/>
            </a:xfrm>
            <a:prstGeom prst="roundRect">
              <a:avLst>
                <a:gd name="adj" fmla="val 750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2522" y="2482691"/>
              <a:ext cx="9076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USER PROMPT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8712" y="2697956"/>
              <a:ext cx="42726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“A grass field of red poppies and yellow daisies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8712" y="2888456"/>
              <a:ext cx="37711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beside a wooden windmill at golden hour.”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0122" y="3301841"/>
              <a:ext cx="12151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BASELINE (iter 0)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0600" y="3505200"/>
              <a:ext cx="4686300" cy="2324100"/>
            </a:xfrm>
            <a:prstGeom prst="roundRect">
              <a:avLst>
                <a:gd name="adj" fmla="val 2459"/>
              </a:avLst>
            </a:prstGeom>
            <a:noFill/>
            <a:ln w="14288">
              <a:solidFill>
                <a:srgbClr val="7A7F8C"/>
              </a:solidFill>
              <a:custDash>
                <a:ds d="400000" sp="266666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10414" y="4439602"/>
              <a:ext cx="1646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＜baseline image＞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0151" y="4703445"/>
              <a:ext cx="27271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data/output/gen/poppy/baseline.png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2987" y="4932045"/>
              <a:ext cx="30615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VQA 0.8 · baseline missed “yellow daisies”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18647" y="3587591"/>
            <a:ext cx="421405" cy="317659"/>
            <a:chOff x="6018647" y="3587591"/>
            <a:chExt cx="421405" cy="317659"/>
          </a:xfrm>
        </p:grpSpPr>
        <p:sp>
          <p:nvSpPr>
            <p:cNvPr id="29" name="Line 29"/>
            <p:cNvSpPr/>
            <p:nvPr/>
          </p:nvSpPr>
          <p:spPr>
            <a:xfrm>
              <a:off x="6096000" y="38481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D97A2C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286500" y="37909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8647" y="3587591"/>
              <a:ext cx="4214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2 ITER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53200" y="1714500"/>
            <a:ext cx="4876800" cy="4267200"/>
            <a:chOff x="6553200" y="1714500"/>
            <a:chExt cx="4876800" cy="4267200"/>
          </a:xfrm>
        </p:grpSpPr>
        <p:sp>
          <p:nvSpPr>
            <p:cNvPr id="33" name="Rectangle 33"/>
            <p:cNvSpPr/>
            <p:nvPr/>
          </p:nvSpPr>
          <p:spPr>
            <a:xfrm>
              <a:off x="6553200" y="1714500"/>
              <a:ext cx="4876800" cy="42672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9050">
              <a:solidFill>
                <a:srgbClr val="D97A2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53200" y="1714500"/>
              <a:ext cx="4876800" cy="419100"/>
            </a:xfrm>
            <a:prstGeom prst="roundRect">
              <a:avLst>
                <a:gd name="adj" fmla="val 27273"/>
              </a:avLst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53200" y="2019300"/>
              <a:ext cx="4876800" cy="1143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772275" y="1847850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123825" y="133350"/>
                  </a:moveTo>
                  <a:cubicBezTo>
                    <a:pt x="134346" y="133350"/>
                    <a:pt x="142875" y="141879"/>
                    <a:pt x="142875" y="152400"/>
                  </a:cubicBezTo>
                  <a:cubicBezTo>
                    <a:pt x="142875" y="141879"/>
                    <a:pt x="151404" y="133350"/>
                    <a:pt x="161925" y="133350"/>
                  </a:cubicBezTo>
                  <a:cubicBezTo>
                    <a:pt x="151404" y="133350"/>
                    <a:pt x="142875" y="124821"/>
                    <a:pt x="142875" y="114300"/>
                  </a:cubicBezTo>
                  <a:cubicBezTo>
                    <a:pt x="142875" y="124821"/>
                    <a:pt x="134346" y="133350"/>
                    <a:pt x="123825" y="133350"/>
                  </a:cubicBezTo>
                  <a:moveTo>
                    <a:pt x="123825" y="19050"/>
                  </a:moveTo>
                  <a:cubicBezTo>
                    <a:pt x="134346" y="19050"/>
                    <a:pt x="142875" y="27579"/>
                    <a:pt x="142875" y="38100"/>
                  </a:cubicBezTo>
                  <a:cubicBezTo>
                    <a:pt x="142875" y="27579"/>
                    <a:pt x="151404" y="19050"/>
                    <a:pt x="161925" y="19050"/>
                  </a:cubicBezTo>
                  <a:cubicBezTo>
                    <a:pt x="151404" y="19050"/>
                    <a:pt x="142875" y="10521"/>
                    <a:pt x="142875" y="0"/>
                  </a:cubicBezTo>
                  <a:cubicBezTo>
                    <a:pt x="142875" y="10521"/>
                    <a:pt x="134346" y="19050"/>
                    <a:pt x="123825" y="19050"/>
                  </a:cubicBezTo>
                  <a:moveTo>
                    <a:pt x="57150" y="133350"/>
                  </a:moveTo>
                  <a:cubicBezTo>
                    <a:pt x="57150" y="101787"/>
                    <a:pt x="82737" y="76200"/>
                    <a:pt x="114300" y="76200"/>
                  </a:cubicBezTo>
                  <a:cubicBezTo>
                    <a:pt x="82737" y="76200"/>
                    <a:pt x="57150" y="50613"/>
                    <a:pt x="57150" y="19050"/>
                  </a:cubicBezTo>
                  <a:cubicBezTo>
                    <a:pt x="57150" y="50613"/>
                    <a:pt x="31563" y="76200"/>
                    <a:pt x="0" y="76200"/>
                  </a:cubicBezTo>
                  <a:cubicBezTo>
                    <a:pt x="31563" y="76200"/>
                    <a:pt x="57150" y="101787"/>
                    <a:pt x="57150" y="133350"/>
                  </a:cubicBezTo>
                </a:path>
              </a:pathLst>
            </a:custGeom>
            <a:noFill/>
            <a:ln w="19050">
              <a:solidFill>
                <a:srgbClr val="0F2C4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55168" y="1875949"/>
              <a:ext cx="24502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OUTPUT · FINAL IMAGE (iter 2)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1800" y="2362200"/>
              <a:ext cx="4419600" cy="2971800"/>
            </a:xfrm>
            <a:prstGeom prst="roundRect">
              <a:avLst>
                <a:gd name="adj" fmla="val 1923"/>
              </a:avLst>
            </a:prstGeom>
            <a:noFill/>
            <a:ln w="14288">
              <a:solidFill>
                <a:srgbClr val="0F2C4E"/>
              </a:solidFill>
              <a:custDash>
                <a:ds d="400000" sp="266666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70349" y="3631406"/>
              <a:ext cx="14425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＜final image＞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50588" y="3884295"/>
              <a:ext cx="2482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data/output/gen/poppy/final.png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781800" y="5524500"/>
              <a:ext cx="4419600" cy="304800"/>
            </a:xfrm>
            <a:prstGeom prst="roundRect">
              <a:avLst>
                <a:gd name="adj" fmla="val 1875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21818" y="5609749"/>
              <a:ext cx="36144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VQA score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1.0 / 1.0</a:t>
              </a:r>
              <a:r>
                <a:rPr lang="zh-CN" sz="975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 · all constraints satisfied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751522" y="6578441"/>
              <a:ext cx="36100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 · Showcase 1 / 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432858" y="6578441"/>
              <a:ext cx="2933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11/16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3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360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SHOWCASE · edit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43200" y="180975"/>
              <a:ext cx="47186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Local Edit · Elephant + Squirrel Seesaw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992" y="245745"/>
              <a:ext cx="357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12/16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6935628" cy="651986"/>
            <a:chOff x="731520" y="845820"/>
            <a:chExt cx="6935628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688421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edit 通路实例 — 局部编辑保留原像素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69194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Real API · Qwen-Image instruction edit · reasoning_type = </a:t>
              </a:r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causal</a:t>
              </a:r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 · VQA </a:t>
              </a:r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4 / 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1714500"/>
            <a:ext cx="5143500" cy="4267200"/>
            <a:chOff x="762000" y="1714500"/>
            <a:chExt cx="5143500" cy="42672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14500"/>
              <a:ext cx="5143500" cy="42672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14500"/>
              <a:ext cx="5143500" cy="419100"/>
            </a:xfrm>
            <a:prstGeom prst="roundRect">
              <a:avLst>
                <a:gd name="adj" fmla="val 27273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19300"/>
              <a:ext cx="514350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81075" y="1838325"/>
              <a:ext cx="171450" cy="171450"/>
              <a:chOff x="981075" y="1838325"/>
              <a:chExt cx="171450" cy="1714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95375" y="188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81075" y="1838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1075" y="1906019"/>
                <a:ext cx="123825" cy="5613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56131">
                    <a:moveTo>
                      <a:pt x="0" y="56131"/>
                    </a:moveTo>
                    <a:lnTo>
                      <a:pt x="47625" y="8506"/>
                    </a:lnTo>
                    <a:cubicBezTo>
                      <a:pt x="56464" y="0"/>
                      <a:pt x="67361" y="0"/>
                      <a:pt x="76200" y="8506"/>
                    </a:cubicBezTo>
                    <a:lnTo>
                      <a:pt x="123825" y="56131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85850" y="1925069"/>
                <a:ext cx="66675" cy="370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7081">
                    <a:moveTo>
                      <a:pt x="0" y="18031"/>
                    </a:moveTo>
                    <a:lnTo>
                      <a:pt x="9525" y="8506"/>
                    </a:lnTo>
                    <a:cubicBezTo>
                      <a:pt x="18364" y="0"/>
                      <a:pt x="29261" y="0"/>
                      <a:pt x="38100" y="8506"/>
                    </a:cubicBezTo>
                    <a:lnTo>
                      <a:pt x="66675" y="37081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63968" y="1875949"/>
              <a:ext cx="22642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INPUT · IMAGE + INSTRUCTION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0600" y="2362200"/>
              <a:ext cx="4686300" cy="647700"/>
            </a:xfrm>
            <a:prstGeom prst="roundRect">
              <a:avLst>
                <a:gd name="adj" fmla="val 8824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2522" y="2482691"/>
              <a:ext cx="20160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COUNTERFACTUAL INSTRUCTION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8712" y="2717006"/>
              <a:ext cx="37618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“如果大象和松鼠在草地上玩跷跷板会怎样？”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0122" y="3187541"/>
              <a:ext cx="11579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REFERENCE IMAGE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0600" y="3390900"/>
              <a:ext cx="4686300" cy="2438400"/>
            </a:xfrm>
            <a:prstGeom prst="roundRect">
              <a:avLst>
                <a:gd name="adj" fmla="val 2344"/>
              </a:avLst>
            </a:prstGeom>
            <a:noFill/>
            <a:ln w="14288">
              <a:solidFill>
                <a:srgbClr val="7A7F8C"/>
              </a:solidFill>
              <a:custDash>
                <a:ds d="400000" sp="266666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28616" y="4382452"/>
              <a:ext cx="16102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＜original photo＞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8112" y="4646295"/>
              <a:ext cx="335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data/input/edit/elephant_squirrel_grass.png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59603" y="4893945"/>
              <a:ext cx="2348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elephant + squirrel + grass field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68591" y="3587591"/>
            <a:ext cx="521518" cy="529590"/>
            <a:chOff x="5968591" y="3587591"/>
            <a:chExt cx="521518" cy="529590"/>
          </a:xfrm>
        </p:grpSpPr>
        <p:sp>
          <p:nvSpPr>
            <p:cNvPr id="29" name="Line 29"/>
            <p:cNvSpPr/>
            <p:nvPr/>
          </p:nvSpPr>
          <p:spPr>
            <a:xfrm>
              <a:off x="6096000" y="38481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D97A2C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286500" y="37909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68591" y="3587591"/>
              <a:ext cx="5215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REASON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8647" y="3949541"/>
              <a:ext cx="4214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+ EDIT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53200" y="1714500"/>
            <a:ext cx="4876800" cy="4267200"/>
            <a:chOff x="6553200" y="1714500"/>
            <a:chExt cx="4876800" cy="4267200"/>
          </a:xfrm>
        </p:grpSpPr>
        <p:sp>
          <p:nvSpPr>
            <p:cNvPr id="34" name="Rectangle 34"/>
            <p:cNvSpPr/>
            <p:nvPr/>
          </p:nvSpPr>
          <p:spPr>
            <a:xfrm>
              <a:off x="6553200" y="1714500"/>
              <a:ext cx="4876800" cy="42672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9050">
              <a:solidFill>
                <a:srgbClr val="D97A2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53200" y="1714500"/>
              <a:ext cx="4876800" cy="419100"/>
            </a:xfrm>
            <a:prstGeom prst="roundRect">
              <a:avLst>
                <a:gd name="adj" fmla="val 27273"/>
              </a:avLst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53200" y="2019300"/>
              <a:ext cx="4876800" cy="1143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772275" y="1838325"/>
              <a:ext cx="171450" cy="171450"/>
              <a:chOff x="6772275" y="1838325"/>
              <a:chExt cx="171450" cy="1714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772275" y="1838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28575" y="171450"/>
                    </a:moveTo>
                    <a:lnTo>
                      <a:pt x="171450" y="28575"/>
                    </a:lnTo>
                    <a:lnTo>
                      <a:pt x="142875" y="0"/>
                    </a:lnTo>
                    <a:lnTo>
                      <a:pt x="0" y="142875"/>
                    </a:lnTo>
                    <a:lnTo>
                      <a:pt x="28575" y="171450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86575" y="18669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0"/>
                    </a:moveTo>
                    <a:lnTo>
                      <a:pt x="28575" y="28575"/>
                    </a:ln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10375" y="18383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0"/>
                    </a:moveTo>
                    <a:cubicBezTo>
                      <a:pt x="19050" y="10521"/>
                      <a:pt x="27579" y="19050"/>
                      <a:pt x="38100" y="19050"/>
                    </a:cubicBezTo>
                    <a:cubicBezTo>
                      <a:pt x="27579" y="19050"/>
                      <a:pt x="19050" y="27579"/>
                      <a:pt x="19050" y="38100"/>
                    </a:cubicBezTo>
                    <a:cubicBezTo>
                      <a:pt x="19050" y="27579"/>
                      <a:pt x="10521" y="19050"/>
                      <a:pt x="0" y="19050"/>
                    </a:cubicBezTo>
                    <a:cubicBezTo>
                      <a:pt x="10521" y="19050"/>
                      <a:pt x="19050" y="10521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05625" y="1933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0"/>
                    </a:moveTo>
                    <a:cubicBezTo>
                      <a:pt x="19050" y="10521"/>
                      <a:pt x="27579" y="19050"/>
                      <a:pt x="38100" y="19050"/>
                    </a:cubicBezTo>
                    <a:cubicBezTo>
                      <a:pt x="27579" y="19050"/>
                      <a:pt x="19050" y="27579"/>
                      <a:pt x="19050" y="38100"/>
                    </a:cubicBezTo>
                    <a:cubicBezTo>
                      <a:pt x="19050" y="27579"/>
                      <a:pt x="10521" y="19050"/>
                      <a:pt x="0" y="19050"/>
                    </a:cubicBezTo>
                    <a:cubicBezTo>
                      <a:pt x="10521" y="19050"/>
                      <a:pt x="19050" y="10521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055168" y="1875949"/>
              <a:ext cx="1833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OUTPUT · EDITED IMAGE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1800" y="2362200"/>
              <a:ext cx="4419600" cy="2971800"/>
            </a:xfrm>
            <a:prstGeom prst="roundRect">
              <a:avLst>
                <a:gd name="adj" fmla="val 1923"/>
              </a:avLst>
            </a:prstGeom>
            <a:noFill/>
            <a:ln w="14288">
              <a:solidFill>
                <a:srgbClr val="0F2C4E"/>
              </a:solidFill>
              <a:custDash>
                <a:ds d="400000" sp="266666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92339" y="3631406"/>
              <a:ext cx="15985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＜edited image＞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2578" y="3884295"/>
              <a:ext cx="26380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data/output/edit/seesaw/final.png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1800" y="5524500"/>
              <a:ext cx="4419600" cy="304800"/>
            </a:xfrm>
            <a:prstGeom prst="roundRect">
              <a:avLst>
                <a:gd name="adj" fmla="val 1875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21818" y="5609749"/>
              <a:ext cx="43790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checklist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4 / 4 passed</a:t>
              </a:r>
              <a:r>
                <a:rPr lang="zh-CN" sz="975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 · pixels of grass &amp; sky preserved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49" name="TextBox 49"/>
            <p:cNvSpPr txBox="1"/>
            <p:nvPr/>
          </p:nvSpPr>
          <p:spPr>
            <a:xfrm>
              <a:off x="751522" y="6578441"/>
              <a:ext cx="36440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 · Showcase 2 / 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98806" y="6578441"/>
              <a:ext cx="3274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12/16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33" grpId="0"/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SHOWCASE · hybrid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28950" y="180975"/>
              <a:ext cx="38271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Full Re-paint · Day → Night Room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992" y="245745"/>
              <a:ext cx="357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13/16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8236382" cy="651986"/>
            <a:chOff x="731520" y="845820"/>
            <a:chExt cx="8236382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82363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hybrid 通路实例 — 整图重绘 · 原图仅供推理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73837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auto → hybrid · reasoning_type = </a:t>
              </a:r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temporal</a:t>
              </a:r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 · scene_prompt 经 7 层后处理 · VQA </a:t>
              </a:r>
              <a:r>
                <a:rPr lang="zh-CN" sz="11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1.0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1714500"/>
            <a:ext cx="5143500" cy="4267200"/>
            <a:chOff x="762000" y="1714500"/>
            <a:chExt cx="5143500" cy="42672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14500"/>
              <a:ext cx="5143500" cy="42672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14500"/>
              <a:ext cx="5143500" cy="419100"/>
            </a:xfrm>
            <a:prstGeom prst="roundRect">
              <a:avLst>
                <a:gd name="adj" fmla="val 27273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19300"/>
              <a:ext cx="514350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81075" y="1838325"/>
              <a:ext cx="171450" cy="171450"/>
              <a:chOff x="981075" y="1838325"/>
              <a:chExt cx="171450" cy="1714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95375" y="188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81075" y="1838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1075" y="1906019"/>
                <a:ext cx="123825" cy="5613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56131">
                    <a:moveTo>
                      <a:pt x="0" y="56131"/>
                    </a:moveTo>
                    <a:lnTo>
                      <a:pt x="47625" y="8506"/>
                    </a:lnTo>
                    <a:cubicBezTo>
                      <a:pt x="56464" y="0"/>
                      <a:pt x="67361" y="0"/>
                      <a:pt x="76200" y="8506"/>
                    </a:cubicBezTo>
                    <a:lnTo>
                      <a:pt x="123825" y="56131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85850" y="1925069"/>
                <a:ext cx="66675" cy="370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7081">
                    <a:moveTo>
                      <a:pt x="0" y="18031"/>
                    </a:moveTo>
                    <a:lnTo>
                      <a:pt x="9525" y="8506"/>
                    </a:lnTo>
                    <a:cubicBezTo>
                      <a:pt x="18364" y="0"/>
                      <a:pt x="29261" y="0"/>
                      <a:pt x="38100" y="8506"/>
                    </a:cubicBezTo>
                    <a:lnTo>
                      <a:pt x="66675" y="37081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63968" y="1875949"/>
              <a:ext cx="22642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7F4EE"/>
                  </a:solidFill>
                  <a:latin typeface="Segoe UI"/>
                  <a:ea typeface="Microsoft YaHei"/>
                  <a:cs typeface="Segoe UI"/>
                </a:rPr>
                <a:t>INPUT · IMAGE + INSTRUCTION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0600" y="2362200"/>
              <a:ext cx="4686300" cy="647700"/>
            </a:xfrm>
            <a:prstGeom prst="roundRect">
              <a:avLst>
                <a:gd name="adj" fmla="val 8824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2522" y="2482691"/>
              <a:ext cx="20160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COUNTERFACTUAL INSTRUCTION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8712" y="2717006"/>
              <a:ext cx="32046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“如果这个房间在深夜会是什么样子？”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0122" y="3187541"/>
              <a:ext cx="27096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REFERENCE IMAGE (used only by Reason)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0600" y="3390900"/>
              <a:ext cx="4686300" cy="2438400"/>
            </a:xfrm>
            <a:prstGeom prst="roundRect">
              <a:avLst>
                <a:gd name="adj" fmla="val 2344"/>
              </a:avLst>
            </a:prstGeom>
            <a:noFill/>
            <a:ln w="14288">
              <a:solidFill>
                <a:srgbClr val="7A7F8C"/>
              </a:solidFill>
              <a:custDash>
                <a:ds d="400000" sp="266666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69234" y="4382452"/>
              <a:ext cx="21290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＜daytime room photo＞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18741" y="4646295"/>
              <a:ext cx="2430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data/input/hybrid/room_day.png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81295" y="4893945"/>
              <a:ext cx="27049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window / sofa / floor tiles · daylight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82780" y="3587591"/>
            <a:ext cx="693139" cy="701040"/>
            <a:chOff x="5882780" y="3587591"/>
            <a:chExt cx="693139" cy="701040"/>
          </a:xfrm>
        </p:grpSpPr>
        <p:sp>
          <p:nvSpPr>
            <p:cNvPr id="29" name="Line 29"/>
            <p:cNvSpPr/>
            <p:nvPr/>
          </p:nvSpPr>
          <p:spPr>
            <a:xfrm>
              <a:off x="6096000" y="38481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28575">
              <a:solidFill>
                <a:srgbClr val="D97A2C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286500" y="37909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A2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68591" y="3587591"/>
              <a:ext cx="5215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REASON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82780" y="3949541"/>
              <a:ext cx="6931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+ 7-LAYER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57977" y="4120991"/>
              <a:ext cx="3427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+ T2I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53200" y="1714500"/>
            <a:ext cx="4876800" cy="4267200"/>
            <a:chOff x="6553200" y="1714500"/>
            <a:chExt cx="4876800" cy="4267200"/>
          </a:xfrm>
        </p:grpSpPr>
        <p:sp>
          <p:nvSpPr>
            <p:cNvPr id="35" name="Rectangle 35"/>
            <p:cNvSpPr/>
            <p:nvPr/>
          </p:nvSpPr>
          <p:spPr>
            <a:xfrm>
              <a:off x="6553200" y="1714500"/>
              <a:ext cx="4876800" cy="4267200"/>
            </a:xfrm>
            <a:prstGeom prst="roundRect">
              <a:avLst>
                <a:gd name="adj" fmla="val 2679"/>
              </a:avLst>
            </a:prstGeom>
            <a:solidFill>
              <a:srgbClr val="FFFFFF"/>
            </a:solidFill>
            <a:ln w="19050">
              <a:solidFill>
                <a:srgbClr val="D97A2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53200" y="1714500"/>
              <a:ext cx="4876800" cy="419100"/>
            </a:xfrm>
            <a:prstGeom prst="roundRect">
              <a:avLst>
                <a:gd name="adj" fmla="val 27273"/>
              </a:avLst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53200" y="2019300"/>
              <a:ext cx="4876800" cy="11430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772275" y="1838325"/>
              <a:ext cx="171450" cy="171933"/>
              <a:chOff x="6772275" y="1838325"/>
              <a:chExt cx="171450" cy="17193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72275" y="1838325"/>
                <a:ext cx="171450" cy="17193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933">
                    <a:moveTo>
                      <a:pt x="85725" y="171450"/>
                    </a:move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64" y="0"/>
                      <a:pt x="171450" y="34119"/>
                      <a:pt x="171450" y="76200"/>
                    </a:cubicBezTo>
                    <a:cubicBezTo>
                      <a:pt x="171450" y="86297"/>
                      <a:pt x="166935" y="95993"/>
                      <a:pt x="158896" y="103137"/>
                    </a:cubicBezTo>
                    <a:cubicBezTo>
                      <a:pt x="150857" y="110280"/>
                      <a:pt x="139951" y="114300"/>
                      <a:pt x="128588" y="114300"/>
                    </a:cubicBezTo>
                    <a:lnTo>
                      <a:pt x="104775" y="114300"/>
                    </a:lnTo>
                    <a:cubicBezTo>
                      <a:pt x="96031" y="114159"/>
                      <a:pt x="88315" y="119989"/>
                      <a:pt x="86061" y="128439"/>
                    </a:cubicBezTo>
                    <a:cubicBezTo>
                      <a:pt x="83808" y="136889"/>
                      <a:pt x="87597" y="145787"/>
                      <a:pt x="95250" y="150019"/>
                    </a:cubicBezTo>
                    <a:cubicBezTo>
                      <a:pt x="99149" y="153617"/>
                      <a:pt x="100323" y="159299"/>
                      <a:pt x="98168" y="164148"/>
                    </a:cubicBezTo>
                    <a:cubicBezTo>
                      <a:pt x="96013" y="168997"/>
                      <a:pt x="91009" y="171933"/>
                      <a:pt x="85725" y="171450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15138" y="1900238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853238" y="1871662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91338" y="1900238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F2C4E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055168" y="1875949"/>
              <a:ext cx="21121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OUTPUT · REPAINTED IMAGE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81800" y="2362200"/>
              <a:ext cx="4419600" cy="2971800"/>
            </a:xfrm>
            <a:prstGeom prst="roundRect">
              <a:avLst>
                <a:gd name="adj" fmla="val 1923"/>
              </a:avLst>
            </a:prstGeom>
            <a:noFill/>
            <a:ln w="14288">
              <a:solidFill>
                <a:srgbClr val="0F2C4E"/>
              </a:solidFill>
              <a:custDash>
                <a:ds d="400000" sp="266666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65574" y="3631406"/>
              <a:ext cx="18520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＜nighttime room＞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5978" y="3884295"/>
              <a:ext cx="30912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data/output/hybrid/room_night/final.png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1800" y="5524500"/>
              <a:ext cx="4419600" cy="304800"/>
            </a:xfrm>
            <a:prstGeom prst="roundRect">
              <a:avLst>
                <a:gd name="adj" fmla="val 1875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21818" y="5609749"/>
              <a:ext cx="2729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scene_prompt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2571 chars</a:t>
              </a:r>
              <a:r>
                <a:rPr lang="zh-CN" sz="975" dirty="0">
                  <a:solidFill>
                    <a:srgbClr val="0F2C4E"/>
                  </a:solidFill>
                  <a:latin typeface="Segoe UI"/>
                  <a:ea typeface="Microsoft YaHei"/>
                  <a:cs typeface="Segoe UI"/>
                </a:rPr>
                <a:t> · VQA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1.0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751522" y="6578441"/>
              <a:ext cx="36440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 · Showcase 3 / 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98806" y="6578441"/>
              <a:ext cx="3274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13/16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  <p:bldP spid="34" grpId="0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275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BY THE NUMBERS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028950" y="180975"/>
              <a:ext cx="1276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992" y="245745"/>
              <a:ext cx="357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14/16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7710" y="832485"/>
            <a:ext cx="11653028" cy="703421"/>
            <a:chOff x="727710" y="832485"/>
            <a:chExt cx="11653028" cy="703421"/>
          </a:xfrm>
        </p:grpSpPr>
        <p:sp>
          <p:nvSpPr>
            <p:cNvPr id="8" name="TextBox 8"/>
            <p:cNvSpPr txBox="1"/>
            <p:nvPr/>
          </p:nvSpPr>
          <p:spPr>
            <a:xfrm>
              <a:off x="727710" y="832485"/>
              <a:ext cx="116530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A training-free agent — shipped in four quadrants.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307306"/>
              <a:ext cx="71144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三条互补通路 + 一个统一入口 + 真实 API 全 1.0 + MLLM-only Router 严格错误分类。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2571750" cy="2286000"/>
            <a:chOff x="762000" y="1905000"/>
            <a:chExt cx="2571750" cy="2286000"/>
          </a:xfrm>
        </p:grpSpPr>
        <p:sp>
          <p:nvSpPr>
            <p:cNvPr id="11" name="Rectangle 11"/>
            <p:cNvSpPr/>
            <p:nvPr/>
          </p:nvSpPr>
          <p:spPr>
            <a:xfrm>
              <a:off x="762000" y="1905000"/>
              <a:ext cx="257175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905000"/>
              <a:ext cx="2571750" cy="571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2022" y="2158841"/>
              <a:ext cx="5215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ROUTES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192" y="2442210"/>
              <a:ext cx="869366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082" y="3615214"/>
              <a:ext cx="24415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complementary routes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5141" y="3876199"/>
              <a:ext cx="1465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gen · edit · hybrid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524250" y="1905000"/>
            <a:ext cx="2571750" cy="2286000"/>
            <a:chOff x="3524250" y="1905000"/>
            <a:chExt cx="2571750" cy="2286000"/>
          </a:xfrm>
        </p:grpSpPr>
        <p:sp>
          <p:nvSpPr>
            <p:cNvPr id="18" name="Rectangle 18"/>
            <p:cNvSpPr/>
            <p:nvPr/>
          </p:nvSpPr>
          <p:spPr>
            <a:xfrm>
              <a:off x="3524250" y="1905000"/>
              <a:ext cx="257175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24250" y="1905000"/>
              <a:ext cx="2571750" cy="571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04272" y="2158841"/>
              <a:ext cx="41425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ENTRY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31462" y="2442210"/>
              <a:ext cx="557327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77205" y="3615214"/>
              <a:ext cx="20658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unified CLI + Web UI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1136" y="3884295"/>
              <a:ext cx="21179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A7F8C"/>
                  </a:solidFill>
                  <a:latin typeface="Consolas"/>
                  <a:ea typeface="Microsoft YaHei"/>
                  <a:cs typeface="Consolas"/>
                </a:rPr>
                <a:t>pipeline.py · demo_gradio.py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1068" y="1905000"/>
            <a:ext cx="2662614" cy="2286000"/>
            <a:chOff x="6241068" y="1905000"/>
            <a:chExt cx="2662614" cy="22860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905000"/>
              <a:ext cx="2571750" cy="2286000"/>
            </a:xfrm>
            <a:prstGeom prst="roundRect">
              <a:avLst>
                <a:gd name="adj" fmla="val 5833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905000"/>
              <a:ext cx="2571750" cy="571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6522" y="2158841"/>
              <a:ext cx="7360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UNIT TESTS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94449" y="2442210"/>
              <a:ext cx="1555852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F7F4EE"/>
                  </a:solidFill>
                  <a:latin typeface="Georgia"/>
                  <a:ea typeface="SimSun"/>
                  <a:cs typeface="Georgia"/>
                </a:rPr>
                <a:t>59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1068" y="3615214"/>
              <a:ext cx="26626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passing · 0.05 s runtime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0984" y="3876199"/>
              <a:ext cx="16827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36 hybrid + 23 router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048750" y="1905000"/>
            <a:ext cx="2381250" cy="2286000"/>
            <a:chOff x="9048750" y="1905000"/>
            <a:chExt cx="2381250" cy="2286000"/>
          </a:xfrm>
        </p:grpSpPr>
        <p:sp>
          <p:nvSpPr>
            <p:cNvPr id="32" name="Rectangle 32"/>
            <p:cNvSpPr/>
            <p:nvPr/>
          </p:nvSpPr>
          <p:spPr>
            <a:xfrm>
              <a:off x="9048750" y="1905000"/>
              <a:ext cx="238125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48750" y="1905000"/>
              <a:ext cx="2381250" cy="571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28772" y="2158841"/>
              <a:ext cx="5215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ROUTER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89481" y="2631758"/>
              <a:ext cx="149978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MLLM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6785" y="3050858"/>
              <a:ext cx="144518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D97A2C"/>
                  </a:solidFill>
                  <a:latin typeface="Georgia"/>
                  <a:ea typeface="SimSun"/>
                  <a:cs typeface="Georgia"/>
                </a:rPr>
                <a:t>-only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61657" y="3639502"/>
              <a:ext cx="13554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explicit failure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29571" y="3876199"/>
              <a:ext cx="18196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无关键词降级 · 显式错误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4552950"/>
            <a:ext cx="10668000" cy="1714500"/>
            <a:chOff x="762000" y="4552950"/>
            <a:chExt cx="10668000" cy="1714500"/>
          </a:xfrm>
        </p:grpSpPr>
        <p:sp>
          <p:nvSpPr>
            <p:cNvPr id="40" name="Rectangle 40"/>
            <p:cNvSpPr/>
            <p:nvPr/>
          </p:nvSpPr>
          <p:spPr>
            <a:xfrm>
              <a:off x="762000" y="4552950"/>
              <a:ext cx="10668000" cy="1714500"/>
            </a:xfrm>
            <a:prstGeom prst="roundRect">
              <a:avLst>
                <a:gd name="adj" fmla="val 7778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31570" y="4798695"/>
              <a:ext cx="7405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TAKEAWAY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6805" y="5102542"/>
              <a:ext cx="923723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Zero training. Three routes. One CLI.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8712" y="5650706"/>
              <a:ext cx="6575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纯靠 MLLM Agent 编排 + 公开 API — 同时解决描述失配和反事实编辑两类痛点，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8712" y="5860256"/>
              <a:ext cx="3000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不微调一个权重，不自建一份数据。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1522" y="6578441"/>
            <a:ext cx="10974706" cy="167640"/>
            <a:chOff x="751522" y="6578441"/>
            <a:chExt cx="10974706" cy="167640"/>
          </a:xfrm>
        </p:grpSpPr>
        <p:sp>
          <p:nvSpPr>
            <p:cNvPr id="46" name="TextBox 46"/>
            <p:cNvSpPr txBox="1"/>
            <p:nvPr/>
          </p:nvSpPr>
          <p:spPr>
            <a:xfrm>
              <a:off x="751522" y="657844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98806" y="6578441"/>
              <a:ext cx="3274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14/16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24" grpId="0"/>
      <p:bldP spid="31" grpId="0"/>
      <p:bldP spid="39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533400"/>
            <a:chOff x="0" y="0"/>
            <a:chExt cx="12192000" cy="5334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334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618" y="237649"/>
              <a:ext cx="10726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TEAM ROSTER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647950" y="180975"/>
              <a:ext cx="29232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Team &amp; Division of Labor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9992" y="245745"/>
              <a:ext cx="357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15/16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1520" y="845820"/>
            <a:ext cx="9775774" cy="651986"/>
            <a:chOff x="731520" y="845820"/>
            <a:chExt cx="9775774" cy="651986"/>
          </a:xfrm>
        </p:grpSpPr>
        <p:sp>
          <p:nvSpPr>
            <p:cNvPr id="8" name="TextBox 8"/>
            <p:cNvSpPr txBox="1"/>
            <p:nvPr/>
          </p:nvSpPr>
          <p:spPr>
            <a:xfrm>
              <a:off x="731520" y="845820"/>
              <a:ext cx="97757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四人串行交付 — base → edit → hybrid → integration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7712" y="1269206"/>
              <a:ext cx="5628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Each member's deliverables become the next member's input.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752600"/>
            <a:ext cx="5314950" cy="1981200"/>
            <a:chOff x="762000" y="1752600"/>
            <a:chExt cx="5314950" cy="19812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52600"/>
              <a:ext cx="5314950" cy="19812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52600"/>
              <a:ext cx="531495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95500"/>
              <a:ext cx="531495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14400" y="1790700"/>
              <a:ext cx="381000" cy="3810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1249" y="1918335"/>
              <a:ext cx="207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97318" y="1933099"/>
              <a:ext cx="23741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MEMBER 1 · FOUNDATION + gen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47335" y="1876425"/>
              <a:ext cx="5581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梁爽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9170" y="2436495"/>
              <a:ext cx="10135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DELIVERABLES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2676049"/>
              <a:ext cx="2576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api_client · t2i_client · schemas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8218" y="2904649"/>
              <a:ext cx="3163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gen_pipeline + GenPilot optimization loop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90600" y="318135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F7F4EE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35856" y="3279775"/>
              <a:ext cx="175419" cy="165100"/>
            </a:xfrm>
            <a:custGeom>
              <a:avLst/>
              <a:gdLst/>
              <a:ahLst/>
              <a:cxnLst/>
              <a:rect l="l" t="t" r="r" b="b"/>
              <a:pathLst>
                <a:path w="175419" h="165100">
                  <a:moveTo>
                    <a:pt x="134144" y="144463"/>
                  </a:moveTo>
                  <a:cubicBezTo>
                    <a:pt x="145542" y="144463"/>
                    <a:pt x="154781" y="153702"/>
                    <a:pt x="154781" y="165100"/>
                  </a:cubicBezTo>
                  <a:cubicBezTo>
                    <a:pt x="154781" y="153702"/>
                    <a:pt x="164021" y="144463"/>
                    <a:pt x="175419" y="144463"/>
                  </a:cubicBezTo>
                  <a:cubicBezTo>
                    <a:pt x="164021" y="144463"/>
                    <a:pt x="154781" y="135223"/>
                    <a:pt x="154781" y="123825"/>
                  </a:cubicBezTo>
                  <a:cubicBezTo>
                    <a:pt x="154781" y="135223"/>
                    <a:pt x="145542" y="144463"/>
                    <a:pt x="134144" y="144463"/>
                  </a:cubicBezTo>
                  <a:moveTo>
                    <a:pt x="134144" y="20638"/>
                  </a:moveTo>
                  <a:cubicBezTo>
                    <a:pt x="145542" y="20638"/>
                    <a:pt x="154781" y="29877"/>
                    <a:pt x="154781" y="41275"/>
                  </a:cubicBezTo>
                  <a:cubicBezTo>
                    <a:pt x="154781" y="29877"/>
                    <a:pt x="164021" y="20638"/>
                    <a:pt x="175419" y="20638"/>
                  </a:cubicBezTo>
                  <a:cubicBezTo>
                    <a:pt x="164021" y="20638"/>
                    <a:pt x="154781" y="11398"/>
                    <a:pt x="154781" y="0"/>
                  </a:cubicBezTo>
                  <a:cubicBezTo>
                    <a:pt x="154781" y="11398"/>
                    <a:pt x="145542" y="20638"/>
                    <a:pt x="134144" y="20638"/>
                  </a:cubicBezTo>
                  <a:moveTo>
                    <a:pt x="61912" y="144463"/>
                  </a:moveTo>
                  <a:cubicBezTo>
                    <a:pt x="61912" y="110269"/>
                    <a:pt x="89632" y="82550"/>
                    <a:pt x="123825" y="82550"/>
                  </a:cubicBezTo>
                  <a:cubicBezTo>
                    <a:pt x="89632" y="82550"/>
                    <a:pt x="61912" y="54831"/>
                    <a:pt x="61912" y="20638"/>
                  </a:cubicBezTo>
                  <a:cubicBezTo>
                    <a:pt x="61912" y="54831"/>
                    <a:pt x="34193" y="82550"/>
                    <a:pt x="0" y="82550"/>
                  </a:cubicBezTo>
                  <a:cubicBezTo>
                    <a:pt x="34193" y="82550"/>
                    <a:pt x="61912" y="110269"/>
                    <a:pt x="61912" y="144463"/>
                  </a:cubicBez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54468" y="3323749"/>
              <a:ext cx="34695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Poppy / Daisy / Windmill · VQA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0.8 → 1.0 → 1.0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05550" y="1752600"/>
            <a:ext cx="5124450" cy="1981200"/>
            <a:chOff x="6305550" y="1752600"/>
            <a:chExt cx="5124450" cy="1981200"/>
          </a:xfrm>
        </p:grpSpPr>
        <p:sp>
          <p:nvSpPr>
            <p:cNvPr id="25" name="Rectangle 25"/>
            <p:cNvSpPr/>
            <p:nvPr/>
          </p:nvSpPr>
          <p:spPr>
            <a:xfrm>
              <a:off x="6305550" y="1752600"/>
              <a:ext cx="5124450" cy="19812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05550" y="1752600"/>
              <a:ext cx="512445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05550" y="2095500"/>
              <a:ext cx="512445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457950" y="1790700"/>
              <a:ext cx="381000" cy="3810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796" y="1918335"/>
              <a:ext cx="2593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0868" y="1933099"/>
              <a:ext cx="2027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MEMBER 2 · edit PIPELINE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0352" y="1876425"/>
              <a:ext cx="818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陈颖妍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2720" y="2436495"/>
              <a:ext cx="10135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DELIVERABLES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1768" y="2676049"/>
              <a:ext cx="32603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Reason Agent · edit_client · edit_pipeline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21768" y="2904649"/>
              <a:ext cx="32925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Qwen-Image instruction edit + VQA refine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34150" y="3181350"/>
              <a:ext cx="4667250" cy="381000"/>
            </a:xfrm>
            <a:prstGeom prst="roundRect">
              <a:avLst>
                <a:gd name="adj" fmla="val 15000"/>
              </a:avLst>
            </a:prstGeom>
            <a:solidFill>
              <a:srgbClr val="F7F4EE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79406" y="3269456"/>
              <a:ext cx="185738" cy="185738"/>
              <a:chOff x="6679406" y="3269456"/>
              <a:chExt cx="185738" cy="18573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79406" y="32694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30956" y="185738"/>
                    </a:moveTo>
                    <a:lnTo>
                      <a:pt x="185738" y="30956"/>
                    </a:lnTo>
                    <a:lnTo>
                      <a:pt x="154781" y="0"/>
                    </a:lnTo>
                    <a:lnTo>
                      <a:pt x="0" y="154781"/>
                    </a:lnTo>
                    <a:lnTo>
                      <a:pt x="30956" y="185738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03231" y="3300412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0" y="0"/>
                    </a:moveTo>
                    <a:lnTo>
                      <a:pt x="30956" y="30956"/>
                    </a:ln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20681" y="326945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0"/>
                    </a:moveTo>
                    <a:cubicBezTo>
                      <a:pt x="20637" y="11398"/>
                      <a:pt x="29877" y="20638"/>
                      <a:pt x="41275" y="20638"/>
                    </a:cubicBezTo>
                    <a:cubicBezTo>
                      <a:pt x="29877" y="20638"/>
                      <a:pt x="20637" y="29877"/>
                      <a:pt x="20637" y="41275"/>
                    </a:cubicBezTo>
                    <a:cubicBezTo>
                      <a:pt x="20637" y="29877"/>
                      <a:pt x="11398" y="20638"/>
                      <a:pt x="0" y="20638"/>
                    </a:cubicBezTo>
                    <a:cubicBezTo>
                      <a:pt x="11398" y="20638"/>
                      <a:pt x="20637" y="11398"/>
                      <a:pt x="20637" y="0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23869" y="3372644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8" y="0"/>
                    </a:moveTo>
                    <a:cubicBezTo>
                      <a:pt x="20638" y="11398"/>
                      <a:pt x="29877" y="20638"/>
                      <a:pt x="41275" y="20638"/>
                    </a:cubicBezTo>
                    <a:cubicBezTo>
                      <a:pt x="29877" y="20638"/>
                      <a:pt x="20638" y="29877"/>
                      <a:pt x="20638" y="41275"/>
                    </a:cubicBezTo>
                    <a:cubicBezTo>
                      <a:pt x="20638" y="29877"/>
                      <a:pt x="11398" y="20638"/>
                      <a:pt x="0" y="20638"/>
                    </a:cubicBezTo>
                    <a:cubicBezTo>
                      <a:pt x="11398" y="20638"/>
                      <a:pt x="20638" y="11398"/>
                      <a:pt x="20638" y="0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98018" y="3323749"/>
              <a:ext cx="3542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Seesaw · reasoning_type = causal · VQA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4 / 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62000" y="3886200"/>
            <a:ext cx="5314950" cy="1981200"/>
            <a:chOff x="762000" y="3886200"/>
            <a:chExt cx="5314950" cy="1981200"/>
          </a:xfrm>
        </p:grpSpPr>
        <p:sp>
          <p:nvSpPr>
            <p:cNvPr id="43" name="Rectangle 43"/>
            <p:cNvSpPr/>
            <p:nvPr/>
          </p:nvSpPr>
          <p:spPr>
            <a:xfrm>
              <a:off x="762000" y="3886200"/>
              <a:ext cx="5314950" cy="19812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2000" y="3886200"/>
              <a:ext cx="531495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2000" y="4229100"/>
              <a:ext cx="531495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14400" y="3924300"/>
              <a:ext cx="381000" cy="3810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5246" y="4051935"/>
              <a:ext cx="2593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97318" y="4066699"/>
              <a:ext cx="2213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MEMBER 3 · hybrid PIPELINE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87302" y="4010025"/>
              <a:ext cx="818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苏香广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9170" y="4570095"/>
              <a:ext cx="10135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DELIVERABLES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8218" y="4809649"/>
              <a:ext cx="33729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hybrid_pipeline + 7-layer scene_prompt fix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8218" y="5038249"/>
              <a:ext cx="35822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36 unit tests · comparison experiment script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90600" y="531495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F7F4EE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1135856" y="5403056"/>
              <a:ext cx="185738" cy="186261"/>
              <a:chOff x="1135856" y="5403056"/>
              <a:chExt cx="185738" cy="18626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135856" y="5403056"/>
                <a:ext cx="185738" cy="186261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6261">
                    <a:moveTo>
                      <a:pt x="92869" y="185738"/>
                    </a:move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53" y="0"/>
                      <a:pt x="185738" y="36962"/>
                      <a:pt x="185738" y="82550"/>
                    </a:cubicBezTo>
                    <a:cubicBezTo>
                      <a:pt x="185738" y="93488"/>
                      <a:pt x="180846" y="103992"/>
                      <a:pt x="172137" y="111731"/>
                    </a:cubicBezTo>
                    <a:cubicBezTo>
                      <a:pt x="163428" y="119470"/>
                      <a:pt x="151613" y="123825"/>
                      <a:pt x="139303" y="123825"/>
                    </a:cubicBezTo>
                    <a:lnTo>
                      <a:pt x="113506" y="123825"/>
                    </a:lnTo>
                    <a:cubicBezTo>
                      <a:pt x="104034" y="123672"/>
                      <a:pt x="95674" y="129989"/>
                      <a:pt x="93233" y="139142"/>
                    </a:cubicBezTo>
                    <a:cubicBezTo>
                      <a:pt x="90792" y="148296"/>
                      <a:pt x="94897" y="157936"/>
                      <a:pt x="103188" y="162520"/>
                    </a:cubicBezTo>
                    <a:cubicBezTo>
                      <a:pt x="107412" y="166418"/>
                      <a:pt x="108683" y="172574"/>
                      <a:pt x="106349" y="177827"/>
                    </a:cubicBezTo>
                    <a:cubicBezTo>
                      <a:pt x="104014" y="183080"/>
                      <a:pt x="98593" y="186261"/>
                      <a:pt x="92869" y="185738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82291" y="5470128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223566" y="5439172"/>
                <a:ext cx="206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264841" y="5470128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454468" y="5457349"/>
              <a:ext cx="3324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Split-bouquet · Day → night room · VQA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1.0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305550" y="3886200"/>
            <a:ext cx="5124450" cy="1981200"/>
            <a:chOff x="6305550" y="3886200"/>
            <a:chExt cx="5124450" cy="1981200"/>
          </a:xfrm>
        </p:grpSpPr>
        <p:sp>
          <p:nvSpPr>
            <p:cNvPr id="61" name="Rectangle 61"/>
            <p:cNvSpPr/>
            <p:nvPr/>
          </p:nvSpPr>
          <p:spPr>
            <a:xfrm>
              <a:off x="6305550" y="3886200"/>
              <a:ext cx="5124450" cy="19812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305550" y="3886200"/>
              <a:ext cx="5124450" cy="457200"/>
            </a:xfrm>
            <a:prstGeom prst="roundRect">
              <a:avLst>
                <a:gd name="adj" fmla="val 25000"/>
              </a:avLst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305550" y="4229100"/>
              <a:ext cx="5124450" cy="114300"/>
            </a:xfrm>
            <a:prstGeom prst="rect">
              <a:avLst/>
            </a:prstGeom>
            <a:solidFill>
              <a:srgbClr val="0F2C4E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457950" y="3924300"/>
              <a:ext cx="381000" cy="381000"/>
            </a:xfrm>
            <a:prstGeom prst="ellipse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18796" y="4051935"/>
              <a:ext cx="2593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2C4E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40868" y="4066699"/>
              <a:ext cx="27460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MEMBER 4 · ROUTER + INTEGRATION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40352" y="4010025"/>
              <a:ext cx="818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艾博显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22720" y="4570095"/>
              <a:ext cx="10135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DELIVERABLES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21768" y="4809649"/>
              <a:ext cx="35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MLLM-only router · pipeline.py · Gradio demo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21768" y="5038249"/>
              <a:ext cx="30751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2C4E"/>
                  </a:solidFill>
                  <a:latin typeface="Consolas"/>
                  <a:ea typeface="Microsoft YaHei"/>
                  <a:cs typeface="Consolas"/>
                </a:rPr>
                <a:t>23 unit tests · defense doc + this deck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534150" y="5314950"/>
              <a:ext cx="4667250" cy="381000"/>
            </a:xfrm>
            <a:prstGeom prst="roundRect">
              <a:avLst>
                <a:gd name="adj" fmla="val 15000"/>
              </a:avLst>
            </a:prstGeom>
            <a:solidFill>
              <a:srgbClr val="F7F4EE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679406" y="5403056"/>
              <a:ext cx="185738" cy="185738"/>
              <a:chOff x="6679406" y="5403056"/>
              <a:chExt cx="185738" cy="185738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679406" y="554751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823869" y="540305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8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8" y="41275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51638" y="5423694"/>
                <a:ext cx="4127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3">
                    <a:moveTo>
                      <a:pt x="41275" y="0"/>
                    </a:moveTo>
                    <a:cubicBezTo>
                      <a:pt x="29877" y="0"/>
                      <a:pt x="20637" y="9240"/>
                      <a:pt x="20637" y="20638"/>
                    </a:cubicBezTo>
                    <a:lnTo>
                      <a:pt x="20637" y="123825"/>
                    </a:lnTo>
                    <a:cubicBezTo>
                      <a:pt x="20637" y="135223"/>
                      <a:pt x="11398" y="144463"/>
                      <a:pt x="0" y="144463"/>
                    </a:cubicBezTo>
                  </a:path>
                </a:pathLst>
              </a:custGeom>
              <a:noFill/>
              <a:ln w="19050">
                <a:solidFill>
                  <a:srgbClr val="D97A2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998018" y="5457349"/>
              <a:ext cx="4338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4-route auto-dispatch · 全部 </a:t>
              </a:r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23 / 23 router tests</a:t>
              </a:r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 通过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62000" y="6057900"/>
            <a:ext cx="10668000" cy="342900"/>
            <a:chOff x="762000" y="6057900"/>
            <a:chExt cx="10668000" cy="342900"/>
          </a:xfrm>
        </p:grpSpPr>
        <p:sp>
          <p:nvSpPr>
            <p:cNvPr id="78" name="Rectangle 78"/>
            <p:cNvSpPr/>
            <p:nvPr/>
          </p:nvSpPr>
          <p:spPr>
            <a:xfrm>
              <a:off x="762000" y="6057900"/>
              <a:ext cx="1066800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E6DFD3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41070" y="6189345"/>
              <a:ext cx="7405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HAND-OFF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891665" y="6173152"/>
              <a:ext cx="6683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梁爽 </a:t>
              </a:r>
              <a:r>
                <a:rPr lang="zh-CN" sz="1050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→</a:t>
              </a:r>
              <a:r>
                <a:rPr lang="zh-CN" sz="1050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 陈颖妍 </a:t>
              </a:r>
              <a:r>
                <a:rPr lang="zh-CN" sz="1050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→</a:t>
              </a:r>
              <a:r>
                <a:rPr lang="zh-CN" sz="1050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 苏香广 </a:t>
              </a:r>
              <a:r>
                <a:rPr lang="zh-CN" sz="1050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→</a:t>
              </a:r>
              <a:r>
                <a:rPr lang="zh-CN" sz="1050" dirty="0">
                  <a:solidFill>
                    <a:srgbClr val="0F2C4E"/>
                  </a:solidFill>
                  <a:latin typeface="Georgia"/>
                  <a:ea typeface="Microsoft YaHei"/>
                  <a:cs typeface="Georgia"/>
                </a:rPr>
                <a:t> 艾博显 · base, then edit, then hybrid, then integration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51522" y="6597491"/>
            <a:ext cx="10974706" cy="167640"/>
            <a:chOff x="751522" y="6597491"/>
            <a:chExt cx="10974706" cy="167640"/>
          </a:xfrm>
        </p:grpSpPr>
        <p:sp>
          <p:nvSpPr>
            <p:cNvPr id="82" name="TextBox 82"/>
            <p:cNvSpPr txBox="1"/>
            <p:nvPr/>
          </p:nvSpPr>
          <p:spPr>
            <a:xfrm>
              <a:off x="751522" y="6597491"/>
              <a:ext cx="25135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ReasonGenPilot · Course Defense 2026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398806" y="6597491"/>
              <a:ext cx="3274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15/16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42" grpId="0"/>
      <p:bldP spid="60" grpId="0"/>
      <p:bldP spid="77" grpId="0"/>
      <p:bldP spid="8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762000" y="-1524000"/>
            <a:ext cx="14097000" cy="10287000"/>
            <a:chOff x="-762000" y="-1524000"/>
            <a:chExt cx="14097000" cy="10287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2C4E"/>
                </a:gs>
                <a:gs pos="100000">
                  <a:srgbClr val="0A1F3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762000" y="-1524000"/>
              <a:ext cx="5334000" cy="5334000"/>
            </a:xfrm>
            <a:prstGeom prst="ellipse">
              <a:avLst/>
            </a:prstGeom>
            <a:solidFill>
              <a:srgbClr val="1A3A5E">
                <a:alpha val="4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239000" y="2667000"/>
              <a:ext cx="6096000" cy="6096000"/>
            </a:xfrm>
            <a:prstGeom prst="ellipse">
              <a:avLst/>
            </a:prstGeom>
            <a:solidFill>
              <a:srgbClr val="1A3A5E">
                <a:alpha val="4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762000"/>
            <a:ext cx="10966132" cy="264319"/>
            <a:chOff x="762000" y="762000"/>
            <a:chExt cx="10966132" cy="264319"/>
          </a:xfrm>
        </p:grpSpPr>
        <p:sp>
          <p:nvSpPr>
            <p:cNvPr id="6" name="Rectangle 6"/>
            <p:cNvSpPr/>
            <p:nvPr/>
          </p:nvSpPr>
          <p:spPr>
            <a:xfrm>
              <a:off x="762000" y="762000"/>
              <a:ext cx="57150" cy="209550"/>
            </a:xfrm>
            <a:prstGeom prst="rect">
              <a:avLst/>
            </a:prstGeom>
            <a:solidFill>
              <a:srgbClr val="D97A2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0118" y="828199"/>
              <a:ext cx="1824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A2C"/>
                  </a:solidFill>
                  <a:latin typeface="Segoe UI"/>
                  <a:ea typeface="Microsoft YaHei"/>
                  <a:cs typeface="Segoe UI"/>
                </a:rPr>
                <a:t>REASONGENPILOT · END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41179" y="828199"/>
              <a:ext cx="386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16/16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07169" y="2154555"/>
            <a:ext cx="7577661" cy="1645920"/>
            <a:chOff x="2307169" y="2154555"/>
            <a:chExt cx="7577661" cy="1645920"/>
          </a:xfrm>
        </p:grpSpPr>
        <p:sp>
          <p:nvSpPr>
            <p:cNvPr id="10" name="TextBox 10"/>
            <p:cNvSpPr txBox="1"/>
            <p:nvPr/>
          </p:nvSpPr>
          <p:spPr>
            <a:xfrm>
              <a:off x="2307169" y="2154555"/>
              <a:ext cx="7577661" cy="1645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1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Thank you.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0" y="3371850"/>
            <a:ext cx="1905000" cy="733425"/>
            <a:chOff x="5143500" y="3371850"/>
            <a:chExt cx="1905000" cy="733425"/>
          </a:xfrm>
        </p:grpSpPr>
        <p:sp>
          <p:nvSpPr>
            <p:cNvPr id="12" name="Line 12"/>
            <p:cNvSpPr/>
            <p:nvPr/>
          </p:nvSpPr>
          <p:spPr>
            <a:xfrm>
              <a:off x="5143500" y="33718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D97A2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8338" y="3556635"/>
              <a:ext cx="12153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D97A2C"/>
                  </a:solidFill>
                  <a:latin typeface="Georgia"/>
                  <a:ea typeface="Microsoft YaHei"/>
                  <a:cs typeface="Georgia"/>
                </a:rPr>
                <a:t>Q &amp; 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32901" y="4559141"/>
            <a:ext cx="6926199" cy="836771"/>
            <a:chOff x="2632901" y="4559141"/>
            <a:chExt cx="6926199" cy="836771"/>
          </a:xfrm>
        </p:grpSpPr>
        <p:sp>
          <p:nvSpPr>
            <p:cNvPr id="15" name="TextBox 15"/>
            <p:cNvSpPr txBox="1"/>
            <p:nvPr/>
          </p:nvSpPr>
          <p:spPr>
            <a:xfrm>
              <a:off x="5631441" y="4559141"/>
              <a:ext cx="9291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DELIVERABLES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7253" y="4867275"/>
              <a:ext cx="31974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4EE"/>
                  </a:solidFill>
                  <a:latin typeface="Georgia"/>
                  <a:ea typeface="Microsoft YaHei"/>
                  <a:cs typeface="Georgia"/>
                </a:rPr>
                <a:t>VQA 1.0 across the board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2901" y="5182552"/>
              <a:ext cx="69261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3 pipelines · 1 unified entry · 59 unit tests · 23 router tests · MLLM-only routing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9618" y="5943600"/>
            <a:ext cx="10692765" cy="435769"/>
            <a:chOff x="749618" y="5943600"/>
            <a:chExt cx="10692765" cy="435769"/>
          </a:xfrm>
        </p:grpSpPr>
        <p:sp>
          <p:nvSpPr>
            <p:cNvPr id="19" name="Line 19"/>
            <p:cNvSpPr/>
            <p:nvPr/>
          </p:nvSpPr>
          <p:spPr>
            <a:xfrm>
              <a:off x="762000" y="5943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1A3A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618" y="6181249"/>
              <a:ext cx="273151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Branch </a:t>
              </a:r>
              <a:r>
                <a:rPr lang="en-US" altLang="zh-CN" sz="975" dirty="0">
                  <a:solidFill>
                    <a:srgbClr val="D97A2C"/>
                  </a:solidFill>
                  <a:latin typeface="Consolas"/>
                  <a:ea typeface="Microsoft YaHei"/>
                  <a:cs typeface="Consolas"/>
                </a:rPr>
                <a:t>master</a:t>
              </a:r>
              <a:r>
                <a:rPr lang="zh-CN" sz="975" dirty="0">
                  <a:solidFill>
                    <a:srgbClr val="E6DFD3"/>
                  </a:solidFill>
                  <a:latin typeface="Segoe UI"/>
                  <a:ea typeface="Microsoft YaHei"/>
                  <a:cs typeface="Segoe UI"/>
                </a:rPr>
                <a:t> · Course Defense 2026 · Team of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1565" y="6181249"/>
              <a:ext cx="23508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7A7F8C"/>
                  </a:solidFill>
                  <a:latin typeface="Segoe UI"/>
                  <a:ea typeface="Microsoft YaHei"/>
                  <a:cs typeface="Segoe UI"/>
                </a:rPr>
                <a:t>梁爽 · 陈颖妍 · 苏香广 · 艾博显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3738</Words>
  <Application>Microsoft Macintosh PowerPoint</Application>
  <PresentationFormat>宽屏</PresentationFormat>
  <Paragraphs>511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Boxian Ai</cp:lastModifiedBy>
  <cp:revision>6</cp:revision>
  <dcterms:created xsi:type="dcterms:W3CDTF">2013-01-27T09:14:16Z</dcterms:created>
  <dcterms:modified xsi:type="dcterms:W3CDTF">2026-06-08T05:19:29Z</dcterms:modified>
  <cp:category/>
</cp:coreProperties>
</file>